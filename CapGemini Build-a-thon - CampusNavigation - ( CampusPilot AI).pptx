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4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embeddedFontLst>
    <p:embeddedFont>
      <p:font typeface="Alexandria" panose="020B0604020202020204" charset="-78"/>
      <p:regular r:id="rId8"/>
      <p:bold r:id="rId9"/>
    </p:embeddedFont>
    <p:embeddedFont>
      <p:font typeface="Nobile" panose="020B0604020202020204" charset="0"/>
      <p:regular r:id="rId10"/>
      <p:bold r:id="rId11"/>
      <p:italic r:id="rId12"/>
      <p:boldItalic r:id="rId1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024">
          <p15:clr>
            <a:srgbClr val="747775"/>
          </p15:clr>
        </p15:guide>
        <p15:guide id="2" orient="horz" pos="1149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21B46AE-DB44-4CAB-98C9-60772EB8CE41}" v="2" dt="2026-05-17T13:08:07.47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1024"/>
        <p:guide orient="horz" pos="1149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/>
              <a:t>‹#›</a:t>
            </a:fld>
            <a:endParaRPr sz="1200" b="0" i="0" u="none" strike="noStrike" cap="none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" name="Google Shape;3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" name="Google Shape;103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5" name="Google Shape;155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0" name="Google Shape;190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1 master">
  <p:cSld name="Slide 1 master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5C73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9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" name="Google Shape;13;p2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2 master">
  <p:cSld name="Slide 2 mast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5C73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9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" name="Google Shape;17;p3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3 master">
  <p:cSld name="Slide 3 master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5C73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9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1" name="Google Shape;21;p4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4 master">
  <p:cSld name="Slide 4 master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5C73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9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5" name="Google Shape;25;p5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5 master">
  <p:cSld name="Slide 5 master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5C73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9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9" name="Google Shape;29;p6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/>
          <p:nvPr/>
        </p:nvSpPr>
        <p:spPr>
          <a:xfrm>
            <a:off x="480640" y="429592"/>
            <a:ext cx="3204000" cy="3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2150"/>
              <a:buFont typeface="Alexandria"/>
              <a:buNone/>
            </a:pPr>
            <a:r>
              <a:rPr lang="en-US" sz="2150" b="0" i="0" u="none" strike="noStrike" cap="none">
                <a:solidFill>
                  <a:srgbClr val="1B1B27"/>
                </a:solidFill>
                <a:latin typeface="Alexandria"/>
                <a:ea typeface="Alexandria"/>
                <a:cs typeface="Alexandria"/>
                <a:sym typeface="Alexandria"/>
              </a:rPr>
              <a:t>CampusPilot AI</a:t>
            </a:r>
            <a:endParaRPr sz="2150" b="0" i="0" u="none" strike="noStrike" cap="none"/>
          </a:p>
        </p:txBody>
      </p:sp>
      <p:sp>
        <p:nvSpPr>
          <p:cNvPr id="37" name="Google Shape;37;p8"/>
          <p:cNvSpPr/>
          <p:nvPr/>
        </p:nvSpPr>
        <p:spPr>
          <a:xfrm>
            <a:off x="480640" y="826071"/>
            <a:ext cx="4112100" cy="2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1350"/>
              <a:buFont typeface="Alexandria"/>
              <a:buNone/>
            </a:pPr>
            <a:r>
              <a:rPr lang="en-US" sz="1350" b="0" i="0" u="none" strike="noStrike" cap="none">
                <a:solidFill>
                  <a:srgbClr val="1B1B27"/>
                </a:solidFill>
                <a:latin typeface="Alexandria"/>
                <a:ea typeface="Alexandria"/>
                <a:cs typeface="Alexandria"/>
                <a:sym typeface="Alexandria"/>
              </a:rPr>
              <a:t>AI-Powered Accessible Campus Navigation</a:t>
            </a:r>
            <a:endParaRPr sz="1350" b="0" i="0" u="none" strike="noStrike" cap="none"/>
          </a:p>
        </p:txBody>
      </p:sp>
      <p:sp>
        <p:nvSpPr>
          <p:cNvPr id="38" name="Google Shape;38;p8"/>
          <p:cNvSpPr/>
          <p:nvPr/>
        </p:nvSpPr>
        <p:spPr>
          <a:xfrm>
            <a:off x="686619" y="1389757"/>
            <a:ext cx="7976700" cy="43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050"/>
              <a:buFont typeface="Nobile"/>
              <a:buNone/>
            </a:pPr>
            <a:r>
              <a:rPr lang="en-US" sz="1050" b="0" i="0" u="none" strike="noStrike" cap="non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An AI-powered campus navigation assistant that helps every visitor reach the right destination — quickly, intelligently, and accessibly.</a:t>
            </a:r>
            <a:endParaRPr sz="1050" b="0" i="0" u="none" strike="noStrike" cap="none"/>
          </a:p>
        </p:txBody>
      </p:sp>
      <p:sp>
        <p:nvSpPr>
          <p:cNvPr id="39" name="Google Shape;39;p8"/>
          <p:cNvSpPr/>
          <p:nvPr/>
        </p:nvSpPr>
        <p:spPr>
          <a:xfrm>
            <a:off x="480640" y="1240110"/>
            <a:ext cx="19200" cy="732000"/>
          </a:xfrm>
          <a:prstGeom prst="rect">
            <a:avLst/>
          </a:prstGeom>
          <a:solidFill>
            <a:srgbClr val="1B54D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8"/>
          <p:cNvSpPr/>
          <p:nvPr/>
        </p:nvSpPr>
        <p:spPr>
          <a:xfrm>
            <a:off x="480640" y="2171551"/>
            <a:ext cx="2517300" cy="2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1600"/>
              <a:buFont typeface="Alexandria"/>
              <a:buNone/>
            </a:pPr>
            <a:r>
              <a:rPr lang="en-US" sz="1600" b="0" i="0" u="none" strike="noStrike" cap="none">
                <a:solidFill>
                  <a:srgbClr val="1B1B27"/>
                </a:solidFill>
                <a:latin typeface="Alexandria"/>
                <a:ea typeface="Alexandria"/>
                <a:cs typeface="Alexandria"/>
                <a:sym typeface="Alexandria"/>
              </a:rPr>
              <a:t>Team Composition</a:t>
            </a:r>
            <a:endParaRPr sz="1600" b="0" i="0" u="none" strike="noStrike" cap="none"/>
          </a:p>
        </p:txBody>
      </p:sp>
      <p:sp>
        <p:nvSpPr>
          <p:cNvPr id="41" name="Google Shape;41;p8"/>
          <p:cNvSpPr/>
          <p:nvPr/>
        </p:nvSpPr>
        <p:spPr>
          <a:xfrm>
            <a:off x="480640" y="2628528"/>
            <a:ext cx="8182800" cy="2085300"/>
          </a:xfrm>
          <a:prstGeom prst="roundRect">
            <a:avLst>
              <a:gd name="adj" fmla="val 2766"/>
            </a:avLst>
          </a:prstGeom>
          <a:noFill/>
          <a:ln w="9525" cap="flat" cmpd="sng">
            <a:solidFill>
              <a:srgbClr val="000000">
                <a:alpha val="784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8"/>
          <p:cNvSpPr/>
          <p:nvPr/>
        </p:nvSpPr>
        <p:spPr>
          <a:xfrm>
            <a:off x="622771" y="2717825"/>
            <a:ext cx="26322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850"/>
              <a:buFont typeface="Nobile"/>
              <a:buNone/>
            </a:pPr>
            <a:r>
              <a:rPr lang="en-US" sz="850" b="1" i="0" u="none" strike="noStrike" cap="non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Name</a:t>
            </a:r>
            <a:endParaRPr sz="850" b="0" i="0" u="none" strike="noStrike" cap="none"/>
          </a:p>
        </p:txBody>
      </p:sp>
      <p:sp>
        <p:nvSpPr>
          <p:cNvPr id="43" name="Google Shape;43;p8"/>
          <p:cNvSpPr/>
          <p:nvPr/>
        </p:nvSpPr>
        <p:spPr>
          <a:xfrm>
            <a:off x="3077096" y="2717825"/>
            <a:ext cx="22212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850"/>
              <a:buFont typeface="Nobile"/>
              <a:buNone/>
            </a:pPr>
            <a:r>
              <a:rPr lang="en-US" sz="850" b="1" i="0" u="none" strike="noStrike" cap="non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Role</a:t>
            </a:r>
            <a:endParaRPr sz="850" b="0" i="0" u="none" strike="noStrike" cap="none"/>
          </a:p>
        </p:txBody>
      </p:sp>
      <p:sp>
        <p:nvSpPr>
          <p:cNvPr id="44" name="Google Shape;44;p8"/>
          <p:cNvSpPr/>
          <p:nvPr/>
        </p:nvSpPr>
        <p:spPr>
          <a:xfrm>
            <a:off x="5120357" y="2717825"/>
            <a:ext cx="26298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850"/>
              <a:buFont typeface="Nobile"/>
              <a:buNone/>
            </a:pPr>
            <a:r>
              <a:rPr lang="en-US" sz="850" b="1" i="0" u="none" strike="noStrike" cap="non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Programme</a:t>
            </a:r>
            <a:endParaRPr sz="850" b="0" i="0" u="none" strike="noStrike" cap="none"/>
          </a:p>
        </p:txBody>
      </p:sp>
      <p:sp>
        <p:nvSpPr>
          <p:cNvPr id="45" name="Google Shape;45;p8"/>
          <p:cNvSpPr/>
          <p:nvPr/>
        </p:nvSpPr>
        <p:spPr>
          <a:xfrm>
            <a:off x="7572301" y="2717825"/>
            <a:ext cx="14061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850"/>
              <a:buFont typeface="Nobile"/>
              <a:buNone/>
            </a:pPr>
            <a:r>
              <a:rPr lang="en-US" sz="850" b="1" i="0" u="none" strike="noStrike" cap="non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Year</a:t>
            </a:r>
            <a:endParaRPr sz="850" b="0" i="0" u="none" strike="noStrike" cap="none"/>
          </a:p>
        </p:txBody>
      </p:sp>
      <p:sp>
        <p:nvSpPr>
          <p:cNvPr id="46" name="Google Shape;46;p8"/>
          <p:cNvSpPr/>
          <p:nvPr/>
        </p:nvSpPr>
        <p:spPr>
          <a:xfrm>
            <a:off x="622771" y="3064594"/>
            <a:ext cx="26322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850"/>
              <a:buFont typeface="Nobile"/>
              <a:buNone/>
            </a:pPr>
            <a:r>
              <a:rPr lang="en-US" sz="850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Anshul Kumaria</a:t>
            </a:r>
            <a:endParaRPr sz="850" b="0" i="0" u="none" strike="noStrike" cap="none"/>
          </a:p>
        </p:txBody>
      </p:sp>
      <p:sp>
        <p:nvSpPr>
          <p:cNvPr id="47" name="Google Shape;47;p8"/>
          <p:cNvSpPr/>
          <p:nvPr/>
        </p:nvSpPr>
        <p:spPr>
          <a:xfrm>
            <a:off x="3077096" y="3064594"/>
            <a:ext cx="22212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850"/>
              <a:buFont typeface="Nobile"/>
              <a:buNone/>
            </a:pPr>
            <a:r>
              <a:rPr lang="en-US" sz="850" b="0" i="0" u="none" strike="noStrike" cap="non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AI </a:t>
            </a:r>
            <a:r>
              <a:rPr lang="en-US" sz="850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&amp; Intelligence Lead</a:t>
            </a:r>
            <a:endParaRPr sz="850" b="0" i="0" u="none" strike="noStrike" cap="none"/>
          </a:p>
        </p:txBody>
      </p:sp>
      <p:sp>
        <p:nvSpPr>
          <p:cNvPr id="48" name="Google Shape;48;p8"/>
          <p:cNvSpPr/>
          <p:nvPr/>
        </p:nvSpPr>
        <p:spPr>
          <a:xfrm>
            <a:off x="5120357" y="3064594"/>
            <a:ext cx="26298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850"/>
              <a:buFont typeface="Nobile"/>
              <a:buNone/>
            </a:pPr>
            <a:r>
              <a:rPr lang="en-US" sz="850" b="0" i="0" u="none" strike="noStrike" cap="non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B.Tech CSE</a:t>
            </a:r>
            <a:endParaRPr sz="850" b="0" i="0" u="none" strike="noStrike" cap="none"/>
          </a:p>
        </p:txBody>
      </p:sp>
      <p:sp>
        <p:nvSpPr>
          <p:cNvPr id="49" name="Google Shape;49;p8"/>
          <p:cNvSpPr/>
          <p:nvPr/>
        </p:nvSpPr>
        <p:spPr>
          <a:xfrm>
            <a:off x="7572301" y="3064594"/>
            <a:ext cx="14061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850"/>
              <a:buFont typeface="Nobile"/>
              <a:buNone/>
            </a:pPr>
            <a:r>
              <a:rPr lang="en-US" sz="850" b="0" i="0" u="none" strike="noStrike" cap="non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3rd Year</a:t>
            </a:r>
            <a:endParaRPr sz="850" b="0" i="0" u="none" strike="noStrike" cap="none"/>
          </a:p>
        </p:txBody>
      </p:sp>
      <p:sp>
        <p:nvSpPr>
          <p:cNvPr id="50" name="Google Shape;50;p8"/>
          <p:cNvSpPr/>
          <p:nvPr/>
        </p:nvSpPr>
        <p:spPr>
          <a:xfrm>
            <a:off x="622771" y="3411364"/>
            <a:ext cx="26322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850"/>
              <a:buFont typeface="Nobile"/>
              <a:buNone/>
            </a:pPr>
            <a:r>
              <a:rPr lang="en-US" sz="850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Dhruv Sarda</a:t>
            </a:r>
            <a:endParaRPr sz="850" b="0" i="0" u="none" strike="noStrike" cap="none"/>
          </a:p>
        </p:txBody>
      </p:sp>
      <p:sp>
        <p:nvSpPr>
          <p:cNvPr id="51" name="Google Shape;51;p8"/>
          <p:cNvSpPr/>
          <p:nvPr/>
        </p:nvSpPr>
        <p:spPr>
          <a:xfrm>
            <a:off x="3077096" y="3411364"/>
            <a:ext cx="22212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850"/>
              <a:buFont typeface="Nobile"/>
              <a:buNone/>
            </a:pPr>
            <a:r>
              <a:rPr lang="en-US" sz="850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Core Solution Architecture Lead</a:t>
            </a:r>
            <a:endParaRPr sz="850" b="0" i="0" u="none" strike="noStrike" cap="none"/>
          </a:p>
        </p:txBody>
      </p:sp>
      <p:sp>
        <p:nvSpPr>
          <p:cNvPr id="52" name="Google Shape;52;p8"/>
          <p:cNvSpPr/>
          <p:nvPr/>
        </p:nvSpPr>
        <p:spPr>
          <a:xfrm>
            <a:off x="5120357" y="3411364"/>
            <a:ext cx="26298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850"/>
              <a:buFont typeface="Nobile"/>
              <a:buNone/>
            </a:pPr>
            <a:r>
              <a:rPr lang="en-US" sz="850" b="0" i="0" u="none" strike="noStrike" cap="non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B.Tech CSE</a:t>
            </a:r>
            <a:endParaRPr sz="850" b="0" i="0" u="none" strike="noStrike" cap="none"/>
          </a:p>
        </p:txBody>
      </p:sp>
      <p:sp>
        <p:nvSpPr>
          <p:cNvPr id="53" name="Google Shape;53;p8"/>
          <p:cNvSpPr/>
          <p:nvPr/>
        </p:nvSpPr>
        <p:spPr>
          <a:xfrm>
            <a:off x="7572301" y="3411364"/>
            <a:ext cx="14061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850"/>
              <a:buFont typeface="Nobile"/>
              <a:buNone/>
            </a:pPr>
            <a:r>
              <a:rPr lang="en-US" sz="850" b="0" i="0" u="none" strike="noStrike" cap="non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3rd Year</a:t>
            </a:r>
            <a:endParaRPr sz="850" b="0" i="0" u="none" strike="noStrike" cap="none"/>
          </a:p>
        </p:txBody>
      </p:sp>
      <p:sp>
        <p:nvSpPr>
          <p:cNvPr id="54" name="Google Shape;54;p8"/>
          <p:cNvSpPr/>
          <p:nvPr/>
        </p:nvSpPr>
        <p:spPr>
          <a:xfrm>
            <a:off x="622771" y="3758133"/>
            <a:ext cx="26322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850"/>
              <a:buFont typeface="Nobile"/>
              <a:buNone/>
            </a:pPr>
            <a:r>
              <a:rPr lang="en-US" sz="850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Hrishikesh Kali</a:t>
            </a:r>
            <a:endParaRPr sz="850" b="0" i="0" u="none" strike="noStrike" cap="none"/>
          </a:p>
        </p:txBody>
      </p:sp>
      <p:sp>
        <p:nvSpPr>
          <p:cNvPr id="55" name="Google Shape;55;p8"/>
          <p:cNvSpPr/>
          <p:nvPr/>
        </p:nvSpPr>
        <p:spPr>
          <a:xfrm>
            <a:off x="3077096" y="3758133"/>
            <a:ext cx="22212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850"/>
              <a:buFont typeface="Nobile"/>
              <a:buNone/>
            </a:pPr>
            <a:r>
              <a:rPr lang="en-US" sz="850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Implementation</a:t>
            </a:r>
            <a:r>
              <a:rPr lang="en-US" sz="850" b="0" i="0" u="none" strike="noStrike" cap="non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 &amp; </a:t>
            </a:r>
            <a:r>
              <a:rPr lang="en-US" sz="850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Feasibility</a:t>
            </a:r>
            <a:r>
              <a:rPr lang="en-US" sz="850" b="0" i="0" u="none" strike="noStrike" cap="non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 Lead</a:t>
            </a:r>
            <a:endParaRPr sz="850" b="0" i="0" u="none" strike="noStrike" cap="none"/>
          </a:p>
        </p:txBody>
      </p:sp>
      <p:sp>
        <p:nvSpPr>
          <p:cNvPr id="56" name="Google Shape;56;p8"/>
          <p:cNvSpPr/>
          <p:nvPr/>
        </p:nvSpPr>
        <p:spPr>
          <a:xfrm>
            <a:off x="5120357" y="3758133"/>
            <a:ext cx="26298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850"/>
              <a:buFont typeface="Nobile"/>
              <a:buNone/>
            </a:pPr>
            <a:r>
              <a:rPr lang="en-US" sz="850" b="0" i="0" u="none" strike="noStrike" cap="non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B.Tech CSE</a:t>
            </a:r>
            <a:endParaRPr sz="850" b="0" i="0" u="none" strike="noStrike" cap="none"/>
          </a:p>
        </p:txBody>
      </p:sp>
      <p:sp>
        <p:nvSpPr>
          <p:cNvPr id="57" name="Google Shape;57;p8"/>
          <p:cNvSpPr/>
          <p:nvPr/>
        </p:nvSpPr>
        <p:spPr>
          <a:xfrm>
            <a:off x="7572301" y="3758133"/>
            <a:ext cx="14061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850"/>
              <a:buFont typeface="Nobile"/>
              <a:buNone/>
            </a:pPr>
            <a:r>
              <a:rPr lang="en-US" sz="850" b="0" i="0" u="none" strike="noStrike" cap="non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3rd Year</a:t>
            </a:r>
            <a:endParaRPr sz="850" b="0" i="0" u="none" strike="noStrike" cap="none"/>
          </a:p>
        </p:txBody>
      </p:sp>
      <p:sp>
        <p:nvSpPr>
          <p:cNvPr id="58" name="Google Shape;58;p8"/>
          <p:cNvSpPr/>
          <p:nvPr/>
        </p:nvSpPr>
        <p:spPr>
          <a:xfrm>
            <a:off x="622771" y="4104903"/>
            <a:ext cx="26322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850"/>
              <a:buFont typeface="Nobile"/>
              <a:buNone/>
            </a:pPr>
            <a:r>
              <a:rPr lang="en-US" sz="850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Atharva Deshmukh</a:t>
            </a:r>
            <a:endParaRPr sz="850" b="0" i="0" u="none" strike="noStrike" cap="none"/>
          </a:p>
        </p:txBody>
      </p:sp>
      <p:sp>
        <p:nvSpPr>
          <p:cNvPr id="59" name="Google Shape;59;p8"/>
          <p:cNvSpPr/>
          <p:nvPr/>
        </p:nvSpPr>
        <p:spPr>
          <a:xfrm>
            <a:off x="3077096" y="4104903"/>
            <a:ext cx="22212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850"/>
              <a:buFont typeface="Nobile"/>
              <a:buNone/>
            </a:pPr>
            <a:r>
              <a:rPr lang="en-US" sz="850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Research &amp; Lit. Review </a:t>
            </a:r>
            <a:r>
              <a:rPr lang="en-US" sz="850" b="0" i="0" u="none" strike="noStrike" cap="non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Lead</a:t>
            </a:r>
            <a:endParaRPr sz="850" b="0" i="0" u="none" strike="noStrike" cap="none"/>
          </a:p>
        </p:txBody>
      </p:sp>
      <p:sp>
        <p:nvSpPr>
          <p:cNvPr id="60" name="Google Shape;60;p8"/>
          <p:cNvSpPr/>
          <p:nvPr/>
        </p:nvSpPr>
        <p:spPr>
          <a:xfrm>
            <a:off x="5120357" y="4104903"/>
            <a:ext cx="26298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850"/>
              <a:buFont typeface="Nobile"/>
              <a:buNone/>
            </a:pPr>
            <a:r>
              <a:rPr lang="en-US" sz="850" b="0" i="0" u="none" strike="noStrike" cap="non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B.Tech CSE</a:t>
            </a:r>
            <a:endParaRPr sz="850" b="0" i="0" u="none" strike="noStrike" cap="none"/>
          </a:p>
        </p:txBody>
      </p:sp>
      <p:sp>
        <p:nvSpPr>
          <p:cNvPr id="61" name="Google Shape;61;p8"/>
          <p:cNvSpPr/>
          <p:nvPr/>
        </p:nvSpPr>
        <p:spPr>
          <a:xfrm>
            <a:off x="7572301" y="4104903"/>
            <a:ext cx="14061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850"/>
              <a:buFont typeface="Nobile"/>
              <a:buNone/>
            </a:pPr>
            <a:r>
              <a:rPr lang="en-US" sz="850" b="0" i="0" u="none" strike="noStrike" cap="non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3rd Year</a:t>
            </a:r>
            <a:endParaRPr sz="850" b="0" i="0" u="none" strike="noStrike" cap="none"/>
          </a:p>
        </p:txBody>
      </p:sp>
      <p:sp>
        <p:nvSpPr>
          <p:cNvPr id="62" name="Google Shape;62;p8"/>
          <p:cNvSpPr/>
          <p:nvPr/>
        </p:nvSpPr>
        <p:spPr>
          <a:xfrm>
            <a:off x="622771" y="4451672"/>
            <a:ext cx="26322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850"/>
              <a:buFont typeface="Nobile"/>
              <a:buNone/>
            </a:pPr>
            <a:r>
              <a:rPr lang="en-US" sz="850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Rishabh Alekar</a:t>
            </a:r>
            <a:endParaRPr sz="850" b="0" i="0" u="none" strike="noStrike" cap="none"/>
          </a:p>
        </p:txBody>
      </p:sp>
      <p:sp>
        <p:nvSpPr>
          <p:cNvPr id="63" name="Google Shape;63;p8"/>
          <p:cNvSpPr/>
          <p:nvPr/>
        </p:nvSpPr>
        <p:spPr>
          <a:xfrm>
            <a:off x="3077096" y="4451672"/>
            <a:ext cx="22212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850"/>
              <a:buFont typeface="Nobile"/>
              <a:buNone/>
            </a:pPr>
            <a:r>
              <a:rPr lang="en-US" sz="850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Problem Analysis Lead</a:t>
            </a:r>
            <a:endParaRPr sz="850" b="0" i="0" u="none" strike="noStrike" cap="none"/>
          </a:p>
        </p:txBody>
      </p:sp>
      <p:sp>
        <p:nvSpPr>
          <p:cNvPr id="64" name="Google Shape;64;p8"/>
          <p:cNvSpPr/>
          <p:nvPr/>
        </p:nvSpPr>
        <p:spPr>
          <a:xfrm>
            <a:off x="5120357" y="4451672"/>
            <a:ext cx="26298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850"/>
              <a:buFont typeface="Nobile"/>
              <a:buNone/>
            </a:pPr>
            <a:r>
              <a:rPr lang="en-US" sz="850" b="0" i="0" u="none" strike="noStrike" cap="non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B.Tech CSE</a:t>
            </a:r>
            <a:endParaRPr sz="850" b="0" i="0" u="none" strike="noStrike" cap="none"/>
          </a:p>
        </p:txBody>
      </p:sp>
      <p:sp>
        <p:nvSpPr>
          <p:cNvPr id="65" name="Google Shape;65;p8"/>
          <p:cNvSpPr/>
          <p:nvPr/>
        </p:nvSpPr>
        <p:spPr>
          <a:xfrm>
            <a:off x="7572301" y="4451672"/>
            <a:ext cx="14061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850"/>
              <a:buFont typeface="Nobile"/>
              <a:buNone/>
            </a:pPr>
            <a:r>
              <a:rPr lang="en-US" sz="850" b="0" i="0" u="none" strike="noStrike" cap="non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3rd Year</a:t>
            </a:r>
            <a:endParaRPr sz="850" b="0" i="0" u="none" strike="noStrike" cap="none"/>
          </a:p>
        </p:txBody>
      </p:sp>
      <p:sp>
        <p:nvSpPr>
          <p:cNvPr id="66" name="Google Shape;66;p8"/>
          <p:cNvSpPr/>
          <p:nvPr/>
        </p:nvSpPr>
        <p:spPr>
          <a:xfrm>
            <a:off x="8035600" y="4849850"/>
            <a:ext cx="1059000" cy="249300"/>
          </a:xfrm>
          <a:prstGeom prst="rect">
            <a:avLst/>
          </a:prstGeom>
          <a:solidFill>
            <a:srgbClr val="F9F9FF"/>
          </a:solidFill>
          <a:ln w="9525" cap="flat" cmpd="sng">
            <a:solidFill>
              <a:srgbClr val="F9F9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9"/>
          <p:cNvSpPr/>
          <p:nvPr/>
        </p:nvSpPr>
        <p:spPr>
          <a:xfrm>
            <a:off x="903759" y="328687"/>
            <a:ext cx="2933626" cy="2658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1650"/>
              <a:buFont typeface="Alexandria"/>
              <a:buNone/>
            </a:pPr>
            <a:r>
              <a:rPr lang="en-US" sz="1650" b="0" i="0" u="none" strike="noStrike" cap="none">
                <a:solidFill>
                  <a:srgbClr val="1B1B27"/>
                </a:solidFill>
                <a:latin typeface="Alexandria"/>
                <a:ea typeface="Alexandria"/>
                <a:cs typeface="Alexandria"/>
                <a:sym typeface="Alexandria"/>
              </a:rPr>
              <a:t>The Business Challenge</a:t>
            </a:r>
            <a:endParaRPr sz="1650" b="0" i="0" u="none" strike="noStrike" cap="none"/>
          </a:p>
        </p:txBody>
      </p:sp>
      <p:sp>
        <p:nvSpPr>
          <p:cNvPr id="73" name="Google Shape;73;p9"/>
          <p:cNvSpPr/>
          <p:nvPr/>
        </p:nvSpPr>
        <p:spPr>
          <a:xfrm>
            <a:off x="903759" y="753963"/>
            <a:ext cx="7336408" cy="297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800"/>
              <a:buFont typeface="Nobile"/>
              <a:buNone/>
            </a:pPr>
            <a:r>
              <a:rPr lang="en-US" sz="800" b="0" i="0" u="none" strike="noStrike" cap="non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Campus navigation fails everyone — but </a:t>
            </a:r>
            <a:r>
              <a:rPr lang="en-US" sz="800" b="1" i="0" u="none" strike="noStrike" cap="none">
                <a:solidFill>
                  <a:srgbClr val="1B54DA"/>
                </a:solidFill>
                <a:latin typeface="Nobile"/>
                <a:ea typeface="Nobile"/>
                <a:cs typeface="Nobile"/>
                <a:sym typeface="Nobile"/>
              </a:rPr>
              <a:t>fails disabled students completely.</a:t>
            </a:r>
            <a:r>
              <a:rPr lang="en-US" sz="800" b="0" i="0" u="none" strike="noStrike" cap="non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 The gap between what navigation tools promise and what users actually experience is enormous — and measurable.</a:t>
            </a:r>
            <a:endParaRPr sz="800" b="0" i="0" u="none" strike="noStrike" cap="none"/>
          </a:p>
        </p:txBody>
      </p:sp>
      <p:sp>
        <p:nvSpPr>
          <p:cNvPr id="74" name="Google Shape;74;p9"/>
          <p:cNvSpPr/>
          <p:nvPr/>
        </p:nvSpPr>
        <p:spPr>
          <a:xfrm>
            <a:off x="675159" y="1194420"/>
            <a:ext cx="1987972" cy="350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750"/>
              <a:buFont typeface="Alexandria"/>
              <a:buNone/>
            </a:pPr>
            <a:r>
              <a:rPr lang="en-US" sz="2750" b="0" i="0" u="none" strike="noStrike" cap="non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93%</a:t>
            </a:r>
            <a:endParaRPr sz="2750" b="0" i="0" u="none" strike="noStrike" cap="none"/>
          </a:p>
        </p:txBody>
      </p:sp>
      <p:sp>
        <p:nvSpPr>
          <p:cNvPr id="75" name="Google Shape;75;p9"/>
          <p:cNvSpPr/>
          <p:nvPr/>
        </p:nvSpPr>
        <p:spPr>
          <a:xfrm>
            <a:off x="840879" y="1630810"/>
            <a:ext cx="1656600" cy="1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000"/>
              <a:buFont typeface="Alexandria"/>
              <a:buNone/>
            </a:pPr>
            <a:r>
              <a:rPr lang="en-US" sz="1000" b="0" i="0" u="none" strike="noStrike" cap="non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Orientation Problems</a:t>
            </a:r>
            <a:endParaRPr sz="1000" b="0" i="0" u="none" strike="noStrike" cap="none"/>
          </a:p>
        </p:txBody>
      </p:sp>
      <p:sp>
        <p:nvSpPr>
          <p:cNvPr id="76" name="Google Shape;76;p9"/>
          <p:cNvSpPr/>
          <p:nvPr/>
        </p:nvSpPr>
        <p:spPr>
          <a:xfrm>
            <a:off x="903759" y="1872035"/>
            <a:ext cx="17595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800"/>
              <a:buFont typeface="Nobile"/>
              <a:buNone/>
            </a:pPr>
            <a:r>
              <a:rPr lang="en-US" sz="800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Students report difficulty navigating campus — Evelity survey, 300 students across 107 campuses (2025)</a:t>
            </a:r>
            <a:endParaRPr sz="800" b="0" i="0" u="none" strike="noStrike" cap="none"/>
          </a:p>
        </p:txBody>
      </p:sp>
      <p:sp>
        <p:nvSpPr>
          <p:cNvPr id="77" name="Google Shape;77;p9"/>
          <p:cNvSpPr/>
          <p:nvPr/>
        </p:nvSpPr>
        <p:spPr>
          <a:xfrm>
            <a:off x="2534171" y="1194420"/>
            <a:ext cx="1987972" cy="350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750"/>
              <a:buFont typeface="Alexandria"/>
              <a:buNone/>
            </a:pPr>
            <a:r>
              <a:rPr lang="en-US" sz="2750" b="0" i="0" u="none" strike="noStrike" cap="non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40%</a:t>
            </a:r>
            <a:endParaRPr sz="2750" b="0" i="0" u="none" strike="noStrike" cap="none"/>
          </a:p>
        </p:txBody>
      </p:sp>
      <p:sp>
        <p:nvSpPr>
          <p:cNvPr id="78" name="Google Shape;78;p9"/>
          <p:cNvSpPr/>
          <p:nvPr/>
        </p:nvSpPr>
        <p:spPr>
          <a:xfrm>
            <a:off x="2863652" y="1625607"/>
            <a:ext cx="1557600" cy="1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000"/>
              <a:buFont typeface="Alexandria"/>
              <a:buNone/>
            </a:pPr>
            <a:r>
              <a:rPr lang="en-US" sz="1000" b="0" i="0" u="none" strike="noStrike" cap="non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Arrive Late to Class</a:t>
            </a:r>
            <a:endParaRPr sz="1000" b="0" i="0" u="none" strike="noStrike" cap="none"/>
          </a:p>
        </p:txBody>
      </p:sp>
      <p:sp>
        <p:nvSpPr>
          <p:cNvPr id="79" name="Google Shape;79;p9"/>
          <p:cNvSpPr/>
          <p:nvPr/>
        </p:nvSpPr>
        <p:spPr>
          <a:xfrm>
            <a:off x="2762771" y="1872035"/>
            <a:ext cx="1759372" cy="4464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800"/>
              <a:buFont typeface="Nobile"/>
              <a:buNone/>
            </a:pPr>
            <a:r>
              <a:rPr lang="en-US" sz="800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Directly caused by navigation failure — same Evelity 2025 survey</a:t>
            </a:r>
            <a:endParaRPr sz="800" b="0" i="0" u="none" strike="noStrike" cap="none"/>
          </a:p>
        </p:txBody>
      </p:sp>
      <p:sp>
        <p:nvSpPr>
          <p:cNvPr id="80" name="Google Shape;80;p9"/>
          <p:cNvSpPr/>
          <p:nvPr/>
        </p:nvSpPr>
        <p:spPr>
          <a:xfrm>
            <a:off x="4393183" y="1194420"/>
            <a:ext cx="1987972" cy="350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750"/>
              <a:buFont typeface="Alexandria"/>
              <a:buNone/>
            </a:pPr>
            <a:r>
              <a:rPr lang="en-US" sz="2750" b="0" i="0" u="none" strike="noStrike" cap="non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330+</a:t>
            </a:r>
            <a:endParaRPr sz="2750" b="0" i="0" u="none" strike="noStrike" cap="none"/>
          </a:p>
        </p:txBody>
      </p:sp>
      <p:sp>
        <p:nvSpPr>
          <p:cNvPr id="81" name="Google Shape;81;p9"/>
          <p:cNvSpPr/>
          <p:nvPr/>
        </p:nvSpPr>
        <p:spPr>
          <a:xfrm>
            <a:off x="4539928" y="1629804"/>
            <a:ext cx="1694400" cy="1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000"/>
              <a:buFont typeface="Alexandria"/>
              <a:buNone/>
            </a:pPr>
            <a:r>
              <a:rPr lang="en-US" sz="1000" b="0" i="0" u="none" strike="noStrike" cap="non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Registered Disabilities</a:t>
            </a:r>
            <a:endParaRPr sz="1000" b="0" i="0" u="none" strike="noStrike" cap="none"/>
          </a:p>
        </p:txBody>
      </p:sp>
      <p:sp>
        <p:nvSpPr>
          <p:cNvPr id="82" name="Google Shape;82;p9"/>
          <p:cNvSpPr/>
          <p:nvPr/>
        </p:nvSpPr>
        <p:spPr>
          <a:xfrm>
            <a:off x="4621783" y="1872035"/>
            <a:ext cx="1759372" cy="4464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800"/>
              <a:buFont typeface="Nobile"/>
              <a:buNone/>
            </a:pPr>
            <a:r>
              <a:rPr lang="en-US" sz="800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On a 15,000-student campus — real need is 2–3× higher (MoSPI 2021)</a:t>
            </a:r>
            <a:endParaRPr sz="800" b="0" i="0" u="none" strike="noStrike" cap="none"/>
          </a:p>
        </p:txBody>
      </p:sp>
      <p:sp>
        <p:nvSpPr>
          <p:cNvPr id="83" name="Google Shape;83;p9"/>
          <p:cNvSpPr/>
          <p:nvPr/>
        </p:nvSpPr>
        <p:spPr>
          <a:xfrm>
            <a:off x="6252195" y="1194420"/>
            <a:ext cx="1987972" cy="350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750"/>
              <a:buFont typeface="Alexandria"/>
              <a:buNone/>
            </a:pPr>
            <a:r>
              <a:rPr lang="en-US" sz="2750" b="0" i="0" u="none" strike="noStrike" cap="non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46%</a:t>
            </a:r>
            <a:endParaRPr sz="2750" b="0" i="0" u="none" strike="noStrike" cap="none"/>
          </a:p>
        </p:txBody>
      </p:sp>
      <p:sp>
        <p:nvSpPr>
          <p:cNvPr id="84" name="Google Shape;84;p9"/>
          <p:cNvSpPr/>
          <p:nvPr/>
        </p:nvSpPr>
        <p:spPr>
          <a:xfrm>
            <a:off x="6467326" y="1629804"/>
            <a:ext cx="1557600" cy="1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000"/>
              <a:buFont typeface="Alexandria"/>
              <a:buNone/>
            </a:pPr>
            <a:r>
              <a:rPr lang="en-US" sz="1000" b="0" i="0" u="none" strike="noStrike" cap="non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App Uninstall Rate</a:t>
            </a:r>
            <a:endParaRPr sz="1000" b="0" i="0" u="none" strike="noStrike" cap="none"/>
          </a:p>
        </p:txBody>
      </p:sp>
      <p:sp>
        <p:nvSpPr>
          <p:cNvPr id="85" name="Google Shape;85;p9"/>
          <p:cNvSpPr/>
          <p:nvPr/>
        </p:nvSpPr>
        <p:spPr>
          <a:xfrm>
            <a:off x="6480795" y="1872035"/>
            <a:ext cx="1759372" cy="4464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800"/>
              <a:buFont typeface="Nobile"/>
              <a:buNone/>
            </a:pPr>
            <a:r>
              <a:rPr lang="en-US" sz="800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Android apps abandoned within 30 days of install — AppsFlyer 2025 benchmark</a:t>
            </a:r>
            <a:endParaRPr sz="800" b="0" i="0" u="none" strike="noStrike" cap="none"/>
          </a:p>
        </p:txBody>
      </p:sp>
      <p:sp>
        <p:nvSpPr>
          <p:cNvPr id="86" name="Google Shape;86;p9"/>
          <p:cNvSpPr/>
          <p:nvPr/>
        </p:nvSpPr>
        <p:spPr>
          <a:xfrm>
            <a:off x="840884" y="2532235"/>
            <a:ext cx="2691600" cy="1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1000"/>
              <a:buFont typeface="Alexandria"/>
              <a:buNone/>
            </a:pPr>
            <a:r>
              <a:rPr lang="en-US" sz="1000">
                <a:solidFill>
                  <a:srgbClr val="1B1B27"/>
                </a:solidFill>
                <a:latin typeface="Alexandria"/>
                <a:ea typeface="Alexandria"/>
                <a:cs typeface="Alexandria"/>
                <a:sym typeface="Alexandria"/>
              </a:rPr>
              <a:t>Current Situation</a:t>
            </a:r>
            <a:endParaRPr sz="1000" b="0" i="0" u="none" strike="noStrike" cap="none"/>
          </a:p>
        </p:txBody>
      </p:sp>
      <p:sp>
        <p:nvSpPr>
          <p:cNvPr id="87" name="Google Shape;87;p9"/>
          <p:cNvSpPr/>
          <p:nvPr/>
        </p:nvSpPr>
        <p:spPr>
          <a:xfrm>
            <a:off x="840884" y="2787996"/>
            <a:ext cx="3538500" cy="1595700"/>
          </a:xfrm>
          <a:prstGeom prst="roundRect">
            <a:avLst>
              <a:gd name="adj" fmla="val 2799"/>
            </a:avLst>
          </a:prstGeom>
          <a:noFill/>
          <a:ln w="9525" cap="flat" cmpd="sng">
            <a:solidFill>
              <a:srgbClr val="000000">
                <a:alpha val="7843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9"/>
          <p:cNvSpPr/>
          <p:nvPr/>
        </p:nvSpPr>
        <p:spPr>
          <a:xfrm>
            <a:off x="951984" y="2845295"/>
            <a:ext cx="20091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800"/>
              <a:buFont typeface="Nobile"/>
              <a:buNone/>
            </a:pPr>
            <a:r>
              <a:rPr lang="en-US" sz="800" b="1" i="0" u="none" strike="noStrike" cap="non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Current Reality</a:t>
            </a:r>
            <a:endParaRPr sz="800" b="0" i="0" u="none" strike="noStrike" cap="none"/>
          </a:p>
        </p:txBody>
      </p:sp>
      <p:sp>
        <p:nvSpPr>
          <p:cNvPr id="89" name="Google Shape;89;p9"/>
          <p:cNvSpPr/>
          <p:nvPr/>
        </p:nvSpPr>
        <p:spPr>
          <a:xfrm>
            <a:off x="2716416" y="2845295"/>
            <a:ext cx="20091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800"/>
              <a:buFont typeface="Nobile"/>
              <a:buNone/>
            </a:pPr>
            <a:r>
              <a:rPr lang="en-US" sz="800" b="1" i="0" u="none" strike="noStrike" cap="non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What's Needed</a:t>
            </a:r>
            <a:endParaRPr sz="800" b="0" i="0" u="none" strike="noStrike" cap="none"/>
          </a:p>
        </p:txBody>
      </p:sp>
      <p:sp>
        <p:nvSpPr>
          <p:cNvPr id="90" name="Google Shape;90;p9"/>
          <p:cNvSpPr/>
          <p:nvPr/>
        </p:nvSpPr>
        <p:spPr>
          <a:xfrm>
            <a:off x="951984" y="3103959"/>
            <a:ext cx="20091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800"/>
              <a:buFont typeface="Nobile"/>
              <a:buNone/>
            </a:pPr>
            <a:r>
              <a:rPr lang="en-US" sz="800" b="0" i="0" u="none" strike="noStrike" cap="non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GPS fails indoors</a:t>
            </a:r>
            <a:endParaRPr sz="800" b="0" i="0" u="none" strike="noStrike" cap="none"/>
          </a:p>
        </p:txBody>
      </p:sp>
      <p:sp>
        <p:nvSpPr>
          <p:cNvPr id="91" name="Google Shape;91;p9"/>
          <p:cNvSpPr/>
          <p:nvPr/>
        </p:nvSpPr>
        <p:spPr>
          <a:xfrm>
            <a:off x="2716416" y="3103959"/>
            <a:ext cx="20091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800"/>
              <a:buFont typeface="Nobile"/>
              <a:buNone/>
            </a:pPr>
            <a:r>
              <a:rPr lang="en-US" sz="800" b="0" i="0" u="none" strike="noStrike" cap="non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Reliable indoor positioning</a:t>
            </a:r>
            <a:endParaRPr sz="800" b="0" i="0" u="none" strike="noStrike" cap="none"/>
          </a:p>
        </p:txBody>
      </p:sp>
      <p:sp>
        <p:nvSpPr>
          <p:cNvPr id="92" name="Google Shape;92;p9"/>
          <p:cNvSpPr/>
          <p:nvPr/>
        </p:nvSpPr>
        <p:spPr>
          <a:xfrm>
            <a:off x="951984" y="3362622"/>
            <a:ext cx="20091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800"/>
              <a:buFont typeface="Nobile"/>
              <a:buNone/>
            </a:pPr>
            <a:r>
              <a:rPr lang="en-US" sz="800" b="0" i="0" u="none" strike="noStrike" cap="non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Accessibility is incomplete</a:t>
            </a:r>
            <a:endParaRPr sz="800" b="0" i="0" u="none" strike="noStrike" cap="none"/>
          </a:p>
        </p:txBody>
      </p:sp>
      <p:sp>
        <p:nvSpPr>
          <p:cNvPr id="93" name="Google Shape;93;p9"/>
          <p:cNvSpPr/>
          <p:nvPr/>
        </p:nvSpPr>
        <p:spPr>
          <a:xfrm>
            <a:off x="2716416" y="3362622"/>
            <a:ext cx="20091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800"/>
              <a:buFont typeface="Nobile"/>
              <a:buNone/>
            </a:pPr>
            <a:r>
              <a:rPr lang="en-US" sz="800" b="0" i="0" u="none" strike="noStrike" cap="non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Disability-aware routing</a:t>
            </a:r>
            <a:endParaRPr sz="800" b="0" i="0" u="none" strike="noStrike" cap="none"/>
          </a:p>
        </p:txBody>
      </p:sp>
      <p:sp>
        <p:nvSpPr>
          <p:cNvPr id="94" name="Google Shape;94;p9"/>
          <p:cNvSpPr/>
          <p:nvPr/>
        </p:nvSpPr>
        <p:spPr>
          <a:xfrm>
            <a:off x="951984" y="3621285"/>
            <a:ext cx="1551900" cy="29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800"/>
              <a:buFont typeface="Nobile"/>
              <a:buNone/>
            </a:pPr>
            <a:r>
              <a:rPr lang="en-US" sz="800" b="0" i="0" u="none" strike="noStrike" cap="non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Maps ignore real-time constraints</a:t>
            </a:r>
            <a:endParaRPr sz="800" b="0" i="0" u="none" strike="noStrike" cap="none"/>
          </a:p>
        </p:txBody>
      </p:sp>
      <p:sp>
        <p:nvSpPr>
          <p:cNvPr id="95" name="Google Shape;95;p9"/>
          <p:cNvSpPr/>
          <p:nvPr/>
        </p:nvSpPr>
        <p:spPr>
          <a:xfrm>
            <a:off x="2716416" y="3621285"/>
            <a:ext cx="20091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800"/>
              <a:buFont typeface="Nobile"/>
              <a:buNone/>
            </a:pPr>
            <a:r>
              <a:rPr lang="en-US" sz="800" b="0" i="0" u="none" strike="noStrike" cap="non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Live campus context</a:t>
            </a:r>
            <a:endParaRPr sz="800" b="0" i="0" u="none" strike="noStrike" cap="none"/>
          </a:p>
        </p:txBody>
      </p:sp>
      <p:sp>
        <p:nvSpPr>
          <p:cNvPr id="96" name="Google Shape;96;p9"/>
          <p:cNvSpPr/>
          <p:nvPr/>
        </p:nvSpPr>
        <p:spPr>
          <a:xfrm>
            <a:off x="951984" y="4028777"/>
            <a:ext cx="20091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800"/>
              <a:buFont typeface="Nobile"/>
              <a:buNone/>
            </a:pPr>
            <a:r>
              <a:rPr lang="en-US" sz="800" b="0" i="0" u="none" strike="noStrike" cap="non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Apps depend on internet</a:t>
            </a:r>
            <a:endParaRPr sz="800" b="0" i="0" u="none" strike="noStrike" cap="none"/>
          </a:p>
        </p:txBody>
      </p:sp>
      <p:sp>
        <p:nvSpPr>
          <p:cNvPr id="97" name="Google Shape;97;p9"/>
          <p:cNvSpPr/>
          <p:nvPr/>
        </p:nvSpPr>
        <p:spPr>
          <a:xfrm>
            <a:off x="2716416" y="4028777"/>
            <a:ext cx="1551900" cy="29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800"/>
              <a:buFont typeface="Nobile"/>
              <a:buNone/>
            </a:pPr>
            <a:r>
              <a:rPr lang="en-US" sz="800" b="0" i="0" u="none" strike="noStrike" cap="non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Offline &amp; low-connectivity support</a:t>
            </a:r>
            <a:endParaRPr sz="800" b="0" i="0" u="none" strike="noStrike" cap="none"/>
          </a:p>
        </p:txBody>
      </p:sp>
      <p:sp>
        <p:nvSpPr>
          <p:cNvPr id="98" name="Google Shape;98;p9"/>
          <p:cNvSpPr/>
          <p:nvPr/>
        </p:nvSpPr>
        <p:spPr>
          <a:xfrm>
            <a:off x="4643517" y="2532235"/>
            <a:ext cx="3204300" cy="1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1000"/>
              <a:buFont typeface="Alexandria"/>
              <a:buNone/>
            </a:pPr>
            <a:r>
              <a:rPr lang="en-US" sz="1000">
                <a:solidFill>
                  <a:srgbClr val="1B1B27"/>
                </a:solidFill>
                <a:latin typeface="Alexandria"/>
                <a:ea typeface="Alexandria"/>
                <a:cs typeface="Alexandria"/>
                <a:sym typeface="Alexandria"/>
              </a:rPr>
              <a:t>Existing App Issues - By The Numbers</a:t>
            </a:r>
            <a:endParaRPr sz="1000" b="0" i="0" u="none" strike="noStrike" cap="none"/>
          </a:p>
        </p:txBody>
      </p:sp>
      <p:pic>
        <p:nvPicPr>
          <p:cNvPr id="99" name="Google Shape;99;p9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43517" y="2787996"/>
            <a:ext cx="3538463" cy="1981497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9"/>
          <p:cNvSpPr/>
          <p:nvPr/>
        </p:nvSpPr>
        <p:spPr>
          <a:xfrm>
            <a:off x="8024680" y="4772973"/>
            <a:ext cx="1084977" cy="370527"/>
          </a:xfrm>
          <a:prstGeom prst="rect">
            <a:avLst/>
          </a:prstGeom>
          <a:solidFill>
            <a:srgbClr val="F9F9FF"/>
          </a:solidFill>
          <a:ln w="9525" cap="flat" cmpd="sng">
            <a:solidFill>
              <a:srgbClr val="F9F9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0"/>
          <p:cNvSpPr/>
          <p:nvPr/>
        </p:nvSpPr>
        <p:spPr>
          <a:xfrm>
            <a:off x="1285875" y="316855"/>
            <a:ext cx="236220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1500"/>
              <a:buFont typeface="Alexandria"/>
              <a:buNone/>
            </a:pPr>
            <a:r>
              <a:rPr lang="en-US" sz="1650" b="0" i="0" u="none" strike="noStrike" cap="none">
                <a:solidFill>
                  <a:srgbClr val="1B1B27"/>
                </a:solidFill>
                <a:latin typeface="Alexandria"/>
                <a:ea typeface="Alexandria"/>
                <a:cs typeface="Alexandria"/>
                <a:sym typeface="Alexandria"/>
              </a:rPr>
              <a:t>Proposed Solution</a:t>
            </a:r>
            <a:endParaRPr sz="1650" b="0" i="0" u="none" strike="noStrike" cap="none"/>
          </a:p>
        </p:txBody>
      </p:sp>
      <p:sp>
        <p:nvSpPr>
          <p:cNvPr id="107" name="Google Shape;107;p10"/>
          <p:cNvSpPr/>
          <p:nvPr/>
        </p:nvSpPr>
        <p:spPr>
          <a:xfrm>
            <a:off x="1285875" y="682972"/>
            <a:ext cx="6572250" cy="254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750"/>
              <a:buFont typeface="Nobile"/>
              <a:buNone/>
            </a:pPr>
            <a:r>
              <a:rPr lang="en-US" sz="750" b="1" i="0" u="none" strike="noStrike" cap="non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CampusPilot AI</a:t>
            </a:r>
            <a:r>
              <a:rPr lang="en-US" sz="750" b="0" i="0" u="none" strike="noStrike" cap="non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 is a conversational AI agent that knows where users are </a:t>
            </a:r>
            <a:r>
              <a:rPr lang="en-US" sz="750" b="0" i="1" u="none" strike="noStrike" cap="non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indoors</a:t>
            </a:r>
            <a:r>
              <a:rPr lang="en-US" sz="750" b="0" i="0" u="none" strike="noStrike" cap="non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, routes around real constraints, serves every disability profile, and works even when the internet doesn't.</a:t>
            </a:r>
            <a:endParaRPr sz="750" b="0" i="0" u="none" strike="noStrike" cap="none"/>
          </a:p>
        </p:txBody>
      </p:sp>
      <p:sp>
        <p:nvSpPr>
          <p:cNvPr id="108" name="Google Shape;108;p10"/>
          <p:cNvSpPr/>
          <p:nvPr/>
        </p:nvSpPr>
        <p:spPr>
          <a:xfrm>
            <a:off x="1285875" y="1009724"/>
            <a:ext cx="2148036" cy="1043285"/>
          </a:xfrm>
          <a:prstGeom prst="roundRect">
            <a:avLst>
              <a:gd name="adj" fmla="val 6573"/>
            </a:avLst>
          </a:prstGeom>
          <a:solidFill>
            <a:srgbClr val="F9F9FF"/>
          </a:solidFill>
          <a:ln w="14275" cap="flat" cmpd="sng">
            <a:solidFill>
              <a:srgbClr val="B8C3D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10"/>
          <p:cNvSpPr/>
          <p:nvPr/>
        </p:nvSpPr>
        <p:spPr>
          <a:xfrm>
            <a:off x="1271588" y="1009724"/>
            <a:ext cx="57150" cy="1043285"/>
          </a:xfrm>
          <a:prstGeom prst="roundRect">
            <a:avLst>
              <a:gd name="adj" fmla="val 70000"/>
            </a:avLst>
          </a:prstGeom>
          <a:solidFill>
            <a:srgbClr val="1B54D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10"/>
          <p:cNvSpPr/>
          <p:nvPr/>
        </p:nvSpPr>
        <p:spPr>
          <a:xfrm>
            <a:off x="1591302" y="1119237"/>
            <a:ext cx="15372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0"/>
              <a:buFont typeface="Alexandria"/>
              <a:buNone/>
            </a:pPr>
            <a:r>
              <a:rPr lang="en-US" sz="900" b="0" i="0" u="none" strike="noStrike" cap="non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QR Indoor Positioning</a:t>
            </a:r>
            <a:endParaRPr sz="900" b="0" i="0" u="none" strike="noStrike" cap="none"/>
          </a:p>
        </p:txBody>
      </p:sp>
      <p:sp>
        <p:nvSpPr>
          <p:cNvPr id="111" name="Google Shape;111;p10"/>
          <p:cNvSpPr/>
          <p:nvPr/>
        </p:nvSpPr>
        <p:spPr>
          <a:xfrm>
            <a:off x="1438275" y="1306488"/>
            <a:ext cx="1886100" cy="63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750"/>
              <a:buFont typeface="Nobile"/>
              <a:buNone/>
            </a:pPr>
            <a:r>
              <a:rPr lang="en-US" sz="750" b="0" i="0" u="none" strike="noStrike" cap="non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Precise indoor location from QR checkpoints placed at entrances, lifts, and corridor junctions — no GPS, no beacons, no power dependency, fully offline.</a:t>
            </a:r>
            <a:endParaRPr sz="750" b="0" i="0" u="none" strike="noStrike" cap="none"/>
          </a:p>
        </p:txBody>
      </p:sp>
      <p:sp>
        <p:nvSpPr>
          <p:cNvPr id="112" name="Google Shape;112;p10"/>
          <p:cNvSpPr/>
          <p:nvPr/>
        </p:nvSpPr>
        <p:spPr>
          <a:xfrm>
            <a:off x="3497907" y="1009724"/>
            <a:ext cx="2148111" cy="1043285"/>
          </a:xfrm>
          <a:prstGeom prst="roundRect">
            <a:avLst>
              <a:gd name="adj" fmla="val 6573"/>
            </a:avLst>
          </a:prstGeom>
          <a:solidFill>
            <a:srgbClr val="F9F9FF"/>
          </a:solidFill>
          <a:ln w="14275" cap="flat" cmpd="sng">
            <a:solidFill>
              <a:srgbClr val="B8C3D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10"/>
          <p:cNvSpPr/>
          <p:nvPr/>
        </p:nvSpPr>
        <p:spPr>
          <a:xfrm>
            <a:off x="3483620" y="1009724"/>
            <a:ext cx="57150" cy="1043285"/>
          </a:xfrm>
          <a:prstGeom prst="roundRect">
            <a:avLst>
              <a:gd name="adj" fmla="val 70000"/>
            </a:avLst>
          </a:prstGeom>
          <a:solidFill>
            <a:srgbClr val="1B54D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10"/>
          <p:cNvSpPr/>
          <p:nvPr/>
        </p:nvSpPr>
        <p:spPr>
          <a:xfrm>
            <a:off x="3729864" y="1119262"/>
            <a:ext cx="17769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0"/>
              <a:buFont typeface="Alexandria"/>
              <a:buNone/>
            </a:pPr>
            <a:r>
              <a:rPr lang="en-US" sz="900" b="0" i="0" u="none" strike="noStrike" cap="non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Conversational Navigation</a:t>
            </a:r>
            <a:endParaRPr sz="900" b="0" i="0" u="none" strike="noStrike" cap="none"/>
          </a:p>
        </p:txBody>
      </p:sp>
      <p:sp>
        <p:nvSpPr>
          <p:cNvPr id="115" name="Google Shape;115;p10"/>
          <p:cNvSpPr/>
          <p:nvPr/>
        </p:nvSpPr>
        <p:spPr>
          <a:xfrm>
            <a:off x="3650307" y="1306488"/>
            <a:ext cx="18861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750"/>
              <a:buFont typeface="Nobile"/>
              <a:buNone/>
            </a:pPr>
            <a:r>
              <a:rPr lang="en-US" sz="750" b="0" i="0" u="none" strike="noStrike" cap="non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Natural language queries understood by an LLM agent — intent, location, and constraints resolved in one exchange.</a:t>
            </a:r>
            <a:endParaRPr sz="750" b="0" i="0" u="none" strike="noStrike" cap="none"/>
          </a:p>
        </p:txBody>
      </p:sp>
      <p:sp>
        <p:nvSpPr>
          <p:cNvPr id="116" name="Google Shape;116;p10"/>
          <p:cNvSpPr/>
          <p:nvPr/>
        </p:nvSpPr>
        <p:spPr>
          <a:xfrm>
            <a:off x="5710014" y="1009724"/>
            <a:ext cx="2148036" cy="1043285"/>
          </a:xfrm>
          <a:prstGeom prst="roundRect">
            <a:avLst>
              <a:gd name="adj" fmla="val 6573"/>
            </a:avLst>
          </a:prstGeom>
          <a:solidFill>
            <a:srgbClr val="F9F9FF"/>
          </a:solidFill>
          <a:ln w="14275" cap="flat" cmpd="sng">
            <a:solidFill>
              <a:srgbClr val="B8C3D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10"/>
          <p:cNvSpPr/>
          <p:nvPr/>
        </p:nvSpPr>
        <p:spPr>
          <a:xfrm>
            <a:off x="5695727" y="1009724"/>
            <a:ext cx="57150" cy="1043285"/>
          </a:xfrm>
          <a:prstGeom prst="roundRect">
            <a:avLst>
              <a:gd name="adj" fmla="val 70000"/>
            </a:avLst>
          </a:prstGeom>
          <a:solidFill>
            <a:srgbClr val="1B54D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10"/>
          <p:cNvSpPr/>
          <p:nvPr/>
        </p:nvSpPr>
        <p:spPr>
          <a:xfrm>
            <a:off x="5964263" y="1119287"/>
            <a:ext cx="16824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0"/>
              <a:buFont typeface="Alexandria"/>
              <a:buNone/>
            </a:pPr>
            <a:r>
              <a:rPr lang="en-US" sz="900" b="0" i="0" u="none" strike="noStrike" cap="non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Accessibility Intelligence</a:t>
            </a:r>
            <a:endParaRPr sz="900" b="0" i="0" u="none" strike="noStrike" cap="none"/>
          </a:p>
        </p:txBody>
      </p:sp>
      <p:sp>
        <p:nvSpPr>
          <p:cNvPr id="119" name="Google Shape;119;p10"/>
          <p:cNvSpPr/>
          <p:nvPr/>
        </p:nvSpPr>
        <p:spPr>
          <a:xfrm>
            <a:off x="5862414" y="1306488"/>
            <a:ext cx="1886099" cy="3821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750"/>
              <a:buFont typeface="Nobile"/>
              <a:buNone/>
            </a:pPr>
            <a:r>
              <a:rPr lang="en-US" sz="750" b="0" i="0" u="none" strike="noStrike" cap="non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Five disability profiles: wheelchair, vision-impaired, hearing-impaired, cognitive, and invisible. WCAG 2.1 compliant.</a:t>
            </a:r>
            <a:endParaRPr sz="750" b="0" i="0" u="none" strike="noStrike" cap="none"/>
          </a:p>
        </p:txBody>
      </p:sp>
      <p:sp>
        <p:nvSpPr>
          <p:cNvPr id="120" name="Google Shape;120;p10"/>
          <p:cNvSpPr/>
          <p:nvPr/>
        </p:nvSpPr>
        <p:spPr>
          <a:xfrm>
            <a:off x="2391891" y="2117006"/>
            <a:ext cx="2148036" cy="788491"/>
          </a:xfrm>
          <a:prstGeom prst="roundRect">
            <a:avLst>
              <a:gd name="adj" fmla="val 8698"/>
            </a:avLst>
          </a:prstGeom>
          <a:solidFill>
            <a:srgbClr val="F9F9FF"/>
          </a:solidFill>
          <a:ln w="14275" cap="flat" cmpd="sng">
            <a:solidFill>
              <a:srgbClr val="B8C3D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10"/>
          <p:cNvSpPr/>
          <p:nvPr/>
        </p:nvSpPr>
        <p:spPr>
          <a:xfrm>
            <a:off x="2377604" y="2117006"/>
            <a:ext cx="57150" cy="788491"/>
          </a:xfrm>
          <a:prstGeom prst="roundRect">
            <a:avLst>
              <a:gd name="adj" fmla="val 70000"/>
            </a:avLst>
          </a:prstGeom>
          <a:solidFill>
            <a:srgbClr val="1B54D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10"/>
          <p:cNvSpPr/>
          <p:nvPr/>
        </p:nvSpPr>
        <p:spPr>
          <a:xfrm>
            <a:off x="2756303" y="2206718"/>
            <a:ext cx="14193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0"/>
              <a:buFont typeface="Alexandria"/>
              <a:buNone/>
            </a:pPr>
            <a:r>
              <a:rPr lang="en-US" sz="900" b="0" i="0" u="none" strike="noStrike" cap="non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Shadow Mapping</a:t>
            </a:r>
            <a:endParaRPr sz="900" b="0" i="0" u="none" strike="noStrike" cap="none"/>
          </a:p>
        </p:txBody>
      </p:sp>
      <p:sp>
        <p:nvSpPr>
          <p:cNvPr id="123" name="Google Shape;123;p10"/>
          <p:cNvSpPr/>
          <p:nvPr/>
        </p:nvSpPr>
        <p:spPr>
          <a:xfrm>
            <a:off x="2544291" y="2413769"/>
            <a:ext cx="1886099" cy="3821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750"/>
              <a:buFont typeface="Nobile"/>
              <a:buNone/>
            </a:pPr>
            <a:r>
              <a:rPr lang="en-US" sz="750" b="0" i="0" u="none" strike="noStrike" cap="non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Official map + real-usage map. Micro-feedback continuously corrects inaccurate campus data automatically.</a:t>
            </a:r>
            <a:endParaRPr sz="750" b="0" i="0" u="none" strike="noStrike" cap="none"/>
          </a:p>
        </p:txBody>
      </p:sp>
      <p:sp>
        <p:nvSpPr>
          <p:cNvPr id="124" name="Google Shape;124;p10"/>
          <p:cNvSpPr/>
          <p:nvPr/>
        </p:nvSpPr>
        <p:spPr>
          <a:xfrm>
            <a:off x="4603924" y="2117006"/>
            <a:ext cx="2148111" cy="788491"/>
          </a:xfrm>
          <a:prstGeom prst="roundRect">
            <a:avLst>
              <a:gd name="adj" fmla="val 8698"/>
            </a:avLst>
          </a:prstGeom>
          <a:solidFill>
            <a:srgbClr val="F9F9FF"/>
          </a:solidFill>
          <a:ln w="14275" cap="flat" cmpd="sng">
            <a:solidFill>
              <a:srgbClr val="B8C3D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10"/>
          <p:cNvSpPr/>
          <p:nvPr/>
        </p:nvSpPr>
        <p:spPr>
          <a:xfrm>
            <a:off x="4589636" y="2117006"/>
            <a:ext cx="57150" cy="788491"/>
          </a:xfrm>
          <a:prstGeom prst="roundRect">
            <a:avLst>
              <a:gd name="adj" fmla="val 70000"/>
            </a:avLst>
          </a:prstGeom>
          <a:solidFill>
            <a:srgbClr val="1B54D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10"/>
          <p:cNvSpPr/>
          <p:nvPr/>
        </p:nvSpPr>
        <p:spPr>
          <a:xfrm>
            <a:off x="4968374" y="2206731"/>
            <a:ext cx="14193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0"/>
              <a:buFont typeface="Alexandria"/>
              <a:buNone/>
            </a:pPr>
            <a:r>
              <a:rPr lang="en-US" sz="900" b="0" i="0" u="none" strike="noStrike" cap="non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Bluetooth Mesh</a:t>
            </a:r>
            <a:endParaRPr sz="900" b="0" i="0" u="none" strike="noStrike" cap="none"/>
          </a:p>
        </p:txBody>
      </p:sp>
      <p:sp>
        <p:nvSpPr>
          <p:cNvPr id="127" name="Google Shape;127;p10"/>
          <p:cNvSpPr/>
          <p:nvPr/>
        </p:nvSpPr>
        <p:spPr>
          <a:xfrm>
            <a:off x="4756324" y="2413769"/>
            <a:ext cx="1886173" cy="3821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750"/>
              <a:buFont typeface="Nobile"/>
              <a:buNone/>
            </a:pPr>
            <a:r>
              <a:rPr lang="en-US" sz="750" b="0" i="0" u="none" strike="noStrike" cap="non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Every phone is a data node. Crowd alerts and emergency signals travel device-to-device without internet.</a:t>
            </a:r>
            <a:endParaRPr sz="750" b="0" i="0" u="none" strike="noStrike" cap="none"/>
          </a:p>
        </p:txBody>
      </p:sp>
      <p:sp>
        <p:nvSpPr>
          <p:cNvPr id="128" name="Google Shape;128;p10"/>
          <p:cNvSpPr/>
          <p:nvPr/>
        </p:nvSpPr>
        <p:spPr>
          <a:xfrm>
            <a:off x="3393430" y="3001491"/>
            <a:ext cx="2128540" cy="1488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900"/>
              <a:buFont typeface="Alexandria"/>
              <a:buNone/>
            </a:pPr>
            <a:r>
              <a:rPr lang="en-US" sz="900">
                <a:solidFill>
                  <a:srgbClr val="1B1B27"/>
                </a:solidFill>
                <a:latin typeface="Alexandria"/>
                <a:ea typeface="Alexandria"/>
                <a:cs typeface="Alexandria"/>
                <a:sym typeface="Alexandria"/>
              </a:rPr>
              <a:t>How We Are </a:t>
            </a:r>
            <a:r>
              <a:rPr lang="en-US" sz="900" b="0" i="0" u="none" strike="noStrike" cap="none">
                <a:solidFill>
                  <a:srgbClr val="1B1B27"/>
                </a:solidFill>
                <a:latin typeface="Alexandria"/>
                <a:ea typeface="Alexandria"/>
                <a:cs typeface="Alexandria"/>
                <a:sym typeface="Alexandria"/>
              </a:rPr>
              <a:t>Different</a:t>
            </a:r>
            <a:endParaRPr sz="900" b="0" i="0" u="none" strike="noStrike" cap="none"/>
          </a:p>
        </p:txBody>
      </p:sp>
      <p:sp>
        <p:nvSpPr>
          <p:cNvPr id="129" name="Google Shape;129;p10"/>
          <p:cNvSpPr/>
          <p:nvPr/>
        </p:nvSpPr>
        <p:spPr>
          <a:xfrm>
            <a:off x="1285875" y="3246313"/>
            <a:ext cx="6572250" cy="1380976"/>
          </a:xfrm>
          <a:prstGeom prst="roundRect">
            <a:avLst>
              <a:gd name="adj" fmla="val 2897"/>
            </a:avLst>
          </a:prstGeom>
          <a:noFill/>
          <a:ln w="9525" cap="flat" cmpd="sng">
            <a:solidFill>
              <a:srgbClr val="000000">
                <a:alpha val="7843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10"/>
          <p:cNvSpPr/>
          <p:nvPr/>
        </p:nvSpPr>
        <p:spPr>
          <a:xfrm>
            <a:off x="1385962" y="3294236"/>
            <a:ext cx="2101825" cy="127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750"/>
              <a:buFont typeface="Nobile"/>
              <a:buNone/>
            </a:pPr>
            <a:r>
              <a:rPr lang="en-US" sz="750" b="1" i="0" u="none" strike="noStrike" cap="non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Capability</a:t>
            </a:r>
            <a:endParaRPr sz="750" b="0" i="0" u="none" strike="noStrike" cap="none"/>
          </a:p>
        </p:txBody>
      </p:sp>
      <p:sp>
        <p:nvSpPr>
          <p:cNvPr id="131" name="Google Shape;131;p10"/>
          <p:cNvSpPr/>
          <p:nvPr/>
        </p:nvSpPr>
        <p:spPr>
          <a:xfrm>
            <a:off x="3225850" y="3294236"/>
            <a:ext cx="2624510" cy="127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750"/>
              <a:buFont typeface="Nobile"/>
              <a:buNone/>
            </a:pPr>
            <a:r>
              <a:rPr lang="en-US" sz="750" b="1" i="0" u="none" strike="noStrike" cap="non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Existing Apps</a:t>
            </a:r>
            <a:endParaRPr sz="750" b="0" i="0" u="none" strike="noStrike" cap="none"/>
          </a:p>
        </p:txBody>
      </p:sp>
      <p:sp>
        <p:nvSpPr>
          <p:cNvPr id="132" name="Google Shape;132;p10"/>
          <p:cNvSpPr/>
          <p:nvPr/>
        </p:nvSpPr>
        <p:spPr>
          <a:xfrm>
            <a:off x="5588422" y="3294236"/>
            <a:ext cx="2626891" cy="127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750"/>
              <a:buFont typeface="Nobile"/>
              <a:buNone/>
            </a:pPr>
            <a:r>
              <a:rPr lang="en-US" sz="750" b="1" i="0" u="none" strike="noStrike" cap="non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CampusPilot AI</a:t>
            </a:r>
            <a:endParaRPr sz="750" b="0" i="0" u="none" strike="noStrike" cap="none"/>
          </a:p>
        </p:txBody>
      </p:sp>
      <p:sp>
        <p:nvSpPr>
          <p:cNvPr id="133" name="Google Shape;133;p10"/>
          <p:cNvSpPr/>
          <p:nvPr/>
        </p:nvSpPr>
        <p:spPr>
          <a:xfrm>
            <a:off x="1385962" y="3512716"/>
            <a:ext cx="2101825" cy="101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600"/>
              <a:buFont typeface="Nobile"/>
              <a:buNone/>
            </a:pPr>
            <a:r>
              <a:rPr lang="en-US" sz="600" b="0" i="0" u="none" strike="noStrike" cap="non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Indoor navigation</a:t>
            </a:r>
            <a:endParaRPr sz="600" b="0" i="0" u="none" strike="noStrike" cap="none"/>
          </a:p>
        </p:txBody>
      </p:sp>
      <p:sp>
        <p:nvSpPr>
          <p:cNvPr id="134" name="Google Shape;134;p10"/>
          <p:cNvSpPr/>
          <p:nvPr/>
        </p:nvSpPr>
        <p:spPr>
          <a:xfrm>
            <a:off x="3225850" y="3512716"/>
            <a:ext cx="2624510" cy="101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600"/>
              <a:buFont typeface="Nobile"/>
              <a:buNone/>
            </a:pPr>
            <a:r>
              <a:rPr lang="en-US" sz="600" b="0" i="0" u="none" strike="noStrike" cap="non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Limited or GPS-dependent</a:t>
            </a:r>
            <a:endParaRPr sz="600" b="0" i="0" u="none" strike="noStrike" cap="none"/>
          </a:p>
        </p:txBody>
      </p:sp>
      <p:sp>
        <p:nvSpPr>
          <p:cNvPr id="135" name="Google Shape;135;p10"/>
          <p:cNvSpPr/>
          <p:nvPr/>
        </p:nvSpPr>
        <p:spPr>
          <a:xfrm>
            <a:off x="5588422" y="3512716"/>
            <a:ext cx="2626891" cy="101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1B54DA"/>
              </a:buClr>
              <a:buSzPts val="600"/>
              <a:buFont typeface="Nobile"/>
              <a:buNone/>
            </a:pPr>
            <a:r>
              <a:rPr lang="en-US" sz="600" b="0" i="0" u="none" strike="noStrike" cap="none">
                <a:solidFill>
                  <a:srgbClr val="1B54DA"/>
                </a:solidFill>
                <a:latin typeface="Nobile"/>
                <a:ea typeface="Nobile"/>
                <a:cs typeface="Nobile"/>
                <a:sym typeface="Nobile"/>
              </a:rPr>
              <a:t>QR-based indoor positioning</a:t>
            </a:r>
            <a:endParaRPr sz="600" b="0" i="0" u="none" strike="noStrike" cap="none"/>
          </a:p>
        </p:txBody>
      </p:sp>
      <p:sp>
        <p:nvSpPr>
          <p:cNvPr id="136" name="Google Shape;136;p10"/>
          <p:cNvSpPr/>
          <p:nvPr/>
        </p:nvSpPr>
        <p:spPr>
          <a:xfrm>
            <a:off x="1385962" y="3705671"/>
            <a:ext cx="2101825" cy="101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600"/>
              <a:buFont typeface="Nobile"/>
              <a:buNone/>
            </a:pPr>
            <a:r>
              <a:rPr lang="en-US" sz="600" b="0" i="0" u="none" strike="noStrike" cap="non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Disability coverage</a:t>
            </a:r>
            <a:endParaRPr sz="600" b="0" i="0" u="none" strike="noStrike" cap="none"/>
          </a:p>
        </p:txBody>
      </p:sp>
      <p:sp>
        <p:nvSpPr>
          <p:cNvPr id="137" name="Google Shape;137;p10"/>
          <p:cNvSpPr/>
          <p:nvPr/>
        </p:nvSpPr>
        <p:spPr>
          <a:xfrm>
            <a:off x="3225850" y="3705671"/>
            <a:ext cx="2624510" cy="101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600"/>
              <a:buFont typeface="Nobile"/>
              <a:buNone/>
            </a:pPr>
            <a:r>
              <a:rPr lang="en-US" sz="600" b="0" i="0" u="none" strike="noStrike" cap="non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Usually 1–2 profiles</a:t>
            </a:r>
            <a:endParaRPr sz="600" b="0" i="0" u="none" strike="noStrike" cap="none"/>
          </a:p>
        </p:txBody>
      </p:sp>
      <p:sp>
        <p:nvSpPr>
          <p:cNvPr id="138" name="Google Shape;138;p10"/>
          <p:cNvSpPr/>
          <p:nvPr/>
        </p:nvSpPr>
        <p:spPr>
          <a:xfrm>
            <a:off x="5588422" y="3705671"/>
            <a:ext cx="2626891" cy="101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1B54DA"/>
              </a:buClr>
              <a:buSzPts val="600"/>
              <a:buFont typeface="Nobile"/>
              <a:buNone/>
            </a:pPr>
            <a:r>
              <a:rPr lang="en-US" sz="600" b="0" i="0" u="none" strike="noStrike" cap="none">
                <a:solidFill>
                  <a:srgbClr val="1B54DA"/>
                </a:solidFill>
                <a:latin typeface="Nobile"/>
                <a:ea typeface="Nobile"/>
                <a:cs typeface="Nobile"/>
                <a:sym typeface="Nobile"/>
              </a:rPr>
              <a:t>5 disability profiles</a:t>
            </a:r>
            <a:endParaRPr sz="600" b="0" i="0" u="none" strike="noStrike" cap="none"/>
          </a:p>
        </p:txBody>
      </p:sp>
      <p:sp>
        <p:nvSpPr>
          <p:cNvPr id="139" name="Google Shape;139;p10"/>
          <p:cNvSpPr/>
          <p:nvPr/>
        </p:nvSpPr>
        <p:spPr>
          <a:xfrm>
            <a:off x="1385962" y="3898627"/>
            <a:ext cx="2101825" cy="101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600"/>
              <a:buFont typeface="Nobile"/>
              <a:buNone/>
            </a:pPr>
            <a:r>
              <a:rPr lang="en-US" sz="600" b="0" i="0" u="none" strike="noStrike" cap="non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Real-time updates</a:t>
            </a:r>
            <a:endParaRPr sz="600" b="0" i="0" u="none" strike="noStrike" cap="none"/>
          </a:p>
        </p:txBody>
      </p:sp>
      <p:sp>
        <p:nvSpPr>
          <p:cNvPr id="140" name="Google Shape;140;p10"/>
          <p:cNvSpPr/>
          <p:nvPr/>
        </p:nvSpPr>
        <p:spPr>
          <a:xfrm>
            <a:off x="3225850" y="3898627"/>
            <a:ext cx="2624510" cy="101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600"/>
              <a:buFont typeface="Nobile"/>
              <a:buNone/>
            </a:pPr>
            <a:r>
              <a:rPr lang="en-US" sz="600" b="0" i="0" u="none" strike="noStrike" cap="non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Limited or community-based</a:t>
            </a:r>
            <a:endParaRPr sz="600" b="0" i="0" u="none" strike="noStrike" cap="none"/>
          </a:p>
        </p:txBody>
      </p:sp>
      <p:sp>
        <p:nvSpPr>
          <p:cNvPr id="141" name="Google Shape;141;p10"/>
          <p:cNvSpPr/>
          <p:nvPr/>
        </p:nvSpPr>
        <p:spPr>
          <a:xfrm>
            <a:off x="5588422" y="3898627"/>
            <a:ext cx="2626891" cy="101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1B54DA"/>
              </a:buClr>
              <a:buSzPts val="600"/>
              <a:buFont typeface="Nobile"/>
              <a:buNone/>
            </a:pPr>
            <a:r>
              <a:rPr lang="en-US" sz="600" b="0" i="0" u="none" strike="noStrike" cap="none">
                <a:solidFill>
                  <a:srgbClr val="1B54DA"/>
                </a:solidFill>
                <a:latin typeface="Nobile"/>
                <a:ea typeface="Nobile"/>
                <a:cs typeface="Nobile"/>
                <a:sym typeface="Nobile"/>
              </a:rPr>
              <a:t>Shadow map + live feedback</a:t>
            </a:r>
            <a:endParaRPr sz="600" b="0" i="0" u="none" strike="noStrike" cap="none"/>
          </a:p>
        </p:txBody>
      </p:sp>
      <p:sp>
        <p:nvSpPr>
          <p:cNvPr id="142" name="Google Shape;142;p10"/>
          <p:cNvSpPr/>
          <p:nvPr/>
        </p:nvSpPr>
        <p:spPr>
          <a:xfrm>
            <a:off x="1385962" y="4091583"/>
            <a:ext cx="2101825" cy="101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600"/>
              <a:buFont typeface="Nobile"/>
              <a:buNone/>
            </a:pPr>
            <a:r>
              <a:rPr lang="en-US" sz="600" b="0" i="0" u="none" strike="noStrike" cap="non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Offline support</a:t>
            </a:r>
            <a:endParaRPr sz="600" b="0" i="0" u="none" strike="noStrike" cap="none"/>
          </a:p>
        </p:txBody>
      </p:sp>
      <p:sp>
        <p:nvSpPr>
          <p:cNvPr id="143" name="Google Shape;143;p10"/>
          <p:cNvSpPr/>
          <p:nvPr/>
        </p:nvSpPr>
        <p:spPr>
          <a:xfrm>
            <a:off x="3225850" y="4091583"/>
            <a:ext cx="2624510" cy="101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600"/>
              <a:buFont typeface="Nobile"/>
              <a:buNone/>
            </a:pPr>
            <a:r>
              <a:rPr lang="en-US" sz="600" b="0" i="0" u="none" strike="noStrike" cap="non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Weak or unavailable</a:t>
            </a:r>
            <a:endParaRPr sz="600" b="0" i="0" u="none" strike="noStrike" cap="none"/>
          </a:p>
        </p:txBody>
      </p:sp>
      <p:sp>
        <p:nvSpPr>
          <p:cNvPr id="144" name="Google Shape;144;p10"/>
          <p:cNvSpPr/>
          <p:nvPr/>
        </p:nvSpPr>
        <p:spPr>
          <a:xfrm>
            <a:off x="5588422" y="4091583"/>
            <a:ext cx="2626891" cy="101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1B54DA"/>
              </a:buClr>
              <a:buSzPts val="600"/>
              <a:buFont typeface="Nobile"/>
              <a:buNone/>
            </a:pPr>
            <a:r>
              <a:rPr lang="en-US" sz="600" b="0" i="0" u="none" strike="noStrike" cap="none">
                <a:solidFill>
                  <a:srgbClr val="1B54DA"/>
                </a:solidFill>
                <a:latin typeface="Nobile"/>
                <a:ea typeface="Nobile"/>
                <a:cs typeface="Nobile"/>
                <a:sym typeface="Nobile"/>
              </a:rPr>
              <a:t>QR + caching + Bluetooth mesh</a:t>
            </a:r>
            <a:endParaRPr sz="600" b="0" i="0" u="none" strike="noStrike" cap="none"/>
          </a:p>
        </p:txBody>
      </p:sp>
      <p:sp>
        <p:nvSpPr>
          <p:cNvPr id="145" name="Google Shape;145;p10"/>
          <p:cNvSpPr/>
          <p:nvPr/>
        </p:nvSpPr>
        <p:spPr>
          <a:xfrm>
            <a:off x="1385962" y="4284538"/>
            <a:ext cx="2101825" cy="101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600"/>
              <a:buFont typeface="Nobile"/>
              <a:buNone/>
            </a:pPr>
            <a:r>
              <a:rPr lang="en-US" sz="600" b="0" i="0" u="none" strike="noStrike" cap="non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Conversational AI</a:t>
            </a:r>
            <a:endParaRPr sz="600" b="0" i="0" u="none" strike="noStrike" cap="none"/>
          </a:p>
        </p:txBody>
      </p:sp>
      <p:sp>
        <p:nvSpPr>
          <p:cNvPr id="146" name="Google Shape;146;p10"/>
          <p:cNvSpPr/>
          <p:nvPr/>
        </p:nvSpPr>
        <p:spPr>
          <a:xfrm>
            <a:off x="3225850" y="4284538"/>
            <a:ext cx="2624510" cy="101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600"/>
              <a:buFont typeface="Nobile"/>
              <a:buNone/>
            </a:pPr>
            <a:r>
              <a:rPr lang="en-US" sz="600" b="0" i="0" u="none" strike="noStrike" cap="non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Mostly absent</a:t>
            </a:r>
            <a:endParaRPr sz="600" b="0" i="0" u="none" strike="noStrike" cap="none"/>
          </a:p>
        </p:txBody>
      </p:sp>
      <p:sp>
        <p:nvSpPr>
          <p:cNvPr id="147" name="Google Shape;147;p10"/>
          <p:cNvSpPr/>
          <p:nvPr/>
        </p:nvSpPr>
        <p:spPr>
          <a:xfrm>
            <a:off x="5588422" y="4284538"/>
            <a:ext cx="2626891" cy="101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1B54DA"/>
              </a:buClr>
              <a:buSzPts val="600"/>
              <a:buFont typeface="Nobile"/>
              <a:buNone/>
            </a:pPr>
            <a:r>
              <a:rPr lang="en-US" sz="600" b="0" i="0" u="none" strike="noStrike" cap="none">
                <a:solidFill>
                  <a:srgbClr val="1B54DA"/>
                </a:solidFill>
                <a:latin typeface="Nobile"/>
                <a:ea typeface="Nobile"/>
                <a:cs typeface="Nobile"/>
                <a:sym typeface="Nobile"/>
              </a:rPr>
              <a:t>Natural language route assistant</a:t>
            </a:r>
            <a:endParaRPr sz="600" b="0" i="0" u="none" strike="noStrike" cap="none"/>
          </a:p>
        </p:txBody>
      </p:sp>
      <p:sp>
        <p:nvSpPr>
          <p:cNvPr id="148" name="Google Shape;148;p10"/>
          <p:cNvSpPr/>
          <p:nvPr/>
        </p:nvSpPr>
        <p:spPr>
          <a:xfrm>
            <a:off x="1385962" y="4477494"/>
            <a:ext cx="2101825" cy="101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600"/>
              <a:buFont typeface="Nobile"/>
              <a:buNone/>
            </a:pPr>
            <a:r>
              <a:rPr lang="en-US" sz="600" b="0" i="0" u="none" strike="noStrike" cap="non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Emergency support</a:t>
            </a:r>
            <a:endParaRPr sz="600" b="0" i="0" u="none" strike="noStrike" cap="none"/>
          </a:p>
        </p:txBody>
      </p:sp>
      <p:sp>
        <p:nvSpPr>
          <p:cNvPr id="149" name="Google Shape;149;p10"/>
          <p:cNvSpPr/>
          <p:nvPr/>
        </p:nvSpPr>
        <p:spPr>
          <a:xfrm>
            <a:off x="3225850" y="4477494"/>
            <a:ext cx="2624510" cy="101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600"/>
              <a:buFont typeface="Nobile"/>
              <a:buNone/>
            </a:pPr>
            <a:r>
              <a:rPr lang="en-US" sz="600" b="0" i="0" u="none" strike="noStrike" cap="non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Basic or missing</a:t>
            </a:r>
            <a:endParaRPr sz="600" b="0" i="0" u="none" strike="noStrike" cap="none"/>
          </a:p>
        </p:txBody>
      </p:sp>
      <p:sp>
        <p:nvSpPr>
          <p:cNvPr id="150" name="Google Shape;150;p10"/>
          <p:cNvSpPr/>
          <p:nvPr/>
        </p:nvSpPr>
        <p:spPr>
          <a:xfrm>
            <a:off x="5588422" y="4477494"/>
            <a:ext cx="2626891" cy="101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1B54DA"/>
              </a:buClr>
              <a:buSzPts val="600"/>
              <a:buFont typeface="Nobile"/>
              <a:buNone/>
            </a:pPr>
            <a:r>
              <a:rPr lang="en-US" sz="600" b="0" i="0" u="none" strike="noStrike" cap="none">
                <a:solidFill>
                  <a:srgbClr val="1B54DA"/>
                </a:solidFill>
                <a:latin typeface="Nobile"/>
                <a:ea typeface="Nobile"/>
                <a:cs typeface="Nobile"/>
                <a:sym typeface="Nobile"/>
              </a:rPr>
              <a:t>SOS via mesh + SMS + QR location</a:t>
            </a:r>
            <a:endParaRPr sz="600" b="0" i="0" u="none" strike="noStrike" cap="none"/>
          </a:p>
        </p:txBody>
      </p:sp>
      <p:sp>
        <p:nvSpPr>
          <p:cNvPr id="151" name="Google Shape;151;p10"/>
          <p:cNvSpPr/>
          <p:nvPr/>
        </p:nvSpPr>
        <p:spPr>
          <a:xfrm>
            <a:off x="1285875" y="4699248"/>
            <a:ext cx="7029450" cy="127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750"/>
              <a:buFont typeface="Nobile"/>
              <a:buNone/>
            </a:pPr>
            <a:r>
              <a:rPr lang="en-US" sz="750" b="0" i="1" u="none" strike="noStrike" cap="non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Benchmarked against GoodMaps, Wheelmap, BlindSquare, and AccessNow.</a:t>
            </a:r>
            <a:endParaRPr sz="750" b="0" i="0" u="none" strike="noStrike" cap="none"/>
          </a:p>
        </p:txBody>
      </p:sp>
      <p:sp>
        <p:nvSpPr>
          <p:cNvPr id="152" name="Google Shape;152;p10"/>
          <p:cNvSpPr/>
          <p:nvPr/>
        </p:nvSpPr>
        <p:spPr>
          <a:xfrm>
            <a:off x="8035600" y="4849850"/>
            <a:ext cx="1059000" cy="249300"/>
          </a:xfrm>
          <a:prstGeom prst="rect">
            <a:avLst/>
          </a:prstGeom>
          <a:solidFill>
            <a:srgbClr val="F9F9FF"/>
          </a:solidFill>
          <a:ln w="9525" cap="flat" cmpd="sng">
            <a:solidFill>
              <a:srgbClr val="F9F9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1"/>
          <p:cNvSpPr/>
          <p:nvPr/>
        </p:nvSpPr>
        <p:spPr>
          <a:xfrm>
            <a:off x="980182" y="336947"/>
            <a:ext cx="2539380" cy="2602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1600"/>
              <a:buFont typeface="Alexandria"/>
              <a:buNone/>
            </a:pPr>
            <a:r>
              <a:rPr lang="en-US" sz="1600" b="0" i="0" u="none" strike="noStrike" cap="none">
                <a:solidFill>
                  <a:srgbClr val="1B1B27"/>
                </a:solidFill>
                <a:latin typeface="Alexandria"/>
                <a:ea typeface="Alexandria"/>
                <a:cs typeface="Alexandria"/>
                <a:sym typeface="Alexandria"/>
              </a:rPr>
              <a:t>Innovation Story</a:t>
            </a:r>
            <a:endParaRPr sz="1600" b="0" i="0" u="none" strike="noStrike" cap="none"/>
          </a:p>
        </p:txBody>
      </p:sp>
      <p:sp>
        <p:nvSpPr>
          <p:cNvPr id="159" name="Google Shape;159;p11"/>
          <p:cNvSpPr/>
          <p:nvPr/>
        </p:nvSpPr>
        <p:spPr>
          <a:xfrm>
            <a:off x="980182" y="627683"/>
            <a:ext cx="4508078" cy="162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1000"/>
              <a:buFont typeface="Alexandria"/>
              <a:buNone/>
            </a:pPr>
            <a:r>
              <a:rPr lang="en-US" sz="1000" b="0" i="0" u="none" strike="noStrike" cap="none">
                <a:solidFill>
                  <a:srgbClr val="1B1B27"/>
                </a:solidFill>
                <a:latin typeface="Alexandria"/>
                <a:ea typeface="Alexandria"/>
                <a:cs typeface="Alexandria"/>
                <a:sym typeface="Alexandria"/>
              </a:rPr>
              <a:t>Three non-obvious decisions forced by real campus constraints</a:t>
            </a:r>
            <a:endParaRPr sz="1000" b="0" i="0" u="none" strike="noStrike" cap="none"/>
          </a:p>
        </p:txBody>
      </p:sp>
      <p:pic>
        <p:nvPicPr>
          <p:cNvPr id="160" name="Google Shape;160;p1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0182" y="905024"/>
            <a:ext cx="2394496" cy="416421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1"/>
          <p:cNvSpPr/>
          <p:nvPr/>
        </p:nvSpPr>
        <p:spPr>
          <a:xfrm>
            <a:off x="1084287" y="1397868"/>
            <a:ext cx="2603227" cy="162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000"/>
              <a:buFont typeface="Alexandria"/>
              <a:buNone/>
            </a:pPr>
            <a:r>
              <a:rPr lang="en-US" sz="1000" b="0" i="0" u="none" strike="noStrike" cap="non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We Rejected the Obvious Answer</a:t>
            </a:r>
            <a:endParaRPr sz="1000" b="0" i="0" u="none" strike="noStrike" cap="none"/>
          </a:p>
        </p:txBody>
      </p:sp>
      <p:sp>
        <p:nvSpPr>
          <p:cNvPr id="162" name="Google Shape;162;p11"/>
          <p:cNvSpPr/>
          <p:nvPr/>
        </p:nvSpPr>
        <p:spPr>
          <a:xfrm>
            <a:off x="1084287" y="1606376"/>
            <a:ext cx="2186285" cy="288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800"/>
              <a:buFont typeface="Nobile"/>
              <a:buNone/>
            </a:pPr>
            <a:r>
              <a:rPr lang="en-US" sz="800" b="1" i="0" u="none" strike="noStrike" cap="non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Constraint:</a:t>
            </a:r>
            <a:r>
              <a:rPr lang="en-US" sz="800" b="0" i="0" u="none" strike="noStrike" cap="non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 GPS fails indoors. 46% of nav apps are uninstalled in 30 days.</a:t>
            </a:r>
            <a:endParaRPr sz="800" b="0" i="0" u="none" strike="noStrike" cap="none"/>
          </a:p>
        </p:txBody>
      </p:sp>
      <p:sp>
        <p:nvSpPr>
          <p:cNvPr id="163" name="Google Shape;163;p11"/>
          <p:cNvSpPr/>
          <p:nvPr/>
        </p:nvSpPr>
        <p:spPr>
          <a:xfrm>
            <a:off x="1084287" y="1941091"/>
            <a:ext cx="2186285" cy="433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800"/>
              <a:buFont typeface="Nobile"/>
              <a:buNone/>
            </a:pPr>
            <a:r>
              <a:rPr lang="en-US" sz="800" b="1" i="0" u="none" strike="noStrike" cap="non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Decision:</a:t>
            </a:r>
            <a:r>
              <a:rPr lang="en-US" sz="800" b="0" i="0" u="none" strike="noStrike" cap="non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 Build a conversational agent + QR positioning at ₹20/point — no hardware, no install barrier.</a:t>
            </a:r>
            <a:endParaRPr sz="800" b="0" i="0" u="none" strike="noStrike" cap="none"/>
          </a:p>
        </p:txBody>
      </p:sp>
      <p:sp>
        <p:nvSpPr>
          <p:cNvPr id="164" name="Google Shape;164;p11"/>
          <p:cNvSpPr/>
          <p:nvPr/>
        </p:nvSpPr>
        <p:spPr>
          <a:xfrm>
            <a:off x="1084287" y="2420243"/>
            <a:ext cx="2186285" cy="288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800"/>
              <a:buFont typeface="Nobile"/>
              <a:buNone/>
            </a:pPr>
            <a:r>
              <a:rPr lang="en-US" sz="800" b="1" i="0" u="none" strike="noStrike" cap="non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Outcome:</a:t>
            </a:r>
            <a:r>
              <a:rPr lang="en-US" sz="800" b="0" i="0" u="none" strike="noStrike" cap="non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 Indoor location becomes solvable at campus scale, cheaply.</a:t>
            </a:r>
            <a:endParaRPr sz="800" b="0" i="0" u="none" strike="noStrike" cap="none"/>
          </a:p>
        </p:txBody>
      </p:sp>
      <p:pic>
        <p:nvPicPr>
          <p:cNvPr id="165" name="Google Shape;165;p11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374678" y="905024"/>
            <a:ext cx="2394496" cy="416421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1"/>
          <p:cNvSpPr/>
          <p:nvPr/>
        </p:nvSpPr>
        <p:spPr>
          <a:xfrm>
            <a:off x="3478783" y="1397868"/>
            <a:ext cx="2186285" cy="325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000"/>
              <a:buFont typeface="Alexandria"/>
              <a:buNone/>
            </a:pPr>
            <a:r>
              <a:rPr lang="en-US" sz="1000" b="0" i="0" u="none" strike="noStrike" cap="non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We Solved for When Infrastructure Fails</a:t>
            </a:r>
            <a:endParaRPr sz="1000" b="0" i="0" u="none" strike="noStrike" cap="none"/>
          </a:p>
        </p:txBody>
      </p:sp>
      <p:sp>
        <p:nvSpPr>
          <p:cNvPr id="167" name="Google Shape;167;p11"/>
          <p:cNvSpPr/>
          <p:nvPr/>
        </p:nvSpPr>
        <p:spPr>
          <a:xfrm>
            <a:off x="3478783" y="1769046"/>
            <a:ext cx="2186285" cy="433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800"/>
              <a:buFont typeface="Nobile"/>
              <a:buNone/>
            </a:pPr>
            <a:r>
              <a:rPr lang="en-US" sz="800" b="1" i="0" u="none" strike="noStrike" cap="non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Constraint:</a:t>
            </a:r>
            <a:r>
              <a:rPr lang="en-US" sz="800" b="0" i="0" u="none" strike="noStrike" cap="non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 Campus WiFi saturates during events — exactly when navigation matters most.</a:t>
            </a:r>
            <a:endParaRPr sz="800" b="0" i="0" u="none" strike="noStrike" cap="none"/>
          </a:p>
        </p:txBody>
      </p:sp>
      <p:sp>
        <p:nvSpPr>
          <p:cNvPr id="168" name="Google Shape;168;p11"/>
          <p:cNvSpPr/>
          <p:nvPr/>
        </p:nvSpPr>
        <p:spPr>
          <a:xfrm>
            <a:off x="3478783" y="2248198"/>
            <a:ext cx="2186285" cy="433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800"/>
              <a:buFont typeface="Nobile"/>
              <a:buNone/>
            </a:pPr>
            <a:r>
              <a:rPr lang="en-US" sz="800" b="1" i="0" u="none" strike="noStrike" cap="non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Decision:</a:t>
            </a:r>
            <a:r>
              <a:rPr lang="en-US" sz="800" b="0" i="0" u="none" strike="noStrike" cap="non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 Bluetooth mesh + shadow mapping. The system improves as usage grows.</a:t>
            </a:r>
            <a:endParaRPr sz="800" b="0" i="0" u="none" strike="noStrike" cap="none"/>
          </a:p>
        </p:txBody>
      </p:sp>
      <p:sp>
        <p:nvSpPr>
          <p:cNvPr id="169" name="Google Shape;169;p11"/>
          <p:cNvSpPr/>
          <p:nvPr/>
        </p:nvSpPr>
        <p:spPr>
          <a:xfrm>
            <a:off x="3478783" y="2727350"/>
            <a:ext cx="2186285" cy="288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800"/>
              <a:buFont typeface="Nobile"/>
              <a:buNone/>
            </a:pPr>
            <a:r>
              <a:rPr lang="en-US" sz="800" b="1" i="0" u="none" strike="noStrike" cap="non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Outcome:</a:t>
            </a:r>
            <a:r>
              <a:rPr lang="en-US" sz="800" b="0" i="0" u="none" strike="noStrike" cap="non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 Performs best when WiFi performs worst.</a:t>
            </a:r>
            <a:endParaRPr sz="800" b="0" i="0" u="none" strike="noStrike" cap="none"/>
          </a:p>
        </p:txBody>
      </p:sp>
      <p:pic>
        <p:nvPicPr>
          <p:cNvPr id="170" name="Google Shape;170;p11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69173" y="905024"/>
            <a:ext cx="2394570" cy="416421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1"/>
          <p:cNvSpPr/>
          <p:nvPr/>
        </p:nvSpPr>
        <p:spPr>
          <a:xfrm>
            <a:off x="5873279" y="1397868"/>
            <a:ext cx="2186360" cy="325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000"/>
              <a:buFont typeface="Alexandria"/>
              <a:buNone/>
            </a:pPr>
            <a:r>
              <a:rPr lang="en-US" sz="1000" b="0" i="0" u="none" strike="noStrike" cap="non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We Designed for Who Actually Needs This</a:t>
            </a:r>
            <a:endParaRPr sz="1000" b="0" i="0" u="none" strike="noStrike" cap="none"/>
          </a:p>
        </p:txBody>
      </p:sp>
      <p:sp>
        <p:nvSpPr>
          <p:cNvPr id="172" name="Google Shape;172;p11"/>
          <p:cNvSpPr/>
          <p:nvPr/>
        </p:nvSpPr>
        <p:spPr>
          <a:xfrm>
            <a:off x="5873279" y="1769046"/>
            <a:ext cx="2186360" cy="288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800"/>
              <a:buFont typeface="Nobile"/>
              <a:buNone/>
            </a:pPr>
            <a:r>
              <a:rPr lang="en-US" sz="800" b="1" i="0" u="none" strike="noStrike" cap="non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Constraint:</a:t>
            </a:r>
            <a:r>
              <a:rPr lang="en-US" sz="800" b="0" i="0" u="none" strike="noStrike" cap="non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 Existing tools treat disability as binary. Most cover only wheelchair users.</a:t>
            </a:r>
            <a:endParaRPr sz="800" b="0" i="0" u="none" strike="noStrike" cap="none"/>
          </a:p>
        </p:txBody>
      </p:sp>
      <p:sp>
        <p:nvSpPr>
          <p:cNvPr id="173" name="Google Shape;173;p11"/>
          <p:cNvSpPr/>
          <p:nvPr/>
        </p:nvSpPr>
        <p:spPr>
          <a:xfrm>
            <a:off x="5873279" y="2103760"/>
            <a:ext cx="2186360" cy="433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800"/>
              <a:buFont typeface="Nobile"/>
              <a:buNone/>
            </a:pPr>
            <a:r>
              <a:rPr lang="en-US" sz="800" b="1" i="0" u="none" strike="noStrike" cap="non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Decision:</a:t>
            </a:r>
            <a:r>
              <a:rPr lang="en-US" sz="800" b="0" i="0" u="none" strike="noStrike" cap="non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 Five profiles built into the architecture — each with unique routing logic and interaction mode.</a:t>
            </a:r>
            <a:endParaRPr sz="800" b="0" i="0" u="none" strike="noStrike" cap="none"/>
          </a:p>
        </p:txBody>
      </p:sp>
      <p:sp>
        <p:nvSpPr>
          <p:cNvPr id="174" name="Google Shape;174;p11"/>
          <p:cNvSpPr/>
          <p:nvPr/>
        </p:nvSpPr>
        <p:spPr>
          <a:xfrm>
            <a:off x="5873279" y="2582912"/>
            <a:ext cx="2186360" cy="288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800"/>
              <a:buFont typeface="Nobile"/>
              <a:buNone/>
            </a:pPr>
            <a:r>
              <a:rPr lang="en-US" sz="800" b="1" i="0" u="none" strike="noStrike" cap="non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Outcome:</a:t>
            </a:r>
            <a:r>
              <a:rPr lang="en-US" sz="800" b="0" i="0" u="none" strike="noStrike" cap="non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 No competitor covers more than two disability categories.</a:t>
            </a:r>
            <a:endParaRPr sz="800" b="0" i="0" u="none" strike="noStrike" cap="none"/>
          </a:p>
        </p:txBody>
      </p:sp>
      <p:sp>
        <p:nvSpPr>
          <p:cNvPr id="175" name="Google Shape;175;p11"/>
          <p:cNvSpPr/>
          <p:nvPr/>
        </p:nvSpPr>
        <p:spPr>
          <a:xfrm>
            <a:off x="751582" y="3258294"/>
            <a:ext cx="2559397" cy="343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700"/>
              <a:buFont typeface="Alexandria"/>
              <a:buNone/>
            </a:pPr>
            <a:r>
              <a:rPr lang="en-US" sz="2700" b="0" i="0" u="none" strike="noStrike" cap="non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50%</a:t>
            </a:r>
            <a:endParaRPr sz="2700" b="0" i="0" u="none" strike="noStrike" cap="none"/>
          </a:p>
        </p:txBody>
      </p:sp>
      <p:sp>
        <p:nvSpPr>
          <p:cNvPr id="176" name="Google Shape;176;p11"/>
          <p:cNvSpPr/>
          <p:nvPr/>
        </p:nvSpPr>
        <p:spPr>
          <a:xfrm>
            <a:off x="1266304" y="3711178"/>
            <a:ext cx="1529953" cy="162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000"/>
              <a:buFont typeface="Alexandria"/>
              <a:buNone/>
            </a:pPr>
            <a:r>
              <a:rPr lang="en-US" sz="1000" b="0" i="0" u="none" strike="noStrike" cap="non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Faster Navigation</a:t>
            </a:r>
            <a:endParaRPr sz="1000" b="0" i="0" u="none" strike="noStrike" cap="none"/>
          </a:p>
        </p:txBody>
      </p:sp>
      <p:sp>
        <p:nvSpPr>
          <p:cNvPr id="177" name="Google Shape;177;p11"/>
          <p:cNvSpPr/>
          <p:nvPr/>
        </p:nvSpPr>
        <p:spPr>
          <a:xfrm>
            <a:off x="980182" y="3919686"/>
            <a:ext cx="2330797" cy="288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800"/>
              <a:buFont typeface="Nobile"/>
              <a:buNone/>
            </a:pPr>
            <a:r>
              <a:rPr lang="en-US" sz="800" b="0" i="0" u="none" strike="noStrike" cap="non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10–15 min per destination → under 2 min with the conversational agent</a:t>
            </a:r>
            <a:endParaRPr sz="800" b="0" i="0" u="none" strike="noStrike" cap="none"/>
          </a:p>
        </p:txBody>
      </p:sp>
      <p:sp>
        <p:nvSpPr>
          <p:cNvPr id="178" name="Google Shape;178;p11"/>
          <p:cNvSpPr/>
          <p:nvPr/>
        </p:nvSpPr>
        <p:spPr>
          <a:xfrm>
            <a:off x="3177927" y="3258294"/>
            <a:ext cx="2559397" cy="343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700"/>
              <a:buFont typeface="Alexandria"/>
              <a:buNone/>
            </a:pPr>
            <a:r>
              <a:rPr lang="en-US" sz="2700" b="0" i="0" u="none" strike="noStrike" cap="non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100%</a:t>
            </a:r>
            <a:endParaRPr sz="2700" b="0" i="0" u="none" strike="noStrike" cap="none"/>
          </a:p>
        </p:txBody>
      </p:sp>
      <p:sp>
        <p:nvSpPr>
          <p:cNvPr id="179" name="Google Shape;179;p11"/>
          <p:cNvSpPr/>
          <p:nvPr/>
        </p:nvSpPr>
        <p:spPr>
          <a:xfrm>
            <a:off x="3692649" y="3711178"/>
            <a:ext cx="1529953" cy="162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000"/>
              <a:buFont typeface="Alexandria"/>
              <a:buNone/>
            </a:pPr>
            <a:r>
              <a:rPr lang="en-US" sz="1000" b="0" i="0" u="none" strike="noStrike" cap="non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Disability Coverage</a:t>
            </a:r>
            <a:endParaRPr sz="1000" b="0" i="0" u="none" strike="noStrike" cap="none"/>
          </a:p>
        </p:txBody>
      </p:sp>
      <p:sp>
        <p:nvSpPr>
          <p:cNvPr id="180" name="Google Shape;180;p11"/>
          <p:cNvSpPr/>
          <p:nvPr/>
        </p:nvSpPr>
        <p:spPr>
          <a:xfrm>
            <a:off x="3406527" y="3919686"/>
            <a:ext cx="2330797" cy="288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800"/>
              <a:buFont typeface="Nobile"/>
              <a:buNone/>
            </a:pPr>
            <a:r>
              <a:rPr lang="en-US" sz="800" b="0" i="0" u="none" strike="noStrike" cap="non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All five categories with distinct interaction modes — no competitor matches this</a:t>
            </a:r>
            <a:endParaRPr sz="800" b="0" i="0" u="none" strike="noStrike" cap="none"/>
          </a:p>
        </p:txBody>
      </p:sp>
      <p:sp>
        <p:nvSpPr>
          <p:cNvPr id="181" name="Google Shape;181;p11"/>
          <p:cNvSpPr/>
          <p:nvPr/>
        </p:nvSpPr>
        <p:spPr>
          <a:xfrm>
            <a:off x="5604272" y="3258294"/>
            <a:ext cx="2559397" cy="343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700"/>
              <a:buFont typeface="Alexandria"/>
              <a:buNone/>
            </a:pPr>
            <a:r>
              <a:rPr lang="en-US" sz="2700" b="0" i="0" u="none" strike="noStrike" cap="non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80%+</a:t>
            </a:r>
            <a:endParaRPr sz="2700" b="0" i="0" u="none" strike="noStrike" cap="none"/>
          </a:p>
        </p:txBody>
      </p:sp>
      <p:sp>
        <p:nvSpPr>
          <p:cNvPr id="182" name="Google Shape;182;p11"/>
          <p:cNvSpPr/>
          <p:nvPr/>
        </p:nvSpPr>
        <p:spPr>
          <a:xfrm>
            <a:off x="6118994" y="3711178"/>
            <a:ext cx="1529953" cy="162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000"/>
              <a:buFont typeface="Alexandria"/>
              <a:buNone/>
            </a:pPr>
            <a:r>
              <a:rPr lang="en-US" sz="1000" b="0" i="0" u="none" strike="noStrike" cap="non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Adoption Potential</a:t>
            </a:r>
            <a:endParaRPr sz="1000" b="0" i="0" u="none" strike="noStrike" cap="none"/>
          </a:p>
        </p:txBody>
      </p:sp>
      <p:sp>
        <p:nvSpPr>
          <p:cNvPr id="183" name="Google Shape;183;p11"/>
          <p:cNvSpPr/>
          <p:nvPr/>
        </p:nvSpPr>
        <p:spPr>
          <a:xfrm>
            <a:off x="5832872" y="3919686"/>
            <a:ext cx="2330797" cy="288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800"/>
              <a:buFont typeface="Nobile"/>
              <a:buNone/>
            </a:pPr>
            <a:r>
              <a:rPr lang="en-US" sz="800" b="0" i="0" u="none" strike="noStrike" cap="non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88% of students want a wayfinding app; zero-install PWA eliminates the 46% uninstall risk</a:t>
            </a:r>
            <a:endParaRPr sz="800" b="0" i="0" u="none" strike="noStrike" cap="none"/>
          </a:p>
        </p:txBody>
      </p:sp>
      <p:sp>
        <p:nvSpPr>
          <p:cNvPr id="184" name="Google Shape;184;p11"/>
          <p:cNvSpPr/>
          <p:nvPr/>
        </p:nvSpPr>
        <p:spPr>
          <a:xfrm>
            <a:off x="980220" y="4339035"/>
            <a:ext cx="7183500" cy="512100"/>
          </a:xfrm>
          <a:prstGeom prst="roundRect">
            <a:avLst>
              <a:gd name="adj" fmla="val 8540"/>
            </a:avLst>
          </a:prstGeom>
          <a:solidFill>
            <a:srgbClr val="B6D6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85" name="Google Shape;185;p11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84287" y="4526341"/>
            <a:ext cx="130076" cy="104105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1"/>
          <p:cNvSpPr/>
          <p:nvPr/>
        </p:nvSpPr>
        <p:spPr>
          <a:xfrm>
            <a:off x="1318468" y="4485779"/>
            <a:ext cx="6741300" cy="28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Nobile"/>
              <a:buNone/>
            </a:pPr>
            <a:r>
              <a:rPr lang="en-US" sz="800" b="0" i="0" u="none" strike="noStrike" cap="none">
                <a:solidFill>
                  <a:srgbClr val="000000"/>
                </a:solidFill>
                <a:latin typeface="Nobile"/>
                <a:ea typeface="Nobile"/>
                <a:cs typeface="Nobile"/>
                <a:sym typeface="Nobile"/>
              </a:rPr>
              <a:t>"We didn't build a better map. We made three non-obvious decisions forced by real constraints — and they compounded into a campus navigation intelligence layer no existing product has reached."</a:t>
            </a:r>
            <a:endParaRPr sz="800" b="0" i="0" u="none" strike="noStrike" cap="none"/>
          </a:p>
        </p:txBody>
      </p:sp>
      <p:sp>
        <p:nvSpPr>
          <p:cNvPr id="187" name="Google Shape;187;p11"/>
          <p:cNvSpPr/>
          <p:nvPr/>
        </p:nvSpPr>
        <p:spPr>
          <a:xfrm>
            <a:off x="8059775" y="4851125"/>
            <a:ext cx="1034700" cy="248100"/>
          </a:xfrm>
          <a:prstGeom prst="rect">
            <a:avLst/>
          </a:prstGeom>
          <a:solidFill>
            <a:srgbClr val="F9F9FF"/>
          </a:solidFill>
          <a:ln w="9525" cap="flat" cmpd="sng">
            <a:solidFill>
              <a:srgbClr val="F9F9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2"/>
          <p:cNvSpPr/>
          <p:nvPr/>
        </p:nvSpPr>
        <p:spPr>
          <a:xfrm>
            <a:off x="1285875" y="261938"/>
            <a:ext cx="2395538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1500"/>
              <a:buFont typeface="Alexandria"/>
              <a:buNone/>
            </a:pPr>
            <a:r>
              <a:rPr lang="en-US" sz="1500" b="0" i="0" u="none" strike="noStrike" cap="none">
                <a:solidFill>
                  <a:srgbClr val="1B1B27"/>
                </a:solidFill>
                <a:latin typeface="Alexandria"/>
                <a:ea typeface="Alexandria"/>
                <a:cs typeface="Alexandria"/>
                <a:sym typeface="Alexandria"/>
              </a:rPr>
              <a:t>Execution Approach</a:t>
            </a:r>
            <a:endParaRPr sz="1500" b="0" i="0" u="none" strike="noStrike" cap="none"/>
          </a:p>
        </p:txBody>
      </p:sp>
      <p:sp>
        <p:nvSpPr>
          <p:cNvPr id="194" name="Google Shape;194;p12"/>
          <p:cNvSpPr/>
          <p:nvPr/>
        </p:nvSpPr>
        <p:spPr>
          <a:xfrm>
            <a:off x="1285875" y="628055"/>
            <a:ext cx="7029450" cy="127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750"/>
              <a:buFont typeface="Nobile"/>
              <a:buNone/>
            </a:pPr>
            <a:r>
              <a:rPr lang="en-US" sz="750" b="0" i="0" u="none" strike="noStrike" cap="non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A disciplined four-phase build — from raw campus data to a fully tested, accessibility-compliant navigation intelligence layer.</a:t>
            </a:r>
            <a:endParaRPr sz="750" b="0" i="0" u="none" strike="noStrike" cap="none"/>
          </a:p>
        </p:txBody>
      </p:sp>
      <p:pic>
        <p:nvPicPr>
          <p:cNvPr id="195" name="Google Shape;195;p1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5875" y="827410"/>
            <a:ext cx="6572250" cy="1801862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2"/>
          <p:cNvSpPr/>
          <p:nvPr/>
        </p:nvSpPr>
        <p:spPr>
          <a:xfrm>
            <a:off x="2078111" y="1478516"/>
            <a:ext cx="993174" cy="355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00"/>
              <a:buFont typeface="Alexandria"/>
              <a:buNone/>
            </a:pPr>
            <a:r>
              <a:rPr lang="en-US" sz="1100" b="0" i="0" u="none" strike="noStrike" cap="non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Data &amp; Mapping</a:t>
            </a:r>
            <a:endParaRPr sz="1100" b="0" i="0" u="none" strike="noStrike" cap="none"/>
          </a:p>
        </p:txBody>
      </p:sp>
      <p:sp>
        <p:nvSpPr>
          <p:cNvPr id="197" name="Google Shape;197;p12"/>
          <p:cNvSpPr/>
          <p:nvPr/>
        </p:nvSpPr>
        <p:spPr>
          <a:xfrm>
            <a:off x="2078111" y="1884756"/>
            <a:ext cx="993174" cy="237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850"/>
              <a:buFont typeface="Nobile"/>
              <a:buNone/>
            </a:pPr>
            <a:r>
              <a:rPr lang="en-US" sz="850" b="0" i="0" u="none" strike="noStrike" cap="non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Floor plans, Neo4j graph, QR rollout</a:t>
            </a:r>
            <a:endParaRPr sz="850" b="0" i="0" u="none" strike="noStrike" cap="none"/>
          </a:p>
        </p:txBody>
      </p:sp>
      <p:sp>
        <p:nvSpPr>
          <p:cNvPr id="198" name="Google Shape;198;p12"/>
          <p:cNvSpPr/>
          <p:nvPr/>
        </p:nvSpPr>
        <p:spPr>
          <a:xfrm>
            <a:off x="3418546" y="1278459"/>
            <a:ext cx="993174" cy="355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1100"/>
              <a:buFont typeface="Alexandria"/>
              <a:buNone/>
            </a:pPr>
            <a:r>
              <a:rPr lang="en-US" sz="1100" b="0" i="0" u="none" strike="noStrike" cap="none">
                <a:solidFill>
                  <a:srgbClr val="1B1B27"/>
                </a:solidFill>
                <a:latin typeface="Alexandria"/>
                <a:ea typeface="Alexandria"/>
                <a:cs typeface="Alexandria"/>
                <a:sym typeface="Alexandria"/>
              </a:rPr>
              <a:t>Agent Development</a:t>
            </a:r>
            <a:endParaRPr sz="1100" b="0" i="0" u="none" strike="noStrike" cap="none"/>
          </a:p>
        </p:txBody>
      </p:sp>
      <p:sp>
        <p:nvSpPr>
          <p:cNvPr id="199" name="Google Shape;199;p12"/>
          <p:cNvSpPr/>
          <p:nvPr/>
        </p:nvSpPr>
        <p:spPr>
          <a:xfrm>
            <a:off x="3418546" y="1684699"/>
            <a:ext cx="993174" cy="3565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850"/>
              <a:buFont typeface="Nobile"/>
              <a:buNone/>
            </a:pPr>
            <a:r>
              <a:rPr lang="en-US" sz="850" b="0" i="0" u="none" strike="noStrike" cap="non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LLM agent, FastAPI backend, routing</a:t>
            </a:r>
            <a:endParaRPr sz="850" b="0" i="0" u="none" strike="noStrike" cap="none"/>
          </a:p>
        </p:txBody>
      </p:sp>
      <p:sp>
        <p:nvSpPr>
          <p:cNvPr id="200" name="Google Shape;200;p12"/>
          <p:cNvSpPr/>
          <p:nvPr/>
        </p:nvSpPr>
        <p:spPr>
          <a:xfrm>
            <a:off x="4784271" y="1478516"/>
            <a:ext cx="993174" cy="355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1100"/>
              <a:buFont typeface="Alexandria"/>
              <a:buNone/>
            </a:pPr>
            <a:r>
              <a:rPr lang="en-US" sz="1100" b="0" i="0" u="none" strike="noStrike" cap="none">
                <a:solidFill>
                  <a:srgbClr val="1B1B27"/>
                </a:solidFill>
                <a:latin typeface="Alexandria"/>
                <a:ea typeface="Alexandria"/>
                <a:cs typeface="Alexandria"/>
                <a:sym typeface="Alexandria"/>
              </a:rPr>
              <a:t>Navigation Intelligence</a:t>
            </a:r>
            <a:endParaRPr sz="1100" b="0" i="0" u="none" strike="noStrike" cap="none"/>
          </a:p>
        </p:txBody>
      </p:sp>
      <p:sp>
        <p:nvSpPr>
          <p:cNvPr id="201" name="Google Shape;201;p12"/>
          <p:cNvSpPr/>
          <p:nvPr/>
        </p:nvSpPr>
        <p:spPr>
          <a:xfrm>
            <a:off x="4784271" y="1884756"/>
            <a:ext cx="993174" cy="3565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850"/>
              <a:buFont typeface="Nobile"/>
              <a:buNone/>
            </a:pPr>
            <a:r>
              <a:rPr lang="en-US" sz="850" b="0" i="0" u="none" strike="noStrike" cap="non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Shadow map, Bluetooth mesh, offline SOS</a:t>
            </a:r>
            <a:endParaRPr sz="850" b="0" i="0" u="none" strike="noStrike" cap="none"/>
          </a:p>
        </p:txBody>
      </p:sp>
      <p:sp>
        <p:nvSpPr>
          <p:cNvPr id="202" name="Google Shape;202;p12"/>
          <p:cNvSpPr/>
          <p:nvPr/>
        </p:nvSpPr>
        <p:spPr>
          <a:xfrm>
            <a:off x="6137352" y="1278459"/>
            <a:ext cx="993174" cy="355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1100"/>
              <a:buFont typeface="Alexandria"/>
              <a:buNone/>
            </a:pPr>
            <a:r>
              <a:rPr lang="en-US" sz="1100" b="0" i="0" u="none" strike="noStrike" cap="none">
                <a:solidFill>
                  <a:srgbClr val="1B1B27"/>
                </a:solidFill>
                <a:latin typeface="Alexandria"/>
                <a:ea typeface="Alexandria"/>
                <a:cs typeface="Alexandria"/>
                <a:sym typeface="Alexandria"/>
              </a:rPr>
              <a:t>Testing &amp; Evaluation</a:t>
            </a:r>
            <a:endParaRPr sz="1100" b="0" i="0" u="none" strike="noStrike" cap="none"/>
          </a:p>
        </p:txBody>
      </p:sp>
      <p:sp>
        <p:nvSpPr>
          <p:cNvPr id="203" name="Google Shape;203;p12"/>
          <p:cNvSpPr/>
          <p:nvPr/>
        </p:nvSpPr>
        <p:spPr>
          <a:xfrm>
            <a:off x="6137352" y="1684699"/>
            <a:ext cx="993174" cy="3565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850"/>
              <a:buFont typeface="Nobile"/>
              <a:buNone/>
            </a:pPr>
            <a:r>
              <a:rPr lang="en-US" sz="850" b="0" i="0" u="none" strike="noStrike" cap="non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Route accuracy, WCAG, offline reliability</a:t>
            </a:r>
            <a:endParaRPr sz="850" b="0" i="0" u="none" strike="noStrike" cap="none"/>
          </a:p>
        </p:txBody>
      </p:sp>
      <p:sp>
        <p:nvSpPr>
          <p:cNvPr id="204" name="Google Shape;204;p12"/>
          <p:cNvSpPr/>
          <p:nvPr/>
        </p:nvSpPr>
        <p:spPr>
          <a:xfrm>
            <a:off x="1285875" y="2765227"/>
            <a:ext cx="1647825" cy="1488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900"/>
              <a:buFont typeface="Alexandria"/>
              <a:buNone/>
            </a:pPr>
            <a:r>
              <a:rPr lang="en-US" sz="900" b="0" i="0" u="none" strike="noStrike" cap="none">
                <a:solidFill>
                  <a:srgbClr val="1B1B27"/>
                </a:solidFill>
                <a:latin typeface="Alexandria"/>
                <a:ea typeface="Alexandria"/>
                <a:cs typeface="Alexandria"/>
                <a:sym typeface="Alexandria"/>
              </a:rPr>
              <a:t>Demo Flow</a:t>
            </a:r>
            <a:endParaRPr sz="900" b="0" i="0" u="none" strike="noStrike" cap="none"/>
          </a:p>
        </p:txBody>
      </p:sp>
      <p:pic>
        <p:nvPicPr>
          <p:cNvPr id="205" name="Google Shape;205;p12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85875" y="2986013"/>
            <a:ext cx="3305994" cy="124055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12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109227" y="3302005"/>
            <a:ext cx="170767" cy="170767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12"/>
          <p:cNvSpPr/>
          <p:nvPr/>
        </p:nvSpPr>
        <p:spPr>
          <a:xfrm>
            <a:off x="3957083" y="3877385"/>
            <a:ext cx="498641" cy="1921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600"/>
              <a:buFont typeface="Alexandria"/>
              <a:buNone/>
            </a:pPr>
            <a:r>
              <a:rPr lang="en-US" sz="600" b="0" i="0" u="none" strike="noStrike" cap="non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Deliver Route</a:t>
            </a:r>
            <a:endParaRPr sz="600" b="0" i="0" u="none" strike="noStrike" cap="none"/>
          </a:p>
        </p:txBody>
      </p:sp>
      <p:pic>
        <p:nvPicPr>
          <p:cNvPr id="208" name="Google Shape;208;p12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484057" y="3302325"/>
            <a:ext cx="170767" cy="170767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12"/>
          <p:cNvSpPr/>
          <p:nvPr/>
        </p:nvSpPr>
        <p:spPr>
          <a:xfrm>
            <a:off x="3328659" y="3877385"/>
            <a:ext cx="498641" cy="1921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600"/>
              <a:buFont typeface="Alexandria"/>
              <a:buNone/>
            </a:pPr>
            <a:r>
              <a:rPr lang="en-US" sz="600" b="0" i="0" u="none" strike="noStrike" cap="non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Route Reasoning</a:t>
            </a:r>
            <a:endParaRPr sz="600" b="0" i="0" u="none" strike="noStrike" cap="none"/>
          </a:p>
        </p:txBody>
      </p:sp>
      <p:pic>
        <p:nvPicPr>
          <p:cNvPr id="210" name="Google Shape;210;p12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859048" y="3302325"/>
            <a:ext cx="170767" cy="170767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12"/>
          <p:cNvSpPr/>
          <p:nvPr/>
        </p:nvSpPr>
        <p:spPr>
          <a:xfrm>
            <a:off x="2475050" y="3925413"/>
            <a:ext cx="727241" cy="960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600"/>
              <a:buFont typeface="Alexandria"/>
              <a:buNone/>
            </a:pPr>
            <a:r>
              <a:rPr lang="en-US" sz="600" b="0" i="0" u="none" strike="noStrike" cap="non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Scan QR</a:t>
            </a:r>
            <a:endParaRPr sz="600" b="0" i="0" u="none" strike="noStrike" cap="none"/>
          </a:p>
        </p:txBody>
      </p:sp>
      <p:pic>
        <p:nvPicPr>
          <p:cNvPr id="212" name="Google Shape;212;p12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234039" y="3302325"/>
            <a:ext cx="170767" cy="170767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12"/>
          <p:cNvSpPr/>
          <p:nvPr/>
        </p:nvSpPr>
        <p:spPr>
          <a:xfrm>
            <a:off x="2078641" y="3877385"/>
            <a:ext cx="498641" cy="1921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600"/>
              <a:buFont typeface="Alexandria"/>
              <a:buNone/>
            </a:pPr>
            <a:r>
              <a:rPr lang="en-US" sz="600" b="0" i="0" u="none" strike="noStrike" cap="non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Profile Detect</a:t>
            </a:r>
            <a:endParaRPr sz="600" b="0" i="0" u="none" strike="noStrike" cap="none"/>
          </a:p>
        </p:txBody>
      </p:sp>
      <p:pic>
        <p:nvPicPr>
          <p:cNvPr id="214" name="Google Shape;214;p12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605615" y="3302325"/>
            <a:ext cx="170767" cy="170767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12"/>
          <p:cNvSpPr/>
          <p:nvPr/>
        </p:nvSpPr>
        <p:spPr>
          <a:xfrm>
            <a:off x="1211370" y="3925413"/>
            <a:ext cx="727241" cy="960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600"/>
              <a:buFont typeface="Alexandria"/>
              <a:buNone/>
            </a:pPr>
            <a:r>
              <a:rPr lang="en-US" sz="600" b="0" i="0" u="none" strike="noStrike" cap="non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User Query</a:t>
            </a:r>
            <a:endParaRPr sz="600" b="0" i="0" u="none" strike="noStrike" cap="none"/>
          </a:p>
        </p:txBody>
      </p:sp>
      <p:sp>
        <p:nvSpPr>
          <p:cNvPr id="216" name="Google Shape;216;p12"/>
          <p:cNvSpPr/>
          <p:nvPr/>
        </p:nvSpPr>
        <p:spPr>
          <a:xfrm>
            <a:off x="1285875" y="4298528"/>
            <a:ext cx="3305994" cy="447824"/>
          </a:xfrm>
          <a:prstGeom prst="roundRect">
            <a:avLst>
              <a:gd name="adj" fmla="val 8933"/>
            </a:avLst>
          </a:prstGeom>
          <a:solidFill>
            <a:srgbClr val="B6D6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17" name="Google Shape;217;p12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381125" y="4419972"/>
            <a:ext cx="119062" cy="9525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12"/>
          <p:cNvSpPr/>
          <p:nvPr/>
        </p:nvSpPr>
        <p:spPr>
          <a:xfrm>
            <a:off x="1595438" y="4386337"/>
            <a:ext cx="2901181" cy="254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Nobile"/>
              <a:buNone/>
            </a:pPr>
            <a:r>
              <a:rPr lang="en-US" sz="750" b="1" i="0" u="none" strike="noStrike" cap="none">
                <a:solidFill>
                  <a:srgbClr val="000000"/>
                </a:solidFill>
                <a:latin typeface="Nobile"/>
                <a:ea typeface="Nobile"/>
                <a:cs typeface="Nobile"/>
                <a:sym typeface="Nobile"/>
              </a:rPr>
              <a:t>Tech Stack:</a:t>
            </a:r>
            <a:r>
              <a:rPr lang="en-US" sz="750" b="0" i="0" u="none" strike="noStrike" cap="none">
                <a:solidFill>
                  <a:srgbClr val="000000"/>
                </a:solidFill>
                <a:latin typeface="Nobile"/>
                <a:ea typeface="Nobile"/>
                <a:cs typeface="Nobile"/>
                <a:sym typeface="Nobile"/>
              </a:rPr>
              <a:t> Claude API · LangChain · FastAPI · Neo4j · React PWA · Google Nearby Connections · OpenTelemetry</a:t>
            </a:r>
            <a:endParaRPr sz="750" b="0" i="0" u="none" strike="noStrike" cap="none"/>
          </a:p>
        </p:txBody>
      </p:sp>
      <p:sp>
        <p:nvSpPr>
          <p:cNvPr id="219" name="Google Shape;219;p12"/>
          <p:cNvSpPr/>
          <p:nvPr/>
        </p:nvSpPr>
        <p:spPr>
          <a:xfrm>
            <a:off x="4828952" y="2765227"/>
            <a:ext cx="1648792" cy="1488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900"/>
              <a:buFont typeface="Alexandria"/>
              <a:buNone/>
            </a:pPr>
            <a:r>
              <a:rPr lang="en-US" sz="900" b="0" i="0" u="none" strike="noStrike" cap="none">
                <a:solidFill>
                  <a:srgbClr val="1B1B27"/>
                </a:solidFill>
                <a:latin typeface="Alexandria"/>
                <a:ea typeface="Alexandria"/>
                <a:cs typeface="Alexandria"/>
                <a:sym typeface="Alexandria"/>
              </a:rPr>
              <a:t>Evaluation Mapping</a:t>
            </a:r>
            <a:endParaRPr sz="900" b="0" i="0" u="none" strike="noStrike" cap="none"/>
          </a:p>
        </p:txBody>
      </p:sp>
      <p:sp>
        <p:nvSpPr>
          <p:cNvPr id="220" name="Google Shape;220;p12"/>
          <p:cNvSpPr/>
          <p:nvPr/>
        </p:nvSpPr>
        <p:spPr>
          <a:xfrm>
            <a:off x="4828952" y="2986013"/>
            <a:ext cx="3033900" cy="1825200"/>
          </a:xfrm>
          <a:prstGeom prst="roundRect">
            <a:avLst>
              <a:gd name="adj" fmla="val 2192"/>
            </a:avLst>
          </a:prstGeom>
          <a:noFill/>
          <a:ln w="9525" cap="flat" cmpd="sng">
            <a:solidFill>
              <a:srgbClr val="000000">
                <a:alpha val="7843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12"/>
          <p:cNvSpPr/>
          <p:nvPr/>
        </p:nvSpPr>
        <p:spPr>
          <a:xfrm>
            <a:off x="4929039" y="3033936"/>
            <a:ext cx="1627584" cy="127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750"/>
              <a:buFont typeface="Nobile"/>
              <a:buNone/>
            </a:pPr>
            <a:r>
              <a:rPr lang="en-US" sz="750" b="1" i="0" u="none" strike="noStrike" cap="non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Criterion</a:t>
            </a:r>
            <a:endParaRPr sz="750" b="0" i="0" u="none" strike="noStrike" cap="none"/>
          </a:p>
        </p:txBody>
      </p:sp>
      <p:sp>
        <p:nvSpPr>
          <p:cNvPr id="222" name="Google Shape;222;p12"/>
          <p:cNvSpPr/>
          <p:nvPr/>
        </p:nvSpPr>
        <p:spPr>
          <a:xfrm>
            <a:off x="6289923" y="3033936"/>
            <a:ext cx="1930078" cy="127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750"/>
              <a:buFont typeface="Nobile"/>
              <a:buNone/>
            </a:pPr>
            <a:r>
              <a:rPr lang="en-US" sz="750" b="1" i="0" u="none" strike="noStrike" cap="non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CampusPilot AI Solution</a:t>
            </a:r>
            <a:endParaRPr sz="750" b="0" i="0" u="none" strike="noStrike" cap="none"/>
          </a:p>
        </p:txBody>
      </p:sp>
      <p:sp>
        <p:nvSpPr>
          <p:cNvPr id="223" name="Google Shape;223;p12"/>
          <p:cNvSpPr/>
          <p:nvPr/>
        </p:nvSpPr>
        <p:spPr>
          <a:xfrm>
            <a:off x="4929039" y="3252415"/>
            <a:ext cx="1627584" cy="127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750"/>
              <a:buFont typeface="Nobile"/>
              <a:buNone/>
            </a:pPr>
            <a:r>
              <a:rPr lang="en-US" sz="750" b="0" i="0" u="none" strike="noStrike" cap="non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Route correctness</a:t>
            </a:r>
            <a:endParaRPr sz="750" b="0" i="0" u="none" strike="noStrike" cap="none"/>
          </a:p>
        </p:txBody>
      </p:sp>
      <p:sp>
        <p:nvSpPr>
          <p:cNvPr id="224" name="Google Shape;224;p12"/>
          <p:cNvSpPr/>
          <p:nvPr/>
        </p:nvSpPr>
        <p:spPr>
          <a:xfrm>
            <a:off x="6289923" y="3252415"/>
            <a:ext cx="1472878" cy="254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750"/>
              <a:buFont typeface="Nobile"/>
              <a:buNone/>
            </a:pPr>
            <a:r>
              <a:rPr lang="en-US" sz="750" b="0" i="0" u="none" strike="noStrike" cap="non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Knowledge graph + golden dataset testing</a:t>
            </a:r>
            <a:endParaRPr sz="750" b="0" i="0" u="none" strike="noStrike" cap="none"/>
          </a:p>
        </p:txBody>
      </p:sp>
      <p:sp>
        <p:nvSpPr>
          <p:cNvPr id="225" name="Google Shape;225;p12"/>
          <p:cNvSpPr/>
          <p:nvPr/>
        </p:nvSpPr>
        <p:spPr>
          <a:xfrm>
            <a:off x="4929039" y="3598292"/>
            <a:ext cx="1627584" cy="127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750"/>
              <a:buFont typeface="Nobile"/>
              <a:buNone/>
            </a:pPr>
            <a:r>
              <a:rPr lang="en-US" sz="750" b="0" i="0" u="none" strike="noStrike" cap="non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Accessibility options</a:t>
            </a:r>
            <a:endParaRPr sz="750" b="0" i="0" u="none" strike="noStrike" cap="none"/>
          </a:p>
        </p:txBody>
      </p:sp>
      <p:sp>
        <p:nvSpPr>
          <p:cNvPr id="226" name="Google Shape;226;p12"/>
          <p:cNvSpPr/>
          <p:nvPr/>
        </p:nvSpPr>
        <p:spPr>
          <a:xfrm>
            <a:off x="6289923" y="3598292"/>
            <a:ext cx="1930078" cy="127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750"/>
              <a:buFont typeface="Nobile"/>
              <a:buNone/>
            </a:pPr>
            <a:r>
              <a:rPr lang="en-US" sz="750" b="0" i="0" u="none" strike="noStrike" cap="non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5 disability profiles + WCAG 2.1</a:t>
            </a:r>
            <a:endParaRPr sz="750" b="0" i="0" u="none" strike="noStrike" cap="none"/>
          </a:p>
        </p:txBody>
      </p:sp>
      <p:sp>
        <p:nvSpPr>
          <p:cNvPr id="227" name="Google Shape;227;p12"/>
          <p:cNvSpPr/>
          <p:nvPr/>
        </p:nvSpPr>
        <p:spPr>
          <a:xfrm>
            <a:off x="4929039" y="3816772"/>
            <a:ext cx="1627584" cy="127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750"/>
              <a:buFont typeface="Nobile"/>
              <a:buNone/>
            </a:pPr>
            <a:r>
              <a:rPr lang="en-US" sz="750" b="0" i="0" u="none" strike="noStrike" cap="non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Conversation UX</a:t>
            </a:r>
            <a:endParaRPr sz="750" b="0" i="0" u="none" strike="noStrike" cap="none"/>
          </a:p>
        </p:txBody>
      </p:sp>
      <p:sp>
        <p:nvSpPr>
          <p:cNvPr id="228" name="Google Shape;228;p12"/>
          <p:cNvSpPr/>
          <p:nvPr/>
        </p:nvSpPr>
        <p:spPr>
          <a:xfrm>
            <a:off x="6289923" y="3816772"/>
            <a:ext cx="1472878" cy="254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750"/>
              <a:buFont typeface="Nobile"/>
              <a:buNone/>
            </a:pPr>
            <a:r>
              <a:rPr lang="en-US" sz="750" b="0" i="0" u="none" strike="noStrike" cap="non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Natural language via Claude + LangChain</a:t>
            </a:r>
            <a:endParaRPr sz="750" b="0" i="0" u="none" strike="noStrike" cap="none"/>
          </a:p>
        </p:txBody>
      </p:sp>
      <p:sp>
        <p:nvSpPr>
          <p:cNvPr id="229" name="Google Shape;229;p12"/>
          <p:cNvSpPr/>
          <p:nvPr/>
        </p:nvSpPr>
        <p:spPr>
          <a:xfrm>
            <a:off x="4929039" y="4162648"/>
            <a:ext cx="1627584" cy="127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750"/>
              <a:buFont typeface="Nobile"/>
              <a:buNone/>
            </a:pPr>
            <a:r>
              <a:rPr lang="en-US" sz="750" b="0" i="0" u="none" strike="noStrike" cap="non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Context handling</a:t>
            </a:r>
            <a:endParaRPr sz="750" b="0" i="0" u="none" strike="noStrike" cap="none"/>
          </a:p>
        </p:txBody>
      </p:sp>
      <p:sp>
        <p:nvSpPr>
          <p:cNvPr id="230" name="Google Shape;230;p12"/>
          <p:cNvSpPr/>
          <p:nvPr/>
        </p:nvSpPr>
        <p:spPr>
          <a:xfrm>
            <a:off x="6289923" y="4162648"/>
            <a:ext cx="1472878" cy="254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750"/>
              <a:buFont typeface="Nobile"/>
              <a:buNone/>
            </a:pPr>
            <a:r>
              <a:rPr lang="en-US" sz="750" b="0" i="0" u="none" strike="noStrike" cap="non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Shadow map + admin-flagged updates</a:t>
            </a:r>
            <a:endParaRPr sz="750" b="0" i="0" u="none" strike="noStrike" cap="none"/>
          </a:p>
        </p:txBody>
      </p:sp>
      <p:sp>
        <p:nvSpPr>
          <p:cNvPr id="231" name="Google Shape;231;p12"/>
          <p:cNvSpPr/>
          <p:nvPr/>
        </p:nvSpPr>
        <p:spPr>
          <a:xfrm>
            <a:off x="4929039" y="4508525"/>
            <a:ext cx="1627584" cy="127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750"/>
              <a:buFont typeface="Nobile"/>
              <a:buNone/>
            </a:pPr>
            <a:r>
              <a:rPr lang="en-US" sz="750" b="0" i="0" u="none" strike="noStrike" cap="non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Offline / low connectivity</a:t>
            </a:r>
            <a:endParaRPr sz="750" b="0" i="0" u="none" strike="noStrike" cap="none"/>
          </a:p>
        </p:txBody>
      </p:sp>
      <p:sp>
        <p:nvSpPr>
          <p:cNvPr id="232" name="Google Shape;232;p12"/>
          <p:cNvSpPr/>
          <p:nvPr/>
        </p:nvSpPr>
        <p:spPr>
          <a:xfrm>
            <a:off x="6289923" y="4508525"/>
            <a:ext cx="1472878" cy="254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750"/>
              <a:buFont typeface="Nobile"/>
              <a:buNone/>
            </a:pPr>
            <a:r>
              <a:rPr lang="en-US" sz="750" b="0" i="0" u="none" strike="noStrike" cap="non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Mesh network + progressive caching</a:t>
            </a:r>
            <a:endParaRPr sz="750" b="0" i="0" u="none" strike="noStrike" cap="none"/>
          </a:p>
        </p:txBody>
      </p:sp>
      <p:sp>
        <p:nvSpPr>
          <p:cNvPr id="233" name="Google Shape;233;p12"/>
          <p:cNvSpPr/>
          <p:nvPr/>
        </p:nvSpPr>
        <p:spPr>
          <a:xfrm>
            <a:off x="8035600" y="4849850"/>
            <a:ext cx="1059000" cy="249300"/>
          </a:xfrm>
          <a:prstGeom prst="rect">
            <a:avLst/>
          </a:prstGeom>
          <a:solidFill>
            <a:srgbClr val="F9F9FF"/>
          </a:solidFill>
          <a:ln w="9525" cap="flat" cmpd="sng">
            <a:solidFill>
              <a:srgbClr val="F9F9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5</Slides>
  <Notes>5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3</cp:revision>
  <dcterms:modified xsi:type="dcterms:W3CDTF">2026-05-17T13:09:11Z</dcterms:modified>
</cp:coreProperties>
</file>