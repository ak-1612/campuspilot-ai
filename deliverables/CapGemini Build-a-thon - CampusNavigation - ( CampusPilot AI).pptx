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 id="2147483668" r:id="rId5"/>
    <p:sldMasterId id="214748366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y="5143500" cx="9144000"/>
  <p:notesSz cx="6858000" cy="9144000"/>
  <p:embeddedFontLst>
    <p:embeddedFont>
      <p:font typeface="Inter"/>
      <p:regular r:id="rId17"/>
      <p:bold r:id="rId18"/>
      <p:italic r:id="rId19"/>
      <p:boldItalic r:id="rId20"/>
    </p:embeddedFont>
    <p:embeddedFont>
      <p:font typeface="Nobile"/>
      <p:regular r:id="rId21"/>
      <p:bold r:id="rId22"/>
      <p:italic r:id="rId23"/>
      <p:boldItalic r:id="rId24"/>
    </p:embeddedFont>
    <p:embeddedFont>
      <p:font typeface="Alexandria"/>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22" Type="http://schemas.openxmlformats.org/officeDocument/2006/relationships/font" Target="fonts/Nobile-bold.fntdata"/><Relationship Id="rId21" Type="http://schemas.openxmlformats.org/officeDocument/2006/relationships/font" Target="fonts/Nobile-regular.fntdata"/><Relationship Id="rId24" Type="http://schemas.openxmlformats.org/officeDocument/2006/relationships/font" Target="fonts/Nobile-boldItalic.fntdata"/><Relationship Id="rId23" Type="http://schemas.openxmlformats.org/officeDocument/2006/relationships/font" Target="fonts/Nobile-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Alexandria-bold.fntdata"/><Relationship Id="rId25" Type="http://schemas.openxmlformats.org/officeDocument/2006/relationships/font" Target="fonts/Alexandria-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font" Target="fonts/Inter-regular.fntdata"/><Relationship Id="rId16" Type="http://schemas.openxmlformats.org/officeDocument/2006/relationships/slide" Target="slides/slide9.xml"/><Relationship Id="rId19" Type="http://schemas.openxmlformats.org/officeDocument/2006/relationships/font" Target="fonts/Inter-italic.fntdata"/><Relationship Id="rId1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f03aa2eb6_2_2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g3ef03aa2eb6_2_2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 name="Google Shape;81;g3ef03aa2eb6_2_2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ef03aa2eb6_2_5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g3ef03aa2eb6_2_5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g3ef03aa2eb6_2_5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f03aa2eb6_2_9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g3ef03aa2eb6_2_9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f03aa2eb6_2_9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ef03aa2eb6_2_14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ef03aa2eb6_2_14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g3ef03aa2eb6_2_14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ef03aa2eb6_2_17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3ef03aa2eb6_2_17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g3ef03aa2eb6_2_17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ef03aa2eb6_0_0:notes"/>
          <p:cNvSpPr txBox="1"/>
          <p:nvPr>
            <p:ph idx="1" type="body"/>
          </p:nvPr>
        </p:nvSpPr>
        <p:spPr>
          <a:xfrm>
            <a:off x="914400" y="4400550"/>
            <a:ext cx="73152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ef03aa2eb6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f1087058f6_7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f1087058f6_7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f03aa2eb6_0_273:notes"/>
          <p:cNvSpPr txBox="1"/>
          <p:nvPr>
            <p:ph idx="1" type="body"/>
          </p:nvPr>
        </p:nvSpPr>
        <p:spPr>
          <a:xfrm>
            <a:off x="914400" y="4400550"/>
            <a:ext cx="73152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3ef03aa2eb6_0_27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f1087058f6_1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g3f1087058f6_1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g3f1087058f6_1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51" name="Shape 51"/>
        <p:cNvGrpSpPr/>
        <p:nvPr/>
      </p:nvGrpSpPr>
      <p:grpSpPr>
        <a:xfrm>
          <a:off x="0" y="0"/>
          <a:ext cx="0" cy="0"/>
          <a:chOff x="0" y="0"/>
          <a:chExt cx="0" cy="0"/>
        </a:xfrm>
      </p:grpSpPr>
      <p:sp>
        <p:nvSpPr>
          <p:cNvPr id="52" name="Google Shape;52;p14"/>
          <p:cNvSpPr/>
          <p:nvPr/>
        </p:nvSpPr>
        <p:spPr>
          <a:xfrm>
            <a:off x="0" y="0"/>
            <a:ext cx="9144000" cy="5143500"/>
          </a:xfrm>
          <a:prstGeom prst="rect">
            <a:avLst/>
          </a:prstGeom>
          <a:solidFill>
            <a:srgbClr val="5C73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4"/>
          <p:cNvSpPr/>
          <p:nvPr/>
        </p:nvSpPr>
        <p:spPr>
          <a:xfrm>
            <a:off x="0" y="0"/>
            <a:ext cx="9144000" cy="5143500"/>
          </a:xfrm>
          <a:prstGeom prst="rect">
            <a:avLst/>
          </a:prstGeom>
          <a:solidFill>
            <a:srgbClr val="F9F9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4" name="Google Shape;54;p14">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55" name="Shape 55"/>
        <p:cNvGrpSpPr/>
        <p:nvPr/>
      </p:nvGrpSpPr>
      <p:grpSpPr>
        <a:xfrm>
          <a:off x="0" y="0"/>
          <a:ext cx="0" cy="0"/>
          <a:chOff x="0" y="0"/>
          <a:chExt cx="0" cy="0"/>
        </a:xfrm>
      </p:grpSpPr>
      <p:sp>
        <p:nvSpPr>
          <p:cNvPr id="56" name="Google Shape;56;p15"/>
          <p:cNvSpPr/>
          <p:nvPr/>
        </p:nvSpPr>
        <p:spPr>
          <a:xfrm>
            <a:off x="0" y="0"/>
            <a:ext cx="9144000" cy="5143500"/>
          </a:xfrm>
          <a:prstGeom prst="rect">
            <a:avLst/>
          </a:prstGeom>
          <a:solidFill>
            <a:srgbClr val="5C73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5"/>
          <p:cNvSpPr/>
          <p:nvPr/>
        </p:nvSpPr>
        <p:spPr>
          <a:xfrm>
            <a:off x="0" y="0"/>
            <a:ext cx="9144000" cy="5143500"/>
          </a:xfrm>
          <a:prstGeom prst="rect">
            <a:avLst/>
          </a:prstGeom>
          <a:solidFill>
            <a:srgbClr val="F9F9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8" name="Google Shape;58;p15">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59" name="Shape 59"/>
        <p:cNvGrpSpPr/>
        <p:nvPr/>
      </p:nvGrpSpPr>
      <p:grpSpPr>
        <a:xfrm>
          <a:off x="0" y="0"/>
          <a:ext cx="0" cy="0"/>
          <a:chOff x="0" y="0"/>
          <a:chExt cx="0" cy="0"/>
        </a:xfrm>
      </p:grpSpPr>
      <p:sp>
        <p:nvSpPr>
          <p:cNvPr id="60" name="Google Shape;60;p16"/>
          <p:cNvSpPr/>
          <p:nvPr/>
        </p:nvSpPr>
        <p:spPr>
          <a:xfrm>
            <a:off x="0" y="0"/>
            <a:ext cx="9144000" cy="5143500"/>
          </a:xfrm>
          <a:prstGeom prst="rect">
            <a:avLst/>
          </a:prstGeom>
          <a:solidFill>
            <a:srgbClr val="5C73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6"/>
          <p:cNvSpPr/>
          <p:nvPr/>
        </p:nvSpPr>
        <p:spPr>
          <a:xfrm>
            <a:off x="0" y="0"/>
            <a:ext cx="9144000" cy="5143500"/>
          </a:xfrm>
          <a:prstGeom prst="rect">
            <a:avLst/>
          </a:prstGeom>
          <a:solidFill>
            <a:srgbClr val="F9F9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2" name="Google Shape;62;p16">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63" name="Shape 63"/>
        <p:cNvGrpSpPr/>
        <p:nvPr/>
      </p:nvGrpSpPr>
      <p:grpSpPr>
        <a:xfrm>
          <a:off x="0" y="0"/>
          <a:ext cx="0" cy="0"/>
          <a:chOff x="0" y="0"/>
          <a:chExt cx="0" cy="0"/>
        </a:xfrm>
      </p:grpSpPr>
      <p:sp>
        <p:nvSpPr>
          <p:cNvPr id="64" name="Google Shape;64;p17"/>
          <p:cNvSpPr/>
          <p:nvPr/>
        </p:nvSpPr>
        <p:spPr>
          <a:xfrm>
            <a:off x="0" y="0"/>
            <a:ext cx="9144000" cy="5143500"/>
          </a:xfrm>
          <a:prstGeom prst="rect">
            <a:avLst/>
          </a:prstGeom>
          <a:solidFill>
            <a:srgbClr val="5C73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7"/>
          <p:cNvSpPr/>
          <p:nvPr/>
        </p:nvSpPr>
        <p:spPr>
          <a:xfrm>
            <a:off x="0" y="0"/>
            <a:ext cx="9144000" cy="5143500"/>
          </a:xfrm>
          <a:prstGeom prst="rect">
            <a:avLst/>
          </a:prstGeom>
          <a:solidFill>
            <a:srgbClr val="F9F9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6" name="Google Shape;66;p17">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67" name="Shape 67"/>
        <p:cNvGrpSpPr/>
        <p:nvPr/>
      </p:nvGrpSpPr>
      <p:grpSpPr>
        <a:xfrm>
          <a:off x="0" y="0"/>
          <a:ext cx="0" cy="0"/>
          <a:chOff x="0" y="0"/>
          <a:chExt cx="0" cy="0"/>
        </a:xfrm>
      </p:grpSpPr>
      <p:sp>
        <p:nvSpPr>
          <p:cNvPr id="68" name="Google Shape;68;p18"/>
          <p:cNvSpPr/>
          <p:nvPr/>
        </p:nvSpPr>
        <p:spPr>
          <a:xfrm>
            <a:off x="0" y="0"/>
            <a:ext cx="9144000" cy="5143500"/>
          </a:xfrm>
          <a:prstGeom prst="rect">
            <a:avLst/>
          </a:prstGeom>
          <a:solidFill>
            <a:srgbClr val="5C73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8"/>
          <p:cNvSpPr/>
          <p:nvPr/>
        </p:nvSpPr>
        <p:spPr>
          <a:xfrm>
            <a:off x="0" y="0"/>
            <a:ext cx="9144000" cy="5143500"/>
          </a:xfrm>
          <a:prstGeom prst="rect">
            <a:avLst/>
          </a:prstGeom>
          <a:solidFill>
            <a:srgbClr val="F9F9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0" name="Google Shape;70;p18">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1" name="Shape 71"/>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20"/>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74" name="Google Shape;74;p20"/>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75" name="Google Shape;75;p20"/>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7" name="Shape 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2.png"/><Relationship Id="rId10" Type="http://schemas.openxmlformats.org/officeDocument/2006/relationships/image" Target="../media/image16.png"/><Relationship Id="rId9"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3.png"/><Relationship Id="rId7" Type="http://schemas.openxmlformats.org/officeDocument/2006/relationships/image" Target="../media/image6.png"/><Relationship Id="rId8"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23"/>
          <p:cNvSpPr/>
          <p:nvPr/>
        </p:nvSpPr>
        <p:spPr>
          <a:xfrm>
            <a:off x="480640" y="429592"/>
            <a:ext cx="3204000" cy="343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150"/>
              <a:buFont typeface="Alexandria"/>
              <a:buNone/>
            </a:pPr>
            <a:r>
              <a:rPr b="0" i="0" lang="en" sz="2150" u="none" cap="none" strike="noStrike">
                <a:solidFill>
                  <a:srgbClr val="1B1B27"/>
                </a:solidFill>
                <a:latin typeface="Alexandria"/>
                <a:ea typeface="Alexandria"/>
                <a:cs typeface="Alexandria"/>
                <a:sym typeface="Alexandria"/>
              </a:rPr>
              <a:t>CampusPilot AI</a:t>
            </a:r>
            <a:endParaRPr b="0" i="0" sz="2150" u="none" cap="none" strike="noStrike">
              <a:solidFill>
                <a:srgbClr val="000000"/>
              </a:solidFill>
              <a:latin typeface="Arial"/>
              <a:ea typeface="Arial"/>
              <a:cs typeface="Arial"/>
              <a:sym typeface="Arial"/>
            </a:endParaRPr>
          </a:p>
        </p:txBody>
      </p:sp>
      <p:sp>
        <p:nvSpPr>
          <p:cNvPr id="84" name="Google Shape;84;p23"/>
          <p:cNvSpPr/>
          <p:nvPr/>
        </p:nvSpPr>
        <p:spPr>
          <a:xfrm>
            <a:off x="480640" y="826071"/>
            <a:ext cx="4112100" cy="214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350"/>
              <a:buFont typeface="Alexandria"/>
              <a:buNone/>
            </a:pPr>
            <a:r>
              <a:rPr b="0" i="0" lang="en" sz="1350" u="none" cap="none" strike="noStrike">
                <a:solidFill>
                  <a:srgbClr val="1B1B27"/>
                </a:solidFill>
                <a:latin typeface="Alexandria"/>
                <a:ea typeface="Alexandria"/>
                <a:cs typeface="Alexandria"/>
                <a:sym typeface="Alexandria"/>
              </a:rPr>
              <a:t>AI-Powered Accessible Campus Navigation</a:t>
            </a:r>
            <a:endParaRPr b="0" i="0" sz="1350" u="none" cap="none" strike="noStrike">
              <a:solidFill>
                <a:srgbClr val="000000"/>
              </a:solidFill>
              <a:latin typeface="Arial"/>
              <a:ea typeface="Arial"/>
              <a:cs typeface="Arial"/>
              <a:sym typeface="Arial"/>
            </a:endParaRPr>
          </a:p>
        </p:txBody>
      </p:sp>
      <p:sp>
        <p:nvSpPr>
          <p:cNvPr id="85" name="Google Shape;85;p23"/>
          <p:cNvSpPr/>
          <p:nvPr/>
        </p:nvSpPr>
        <p:spPr>
          <a:xfrm>
            <a:off x="686619" y="1389757"/>
            <a:ext cx="7976700" cy="4326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1050"/>
              <a:buFont typeface="Nobile"/>
              <a:buNone/>
            </a:pPr>
            <a:r>
              <a:rPr b="0" i="0" lang="en" sz="1050" u="none" cap="none" strike="noStrike">
                <a:solidFill>
                  <a:srgbClr val="404155"/>
                </a:solidFill>
                <a:latin typeface="Nobile"/>
                <a:ea typeface="Nobile"/>
                <a:cs typeface="Nobile"/>
                <a:sym typeface="Nobile"/>
              </a:rPr>
              <a:t>An AI-powered campus navigation assistant that helps every visitor reach the right destination — quickly, intelligently, and accessibly.</a:t>
            </a:r>
            <a:endParaRPr b="0" i="0" sz="1050" u="none" cap="none" strike="noStrike">
              <a:solidFill>
                <a:srgbClr val="000000"/>
              </a:solidFill>
              <a:latin typeface="Arial"/>
              <a:ea typeface="Arial"/>
              <a:cs typeface="Arial"/>
              <a:sym typeface="Arial"/>
            </a:endParaRPr>
          </a:p>
        </p:txBody>
      </p:sp>
      <p:sp>
        <p:nvSpPr>
          <p:cNvPr id="86" name="Google Shape;86;p23"/>
          <p:cNvSpPr/>
          <p:nvPr/>
        </p:nvSpPr>
        <p:spPr>
          <a:xfrm>
            <a:off x="480640" y="1240110"/>
            <a:ext cx="19200" cy="732000"/>
          </a:xfrm>
          <a:prstGeom prst="rect">
            <a:avLst/>
          </a:prstGeom>
          <a:solidFill>
            <a:srgbClr val="1B54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3"/>
          <p:cNvSpPr/>
          <p:nvPr/>
        </p:nvSpPr>
        <p:spPr>
          <a:xfrm>
            <a:off x="480640" y="2171551"/>
            <a:ext cx="2517300" cy="2574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600"/>
              <a:buFont typeface="Alexandria"/>
              <a:buNone/>
            </a:pPr>
            <a:r>
              <a:rPr b="0" i="0" lang="en" sz="1600" u="none" cap="none" strike="noStrike">
                <a:solidFill>
                  <a:srgbClr val="1B1B27"/>
                </a:solidFill>
                <a:latin typeface="Alexandria"/>
                <a:ea typeface="Alexandria"/>
                <a:cs typeface="Alexandria"/>
                <a:sym typeface="Alexandria"/>
              </a:rPr>
              <a:t>Team Composition</a:t>
            </a:r>
            <a:endParaRPr b="0" i="0" sz="1600" u="none" cap="none" strike="noStrike">
              <a:solidFill>
                <a:srgbClr val="000000"/>
              </a:solidFill>
              <a:latin typeface="Arial"/>
              <a:ea typeface="Arial"/>
              <a:cs typeface="Arial"/>
              <a:sym typeface="Arial"/>
            </a:endParaRPr>
          </a:p>
        </p:txBody>
      </p:sp>
      <p:sp>
        <p:nvSpPr>
          <p:cNvPr id="88" name="Google Shape;88;p23"/>
          <p:cNvSpPr/>
          <p:nvPr/>
        </p:nvSpPr>
        <p:spPr>
          <a:xfrm>
            <a:off x="480640" y="2628528"/>
            <a:ext cx="8182800" cy="2085300"/>
          </a:xfrm>
          <a:prstGeom prst="roundRect">
            <a:avLst>
              <a:gd fmla="val 2766"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3"/>
          <p:cNvSpPr/>
          <p:nvPr/>
        </p:nvSpPr>
        <p:spPr>
          <a:xfrm>
            <a:off x="622771" y="2717825"/>
            <a:ext cx="26322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1" i="0" lang="en" sz="850" u="none" cap="none" strike="noStrike">
                <a:solidFill>
                  <a:srgbClr val="404155"/>
                </a:solidFill>
                <a:latin typeface="Nobile"/>
                <a:ea typeface="Nobile"/>
                <a:cs typeface="Nobile"/>
                <a:sym typeface="Nobile"/>
              </a:rPr>
              <a:t>Name</a:t>
            </a:r>
            <a:endParaRPr b="0" i="0" sz="850" u="none" cap="none" strike="noStrike">
              <a:solidFill>
                <a:srgbClr val="000000"/>
              </a:solidFill>
              <a:latin typeface="Arial"/>
              <a:ea typeface="Arial"/>
              <a:cs typeface="Arial"/>
              <a:sym typeface="Arial"/>
            </a:endParaRPr>
          </a:p>
        </p:txBody>
      </p:sp>
      <p:sp>
        <p:nvSpPr>
          <p:cNvPr id="90" name="Google Shape;90;p23"/>
          <p:cNvSpPr/>
          <p:nvPr/>
        </p:nvSpPr>
        <p:spPr>
          <a:xfrm>
            <a:off x="3077096" y="2717825"/>
            <a:ext cx="22212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1" i="0" lang="en" sz="850" u="none" cap="none" strike="noStrike">
                <a:solidFill>
                  <a:srgbClr val="404155"/>
                </a:solidFill>
                <a:latin typeface="Nobile"/>
                <a:ea typeface="Nobile"/>
                <a:cs typeface="Nobile"/>
                <a:sym typeface="Nobile"/>
              </a:rPr>
              <a:t>Role</a:t>
            </a:r>
            <a:endParaRPr b="0" i="0" sz="850" u="none" cap="none" strike="noStrike">
              <a:solidFill>
                <a:srgbClr val="000000"/>
              </a:solidFill>
              <a:latin typeface="Arial"/>
              <a:ea typeface="Arial"/>
              <a:cs typeface="Arial"/>
              <a:sym typeface="Arial"/>
            </a:endParaRPr>
          </a:p>
        </p:txBody>
      </p:sp>
      <p:sp>
        <p:nvSpPr>
          <p:cNvPr id="91" name="Google Shape;91;p23"/>
          <p:cNvSpPr/>
          <p:nvPr/>
        </p:nvSpPr>
        <p:spPr>
          <a:xfrm>
            <a:off x="5120357" y="2717825"/>
            <a:ext cx="26298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1" i="0" lang="en" sz="850" u="none" cap="none" strike="noStrike">
                <a:solidFill>
                  <a:srgbClr val="404155"/>
                </a:solidFill>
                <a:latin typeface="Nobile"/>
                <a:ea typeface="Nobile"/>
                <a:cs typeface="Nobile"/>
                <a:sym typeface="Nobile"/>
              </a:rPr>
              <a:t>Programme</a:t>
            </a:r>
            <a:endParaRPr b="0" i="0" sz="850" u="none" cap="none" strike="noStrike">
              <a:solidFill>
                <a:srgbClr val="000000"/>
              </a:solidFill>
              <a:latin typeface="Arial"/>
              <a:ea typeface="Arial"/>
              <a:cs typeface="Arial"/>
              <a:sym typeface="Arial"/>
            </a:endParaRPr>
          </a:p>
        </p:txBody>
      </p:sp>
      <p:sp>
        <p:nvSpPr>
          <p:cNvPr id="92" name="Google Shape;92;p23"/>
          <p:cNvSpPr/>
          <p:nvPr/>
        </p:nvSpPr>
        <p:spPr>
          <a:xfrm>
            <a:off x="7572301" y="2717825"/>
            <a:ext cx="14061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1" i="0" lang="en" sz="850" u="none" cap="none" strike="noStrike">
                <a:solidFill>
                  <a:srgbClr val="404155"/>
                </a:solidFill>
                <a:latin typeface="Nobile"/>
                <a:ea typeface="Nobile"/>
                <a:cs typeface="Nobile"/>
                <a:sym typeface="Nobile"/>
              </a:rPr>
              <a:t>Year</a:t>
            </a:r>
            <a:endParaRPr b="0" i="0" sz="850" u="none" cap="none" strike="noStrike">
              <a:solidFill>
                <a:srgbClr val="000000"/>
              </a:solidFill>
              <a:latin typeface="Arial"/>
              <a:ea typeface="Arial"/>
              <a:cs typeface="Arial"/>
              <a:sym typeface="Arial"/>
            </a:endParaRPr>
          </a:p>
        </p:txBody>
      </p:sp>
      <p:sp>
        <p:nvSpPr>
          <p:cNvPr id="93" name="Google Shape;93;p23"/>
          <p:cNvSpPr/>
          <p:nvPr/>
        </p:nvSpPr>
        <p:spPr>
          <a:xfrm>
            <a:off x="622771" y="3064594"/>
            <a:ext cx="26322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Anshul Kumaria</a:t>
            </a:r>
            <a:endParaRPr b="0" i="0" sz="850" u="none" cap="none" strike="noStrike">
              <a:solidFill>
                <a:srgbClr val="000000"/>
              </a:solidFill>
              <a:latin typeface="Arial"/>
              <a:ea typeface="Arial"/>
              <a:cs typeface="Arial"/>
              <a:sym typeface="Arial"/>
            </a:endParaRPr>
          </a:p>
        </p:txBody>
      </p:sp>
      <p:sp>
        <p:nvSpPr>
          <p:cNvPr id="94" name="Google Shape;94;p23"/>
          <p:cNvSpPr/>
          <p:nvPr/>
        </p:nvSpPr>
        <p:spPr>
          <a:xfrm>
            <a:off x="3077096" y="3064594"/>
            <a:ext cx="22212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AI &amp; Intelligence Lead</a:t>
            </a:r>
            <a:endParaRPr b="0" i="0" sz="850" u="none" cap="none" strike="noStrike">
              <a:solidFill>
                <a:srgbClr val="000000"/>
              </a:solidFill>
              <a:latin typeface="Arial"/>
              <a:ea typeface="Arial"/>
              <a:cs typeface="Arial"/>
              <a:sym typeface="Arial"/>
            </a:endParaRPr>
          </a:p>
        </p:txBody>
      </p:sp>
      <p:sp>
        <p:nvSpPr>
          <p:cNvPr id="95" name="Google Shape;95;p23"/>
          <p:cNvSpPr/>
          <p:nvPr/>
        </p:nvSpPr>
        <p:spPr>
          <a:xfrm>
            <a:off x="5120357" y="3064594"/>
            <a:ext cx="26298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B.Tech CSE</a:t>
            </a:r>
            <a:endParaRPr b="0" i="0" sz="850" u="none" cap="none" strike="noStrike">
              <a:solidFill>
                <a:srgbClr val="000000"/>
              </a:solidFill>
              <a:latin typeface="Arial"/>
              <a:ea typeface="Arial"/>
              <a:cs typeface="Arial"/>
              <a:sym typeface="Arial"/>
            </a:endParaRPr>
          </a:p>
        </p:txBody>
      </p:sp>
      <p:sp>
        <p:nvSpPr>
          <p:cNvPr id="96" name="Google Shape;96;p23"/>
          <p:cNvSpPr/>
          <p:nvPr/>
        </p:nvSpPr>
        <p:spPr>
          <a:xfrm>
            <a:off x="7572301" y="3064594"/>
            <a:ext cx="14061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3rd Year</a:t>
            </a:r>
            <a:endParaRPr b="0" i="0" sz="850" u="none" cap="none" strike="noStrike">
              <a:solidFill>
                <a:srgbClr val="000000"/>
              </a:solidFill>
              <a:latin typeface="Arial"/>
              <a:ea typeface="Arial"/>
              <a:cs typeface="Arial"/>
              <a:sym typeface="Arial"/>
            </a:endParaRPr>
          </a:p>
        </p:txBody>
      </p:sp>
      <p:sp>
        <p:nvSpPr>
          <p:cNvPr id="97" name="Google Shape;97;p23"/>
          <p:cNvSpPr/>
          <p:nvPr/>
        </p:nvSpPr>
        <p:spPr>
          <a:xfrm>
            <a:off x="622771" y="3411364"/>
            <a:ext cx="26322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Dhruv Sarda</a:t>
            </a:r>
            <a:endParaRPr b="0" i="0" sz="850" u="none" cap="none" strike="noStrike">
              <a:solidFill>
                <a:srgbClr val="000000"/>
              </a:solidFill>
              <a:latin typeface="Arial"/>
              <a:ea typeface="Arial"/>
              <a:cs typeface="Arial"/>
              <a:sym typeface="Arial"/>
            </a:endParaRPr>
          </a:p>
        </p:txBody>
      </p:sp>
      <p:sp>
        <p:nvSpPr>
          <p:cNvPr id="98" name="Google Shape;98;p23"/>
          <p:cNvSpPr/>
          <p:nvPr/>
        </p:nvSpPr>
        <p:spPr>
          <a:xfrm>
            <a:off x="3077096" y="3411364"/>
            <a:ext cx="22212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Core Solution Architecture Lead</a:t>
            </a:r>
            <a:endParaRPr b="0" i="0" sz="850" u="none" cap="none" strike="noStrike">
              <a:solidFill>
                <a:srgbClr val="000000"/>
              </a:solidFill>
              <a:latin typeface="Arial"/>
              <a:ea typeface="Arial"/>
              <a:cs typeface="Arial"/>
              <a:sym typeface="Arial"/>
            </a:endParaRPr>
          </a:p>
        </p:txBody>
      </p:sp>
      <p:sp>
        <p:nvSpPr>
          <p:cNvPr id="99" name="Google Shape;99;p23"/>
          <p:cNvSpPr/>
          <p:nvPr/>
        </p:nvSpPr>
        <p:spPr>
          <a:xfrm>
            <a:off x="5120357" y="3411364"/>
            <a:ext cx="26298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B.Tech CSE</a:t>
            </a:r>
            <a:endParaRPr b="0" i="0" sz="850" u="none" cap="none" strike="noStrike">
              <a:solidFill>
                <a:srgbClr val="000000"/>
              </a:solidFill>
              <a:latin typeface="Arial"/>
              <a:ea typeface="Arial"/>
              <a:cs typeface="Arial"/>
              <a:sym typeface="Arial"/>
            </a:endParaRPr>
          </a:p>
        </p:txBody>
      </p:sp>
      <p:sp>
        <p:nvSpPr>
          <p:cNvPr id="100" name="Google Shape;100;p23"/>
          <p:cNvSpPr/>
          <p:nvPr/>
        </p:nvSpPr>
        <p:spPr>
          <a:xfrm>
            <a:off x="7572301" y="3411364"/>
            <a:ext cx="14061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3rd Year</a:t>
            </a:r>
            <a:endParaRPr b="0" i="0" sz="850" u="none" cap="none" strike="noStrike">
              <a:solidFill>
                <a:srgbClr val="000000"/>
              </a:solidFill>
              <a:latin typeface="Arial"/>
              <a:ea typeface="Arial"/>
              <a:cs typeface="Arial"/>
              <a:sym typeface="Arial"/>
            </a:endParaRPr>
          </a:p>
        </p:txBody>
      </p:sp>
      <p:sp>
        <p:nvSpPr>
          <p:cNvPr id="101" name="Google Shape;101;p23"/>
          <p:cNvSpPr/>
          <p:nvPr/>
        </p:nvSpPr>
        <p:spPr>
          <a:xfrm>
            <a:off x="622771" y="3758133"/>
            <a:ext cx="26322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Hrishikesh Kali</a:t>
            </a:r>
            <a:endParaRPr b="0" i="0" sz="850" u="none" cap="none" strike="noStrike">
              <a:solidFill>
                <a:srgbClr val="000000"/>
              </a:solidFill>
              <a:latin typeface="Arial"/>
              <a:ea typeface="Arial"/>
              <a:cs typeface="Arial"/>
              <a:sym typeface="Arial"/>
            </a:endParaRPr>
          </a:p>
        </p:txBody>
      </p:sp>
      <p:sp>
        <p:nvSpPr>
          <p:cNvPr id="102" name="Google Shape;102;p23"/>
          <p:cNvSpPr/>
          <p:nvPr/>
        </p:nvSpPr>
        <p:spPr>
          <a:xfrm>
            <a:off x="3077096" y="3758133"/>
            <a:ext cx="22212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Implementation &amp; Feasibility Lead</a:t>
            </a:r>
            <a:endParaRPr b="0" i="0" sz="850" u="none" cap="none" strike="noStrike">
              <a:solidFill>
                <a:srgbClr val="000000"/>
              </a:solidFill>
              <a:latin typeface="Arial"/>
              <a:ea typeface="Arial"/>
              <a:cs typeface="Arial"/>
              <a:sym typeface="Arial"/>
            </a:endParaRPr>
          </a:p>
        </p:txBody>
      </p:sp>
      <p:sp>
        <p:nvSpPr>
          <p:cNvPr id="103" name="Google Shape;103;p23"/>
          <p:cNvSpPr/>
          <p:nvPr/>
        </p:nvSpPr>
        <p:spPr>
          <a:xfrm>
            <a:off x="5120357" y="3758133"/>
            <a:ext cx="26298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B.Tech CSE</a:t>
            </a:r>
            <a:endParaRPr b="0" i="0" sz="850" u="none" cap="none" strike="noStrike">
              <a:solidFill>
                <a:srgbClr val="000000"/>
              </a:solidFill>
              <a:latin typeface="Arial"/>
              <a:ea typeface="Arial"/>
              <a:cs typeface="Arial"/>
              <a:sym typeface="Arial"/>
            </a:endParaRPr>
          </a:p>
        </p:txBody>
      </p:sp>
      <p:sp>
        <p:nvSpPr>
          <p:cNvPr id="104" name="Google Shape;104;p23"/>
          <p:cNvSpPr/>
          <p:nvPr/>
        </p:nvSpPr>
        <p:spPr>
          <a:xfrm>
            <a:off x="7572301" y="3758133"/>
            <a:ext cx="14061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3rd Year</a:t>
            </a:r>
            <a:endParaRPr b="0" i="0" sz="850" u="none" cap="none" strike="noStrike">
              <a:solidFill>
                <a:srgbClr val="000000"/>
              </a:solidFill>
              <a:latin typeface="Arial"/>
              <a:ea typeface="Arial"/>
              <a:cs typeface="Arial"/>
              <a:sym typeface="Arial"/>
            </a:endParaRPr>
          </a:p>
        </p:txBody>
      </p:sp>
      <p:sp>
        <p:nvSpPr>
          <p:cNvPr id="105" name="Google Shape;105;p23"/>
          <p:cNvSpPr/>
          <p:nvPr/>
        </p:nvSpPr>
        <p:spPr>
          <a:xfrm>
            <a:off x="622771" y="4104903"/>
            <a:ext cx="26322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Atharva Deshmukh</a:t>
            </a:r>
            <a:endParaRPr b="0" i="0" sz="850" u="none" cap="none" strike="noStrike">
              <a:solidFill>
                <a:srgbClr val="000000"/>
              </a:solidFill>
              <a:latin typeface="Arial"/>
              <a:ea typeface="Arial"/>
              <a:cs typeface="Arial"/>
              <a:sym typeface="Arial"/>
            </a:endParaRPr>
          </a:p>
        </p:txBody>
      </p:sp>
      <p:sp>
        <p:nvSpPr>
          <p:cNvPr id="106" name="Google Shape;106;p23"/>
          <p:cNvSpPr/>
          <p:nvPr/>
        </p:nvSpPr>
        <p:spPr>
          <a:xfrm>
            <a:off x="3077096" y="4104903"/>
            <a:ext cx="22212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Research &amp; Lit. Review Lead</a:t>
            </a:r>
            <a:endParaRPr b="0" i="0" sz="850" u="none" cap="none" strike="noStrike">
              <a:solidFill>
                <a:srgbClr val="000000"/>
              </a:solidFill>
              <a:latin typeface="Arial"/>
              <a:ea typeface="Arial"/>
              <a:cs typeface="Arial"/>
              <a:sym typeface="Arial"/>
            </a:endParaRPr>
          </a:p>
        </p:txBody>
      </p:sp>
      <p:sp>
        <p:nvSpPr>
          <p:cNvPr id="107" name="Google Shape;107;p23"/>
          <p:cNvSpPr/>
          <p:nvPr/>
        </p:nvSpPr>
        <p:spPr>
          <a:xfrm>
            <a:off x="5120357" y="4104903"/>
            <a:ext cx="26298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B.Tech CSE</a:t>
            </a:r>
            <a:endParaRPr b="0" i="0" sz="850" u="none" cap="none" strike="noStrike">
              <a:solidFill>
                <a:srgbClr val="000000"/>
              </a:solidFill>
              <a:latin typeface="Arial"/>
              <a:ea typeface="Arial"/>
              <a:cs typeface="Arial"/>
              <a:sym typeface="Arial"/>
            </a:endParaRPr>
          </a:p>
        </p:txBody>
      </p:sp>
      <p:sp>
        <p:nvSpPr>
          <p:cNvPr id="108" name="Google Shape;108;p23"/>
          <p:cNvSpPr/>
          <p:nvPr/>
        </p:nvSpPr>
        <p:spPr>
          <a:xfrm>
            <a:off x="7572301" y="4104903"/>
            <a:ext cx="14061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3rd Year</a:t>
            </a:r>
            <a:endParaRPr b="0" i="0" sz="850" u="none" cap="none" strike="noStrike">
              <a:solidFill>
                <a:srgbClr val="000000"/>
              </a:solidFill>
              <a:latin typeface="Arial"/>
              <a:ea typeface="Arial"/>
              <a:cs typeface="Arial"/>
              <a:sym typeface="Arial"/>
            </a:endParaRPr>
          </a:p>
        </p:txBody>
      </p:sp>
      <p:sp>
        <p:nvSpPr>
          <p:cNvPr id="109" name="Google Shape;109;p23"/>
          <p:cNvSpPr/>
          <p:nvPr/>
        </p:nvSpPr>
        <p:spPr>
          <a:xfrm>
            <a:off x="622771" y="4451672"/>
            <a:ext cx="26322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Rishabh Alekar</a:t>
            </a:r>
            <a:endParaRPr b="0" i="0" sz="850" u="none" cap="none" strike="noStrike">
              <a:solidFill>
                <a:srgbClr val="000000"/>
              </a:solidFill>
              <a:latin typeface="Arial"/>
              <a:ea typeface="Arial"/>
              <a:cs typeface="Arial"/>
              <a:sym typeface="Arial"/>
            </a:endParaRPr>
          </a:p>
        </p:txBody>
      </p:sp>
      <p:sp>
        <p:nvSpPr>
          <p:cNvPr id="110" name="Google Shape;110;p23"/>
          <p:cNvSpPr/>
          <p:nvPr/>
        </p:nvSpPr>
        <p:spPr>
          <a:xfrm>
            <a:off x="3077096" y="4451672"/>
            <a:ext cx="22212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Problem Analysis Lead</a:t>
            </a:r>
            <a:endParaRPr b="0" i="0" sz="850" u="none" cap="none" strike="noStrike">
              <a:solidFill>
                <a:srgbClr val="000000"/>
              </a:solidFill>
              <a:latin typeface="Arial"/>
              <a:ea typeface="Arial"/>
              <a:cs typeface="Arial"/>
              <a:sym typeface="Arial"/>
            </a:endParaRPr>
          </a:p>
        </p:txBody>
      </p:sp>
      <p:sp>
        <p:nvSpPr>
          <p:cNvPr id="111" name="Google Shape;111;p23"/>
          <p:cNvSpPr/>
          <p:nvPr/>
        </p:nvSpPr>
        <p:spPr>
          <a:xfrm>
            <a:off x="5120357" y="4451672"/>
            <a:ext cx="26298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B.Tech CSE</a:t>
            </a:r>
            <a:endParaRPr b="0" i="0" sz="850" u="none" cap="none" strike="noStrike">
              <a:solidFill>
                <a:srgbClr val="000000"/>
              </a:solidFill>
              <a:latin typeface="Arial"/>
              <a:ea typeface="Arial"/>
              <a:cs typeface="Arial"/>
              <a:sym typeface="Arial"/>
            </a:endParaRPr>
          </a:p>
        </p:txBody>
      </p:sp>
      <p:sp>
        <p:nvSpPr>
          <p:cNvPr id="112" name="Google Shape;112;p23"/>
          <p:cNvSpPr/>
          <p:nvPr/>
        </p:nvSpPr>
        <p:spPr>
          <a:xfrm>
            <a:off x="7572301" y="4451672"/>
            <a:ext cx="1406100" cy="172800"/>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3rd Year</a:t>
            </a:r>
            <a:endParaRPr b="0" i="0" sz="850" u="none" cap="none" strike="noStrike">
              <a:solidFill>
                <a:srgbClr val="000000"/>
              </a:solidFill>
              <a:latin typeface="Arial"/>
              <a:ea typeface="Arial"/>
              <a:cs typeface="Arial"/>
              <a:sym typeface="Arial"/>
            </a:endParaRPr>
          </a:p>
        </p:txBody>
      </p:sp>
      <p:sp>
        <p:nvSpPr>
          <p:cNvPr id="113" name="Google Shape;113;p23"/>
          <p:cNvSpPr/>
          <p:nvPr/>
        </p:nvSpPr>
        <p:spPr>
          <a:xfrm>
            <a:off x="8035600" y="4849850"/>
            <a:ext cx="1059000" cy="249300"/>
          </a:xfrm>
          <a:prstGeom prst="rect">
            <a:avLst/>
          </a:prstGeom>
          <a:solidFill>
            <a:srgbClr val="F9F9FF"/>
          </a:solidFill>
          <a:ln cap="flat" cmpd="sng" w="9525">
            <a:solidFill>
              <a:srgbClr val="F9F9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p:nvPr/>
        </p:nvSpPr>
        <p:spPr>
          <a:xfrm>
            <a:off x="903759" y="328687"/>
            <a:ext cx="2933626" cy="26580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650"/>
              <a:buFont typeface="Alexandria"/>
              <a:buNone/>
            </a:pPr>
            <a:r>
              <a:rPr b="0" i="0" lang="en" sz="1650" u="none" cap="none" strike="noStrike">
                <a:solidFill>
                  <a:srgbClr val="1B1B27"/>
                </a:solidFill>
                <a:latin typeface="Alexandria"/>
                <a:ea typeface="Alexandria"/>
                <a:cs typeface="Alexandria"/>
                <a:sym typeface="Alexandria"/>
              </a:rPr>
              <a:t>The Business Challenge</a:t>
            </a:r>
            <a:endParaRPr b="0" i="0" sz="1650" u="none" cap="none" strike="noStrike">
              <a:solidFill>
                <a:srgbClr val="000000"/>
              </a:solidFill>
              <a:latin typeface="Arial"/>
              <a:ea typeface="Arial"/>
              <a:cs typeface="Arial"/>
              <a:sym typeface="Arial"/>
            </a:endParaRPr>
          </a:p>
        </p:txBody>
      </p:sp>
      <p:sp>
        <p:nvSpPr>
          <p:cNvPr id="120" name="Google Shape;120;p24"/>
          <p:cNvSpPr/>
          <p:nvPr/>
        </p:nvSpPr>
        <p:spPr>
          <a:xfrm>
            <a:off x="903759" y="753963"/>
            <a:ext cx="7336408" cy="297656"/>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Campus navigation fails everyone — but </a:t>
            </a:r>
            <a:r>
              <a:rPr b="1" i="0" lang="en" sz="800" u="none" cap="none" strike="noStrike">
                <a:solidFill>
                  <a:srgbClr val="1B54DA"/>
                </a:solidFill>
                <a:latin typeface="Nobile"/>
                <a:ea typeface="Nobile"/>
                <a:cs typeface="Nobile"/>
                <a:sym typeface="Nobile"/>
              </a:rPr>
              <a:t>fails disabled students completely.</a:t>
            </a:r>
            <a:r>
              <a:rPr b="0" i="0" lang="en" sz="800" u="none" cap="none" strike="noStrike">
                <a:solidFill>
                  <a:srgbClr val="404155"/>
                </a:solidFill>
                <a:latin typeface="Nobile"/>
                <a:ea typeface="Nobile"/>
                <a:cs typeface="Nobile"/>
                <a:sym typeface="Nobile"/>
              </a:rPr>
              <a:t> The gap between what navigation tools promise and what users actually experience is enormous — and measurable.</a:t>
            </a:r>
            <a:endParaRPr b="0" i="0" sz="800" u="none" cap="none" strike="noStrike">
              <a:solidFill>
                <a:srgbClr val="000000"/>
              </a:solidFill>
              <a:latin typeface="Arial"/>
              <a:ea typeface="Arial"/>
              <a:cs typeface="Arial"/>
              <a:sym typeface="Arial"/>
            </a:endParaRPr>
          </a:p>
        </p:txBody>
      </p:sp>
      <p:sp>
        <p:nvSpPr>
          <p:cNvPr id="121" name="Google Shape;121;p24"/>
          <p:cNvSpPr/>
          <p:nvPr/>
        </p:nvSpPr>
        <p:spPr>
          <a:xfrm>
            <a:off x="675159" y="1194420"/>
            <a:ext cx="1987972" cy="350862"/>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404155"/>
              </a:buClr>
              <a:buSzPts val="2750"/>
              <a:buFont typeface="Alexandria"/>
              <a:buNone/>
            </a:pPr>
            <a:r>
              <a:rPr b="0" i="0" lang="en" sz="2750" u="none" cap="none" strike="noStrike">
                <a:solidFill>
                  <a:srgbClr val="404155"/>
                </a:solidFill>
                <a:latin typeface="Alexandria"/>
                <a:ea typeface="Alexandria"/>
                <a:cs typeface="Alexandria"/>
                <a:sym typeface="Alexandria"/>
              </a:rPr>
              <a:t>93%</a:t>
            </a:r>
            <a:endParaRPr b="0" i="0" sz="2750" u="none" cap="none" strike="noStrike">
              <a:solidFill>
                <a:srgbClr val="000000"/>
              </a:solidFill>
              <a:latin typeface="Arial"/>
              <a:ea typeface="Arial"/>
              <a:cs typeface="Arial"/>
              <a:sym typeface="Arial"/>
            </a:endParaRPr>
          </a:p>
        </p:txBody>
      </p:sp>
      <p:sp>
        <p:nvSpPr>
          <p:cNvPr id="122" name="Google Shape;122;p24"/>
          <p:cNvSpPr/>
          <p:nvPr/>
        </p:nvSpPr>
        <p:spPr>
          <a:xfrm>
            <a:off x="840879" y="1630810"/>
            <a:ext cx="1656600" cy="166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1000"/>
              <a:buFont typeface="Alexandria"/>
              <a:buNone/>
            </a:pPr>
            <a:r>
              <a:rPr b="0" i="0" lang="en" sz="1000" u="none" cap="none" strike="noStrike">
                <a:solidFill>
                  <a:srgbClr val="404155"/>
                </a:solidFill>
                <a:latin typeface="Alexandria"/>
                <a:ea typeface="Alexandria"/>
                <a:cs typeface="Alexandria"/>
                <a:sym typeface="Alexandria"/>
              </a:rPr>
              <a:t>Orientation Problems</a:t>
            </a:r>
            <a:endParaRPr b="0" i="0" sz="1000" u="none" cap="none" strike="noStrike">
              <a:solidFill>
                <a:srgbClr val="000000"/>
              </a:solidFill>
              <a:latin typeface="Arial"/>
              <a:ea typeface="Arial"/>
              <a:cs typeface="Arial"/>
              <a:sym typeface="Arial"/>
            </a:endParaRPr>
          </a:p>
        </p:txBody>
      </p:sp>
      <p:sp>
        <p:nvSpPr>
          <p:cNvPr id="123" name="Google Shape;123;p24"/>
          <p:cNvSpPr/>
          <p:nvPr/>
        </p:nvSpPr>
        <p:spPr>
          <a:xfrm>
            <a:off x="903759" y="1872035"/>
            <a:ext cx="1759500" cy="446400"/>
          </a:xfrm>
          <a:prstGeom prst="rect">
            <a:avLst/>
          </a:prstGeom>
          <a:noFill/>
          <a:ln>
            <a:noFill/>
          </a:ln>
        </p:spPr>
        <p:txBody>
          <a:bodyPr anchorCtr="0" anchor="t" bIns="0" lIns="0" spcFirstLastPara="1" rIns="0" wrap="square" tIns="0">
            <a:noAutofit/>
          </a:bodyPr>
          <a:lstStyle/>
          <a:p>
            <a:pPr indent="0" lvl="0" marL="0" marR="0" rtl="0" algn="ctr">
              <a:lnSpc>
                <a:spcPct val="117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Students report difficulty navigating campus — Evelity survey, 300 students across 107 campuses (2025)</a:t>
            </a:r>
            <a:endParaRPr b="0" i="0" sz="800" u="none" cap="none" strike="noStrike">
              <a:solidFill>
                <a:srgbClr val="000000"/>
              </a:solidFill>
              <a:latin typeface="Arial"/>
              <a:ea typeface="Arial"/>
              <a:cs typeface="Arial"/>
              <a:sym typeface="Arial"/>
            </a:endParaRPr>
          </a:p>
        </p:txBody>
      </p:sp>
      <p:sp>
        <p:nvSpPr>
          <p:cNvPr id="124" name="Google Shape;124;p24"/>
          <p:cNvSpPr/>
          <p:nvPr/>
        </p:nvSpPr>
        <p:spPr>
          <a:xfrm>
            <a:off x="2534171" y="1194420"/>
            <a:ext cx="1987972" cy="350862"/>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404155"/>
              </a:buClr>
              <a:buSzPts val="2750"/>
              <a:buFont typeface="Alexandria"/>
              <a:buNone/>
            </a:pPr>
            <a:r>
              <a:rPr b="0" i="0" lang="en" sz="2750" u="none" cap="none" strike="noStrike">
                <a:solidFill>
                  <a:srgbClr val="404155"/>
                </a:solidFill>
                <a:latin typeface="Alexandria"/>
                <a:ea typeface="Alexandria"/>
                <a:cs typeface="Alexandria"/>
                <a:sym typeface="Alexandria"/>
              </a:rPr>
              <a:t>40%</a:t>
            </a:r>
            <a:endParaRPr b="0" i="0" sz="2750" u="none" cap="none" strike="noStrike">
              <a:solidFill>
                <a:srgbClr val="000000"/>
              </a:solidFill>
              <a:latin typeface="Arial"/>
              <a:ea typeface="Arial"/>
              <a:cs typeface="Arial"/>
              <a:sym typeface="Arial"/>
            </a:endParaRPr>
          </a:p>
        </p:txBody>
      </p:sp>
      <p:sp>
        <p:nvSpPr>
          <p:cNvPr id="125" name="Google Shape;125;p24"/>
          <p:cNvSpPr/>
          <p:nvPr/>
        </p:nvSpPr>
        <p:spPr>
          <a:xfrm>
            <a:off x="2863652" y="1625607"/>
            <a:ext cx="1557600" cy="166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1000"/>
              <a:buFont typeface="Alexandria"/>
              <a:buNone/>
            </a:pPr>
            <a:r>
              <a:rPr b="0" i="0" lang="en" sz="1000" u="none" cap="none" strike="noStrike">
                <a:solidFill>
                  <a:srgbClr val="404155"/>
                </a:solidFill>
                <a:latin typeface="Alexandria"/>
                <a:ea typeface="Alexandria"/>
                <a:cs typeface="Alexandria"/>
                <a:sym typeface="Alexandria"/>
              </a:rPr>
              <a:t>Arrive Late to Class</a:t>
            </a:r>
            <a:endParaRPr b="0" i="0" sz="1000" u="none" cap="none" strike="noStrike">
              <a:solidFill>
                <a:srgbClr val="000000"/>
              </a:solidFill>
              <a:latin typeface="Arial"/>
              <a:ea typeface="Arial"/>
              <a:cs typeface="Arial"/>
              <a:sym typeface="Arial"/>
            </a:endParaRPr>
          </a:p>
        </p:txBody>
      </p:sp>
      <p:sp>
        <p:nvSpPr>
          <p:cNvPr id="126" name="Google Shape;126;p24"/>
          <p:cNvSpPr/>
          <p:nvPr/>
        </p:nvSpPr>
        <p:spPr>
          <a:xfrm>
            <a:off x="2762771" y="1872035"/>
            <a:ext cx="1759372" cy="446484"/>
          </a:xfrm>
          <a:prstGeom prst="rect">
            <a:avLst/>
          </a:prstGeom>
          <a:noFill/>
          <a:ln>
            <a:noFill/>
          </a:ln>
        </p:spPr>
        <p:txBody>
          <a:bodyPr anchorCtr="0" anchor="t" bIns="0" lIns="0" spcFirstLastPara="1" rIns="0" wrap="square" tIns="0">
            <a:noAutofit/>
          </a:bodyPr>
          <a:lstStyle/>
          <a:p>
            <a:pPr indent="0" lvl="0" marL="0" marR="0" rtl="0" algn="ctr">
              <a:lnSpc>
                <a:spcPct val="117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Directly caused by navigation failure — same Evelity 2025 survey</a:t>
            </a:r>
            <a:endParaRPr b="0" i="0" sz="800" u="none" cap="none" strike="noStrike">
              <a:solidFill>
                <a:srgbClr val="000000"/>
              </a:solidFill>
              <a:latin typeface="Arial"/>
              <a:ea typeface="Arial"/>
              <a:cs typeface="Arial"/>
              <a:sym typeface="Arial"/>
            </a:endParaRPr>
          </a:p>
        </p:txBody>
      </p:sp>
      <p:sp>
        <p:nvSpPr>
          <p:cNvPr id="127" name="Google Shape;127;p24"/>
          <p:cNvSpPr/>
          <p:nvPr/>
        </p:nvSpPr>
        <p:spPr>
          <a:xfrm>
            <a:off x="4393183" y="1194420"/>
            <a:ext cx="1987972" cy="350862"/>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404155"/>
              </a:buClr>
              <a:buSzPts val="2750"/>
              <a:buFont typeface="Alexandria"/>
              <a:buNone/>
            </a:pPr>
            <a:r>
              <a:rPr b="0" i="0" lang="en" sz="2750" u="none" cap="none" strike="noStrike">
                <a:solidFill>
                  <a:srgbClr val="404155"/>
                </a:solidFill>
                <a:latin typeface="Alexandria"/>
                <a:ea typeface="Alexandria"/>
                <a:cs typeface="Alexandria"/>
                <a:sym typeface="Alexandria"/>
              </a:rPr>
              <a:t>330+</a:t>
            </a:r>
            <a:endParaRPr b="0" i="0" sz="2750" u="none" cap="none" strike="noStrike">
              <a:solidFill>
                <a:srgbClr val="000000"/>
              </a:solidFill>
              <a:latin typeface="Arial"/>
              <a:ea typeface="Arial"/>
              <a:cs typeface="Arial"/>
              <a:sym typeface="Arial"/>
            </a:endParaRPr>
          </a:p>
        </p:txBody>
      </p:sp>
      <p:sp>
        <p:nvSpPr>
          <p:cNvPr id="128" name="Google Shape;128;p24"/>
          <p:cNvSpPr/>
          <p:nvPr/>
        </p:nvSpPr>
        <p:spPr>
          <a:xfrm>
            <a:off x="4539928" y="1629804"/>
            <a:ext cx="1694400" cy="166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1000"/>
              <a:buFont typeface="Alexandria"/>
              <a:buNone/>
            </a:pPr>
            <a:r>
              <a:rPr b="0" i="0" lang="en" sz="1000" u="none" cap="none" strike="noStrike">
                <a:solidFill>
                  <a:srgbClr val="404155"/>
                </a:solidFill>
                <a:latin typeface="Alexandria"/>
                <a:ea typeface="Alexandria"/>
                <a:cs typeface="Alexandria"/>
                <a:sym typeface="Alexandria"/>
              </a:rPr>
              <a:t>Registered Disabilities</a:t>
            </a:r>
            <a:endParaRPr b="0" i="0" sz="1000" u="none" cap="none" strike="noStrike">
              <a:solidFill>
                <a:srgbClr val="000000"/>
              </a:solidFill>
              <a:latin typeface="Arial"/>
              <a:ea typeface="Arial"/>
              <a:cs typeface="Arial"/>
              <a:sym typeface="Arial"/>
            </a:endParaRPr>
          </a:p>
        </p:txBody>
      </p:sp>
      <p:sp>
        <p:nvSpPr>
          <p:cNvPr id="129" name="Google Shape;129;p24"/>
          <p:cNvSpPr/>
          <p:nvPr/>
        </p:nvSpPr>
        <p:spPr>
          <a:xfrm>
            <a:off x="4621783" y="1872035"/>
            <a:ext cx="1759372" cy="446484"/>
          </a:xfrm>
          <a:prstGeom prst="rect">
            <a:avLst/>
          </a:prstGeom>
          <a:noFill/>
          <a:ln>
            <a:noFill/>
          </a:ln>
        </p:spPr>
        <p:txBody>
          <a:bodyPr anchorCtr="0" anchor="t" bIns="0" lIns="0" spcFirstLastPara="1" rIns="0" wrap="square" tIns="0">
            <a:noAutofit/>
          </a:bodyPr>
          <a:lstStyle/>
          <a:p>
            <a:pPr indent="0" lvl="0" marL="0" marR="0" rtl="0" algn="ctr">
              <a:lnSpc>
                <a:spcPct val="117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On a 15,000-student campus — real need is 2–3× higher (MoSPI 2021)</a:t>
            </a:r>
            <a:endParaRPr b="0" i="0" sz="800" u="none" cap="none" strike="noStrike">
              <a:solidFill>
                <a:srgbClr val="000000"/>
              </a:solidFill>
              <a:latin typeface="Arial"/>
              <a:ea typeface="Arial"/>
              <a:cs typeface="Arial"/>
              <a:sym typeface="Arial"/>
            </a:endParaRPr>
          </a:p>
        </p:txBody>
      </p:sp>
      <p:sp>
        <p:nvSpPr>
          <p:cNvPr id="130" name="Google Shape;130;p24"/>
          <p:cNvSpPr/>
          <p:nvPr/>
        </p:nvSpPr>
        <p:spPr>
          <a:xfrm>
            <a:off x="6252195" y="1194420"/>
            <a:ext cx="1987972" cy="350862"/>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404155"/>
              </a:buClr>
              <a:buSzPts val="2750"/>
              <a:buFont typeface="Alexandria"/>
              <a:buNone/>
            </a:pPr>
            <a:r>
              <a:rPr b="0" i="0" lang="en" sz="2750" u="none" cap="none" strike="noStrike">
                <a:solidFill>
                  <a:srgbClr val="404155"/>
                </a:solidFill>
                <a:latin typeface="Alexandria"/>
                <a:ea typeface="Alexandria"/>
                <a:cs typeface="Alexandria"/>
                <a:sym typeface="Alexandria"/>
              </a:rPr>
              <a:t>46%</a:t>
            </a:r>
            <a:endParaRPr b="0" i="0" sz="2750" u="none" cap="none" strike="noStrike">
              <a:solidFill>
                <a:srgbClr val="000000"/>
              </a:solidFill>
              <a:latin typeface="Arial"/>
              <a:ea typeface="Arial"/>
              <a:cs typeface="Arial"/>
              <a:sym typeface="Arial"/>
            </a:endParaRPr>
          </a:p>
        </p:txBody>
      </p:sp>
      <p:sp>
        <p:nvSpPr>
          <p:cNvPr id="131" name="Google Shape;131;p24"/>
          <p:cNvSpPr/>
          <p:nvPr/>
        </p:nvSpPr>
        <p:spPr>
          <a:xfrm>
            <a:off x="6467326" y="1629804"/>
            <a:ext cx="1557600" cy="166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1000"/>
              <a:buFont typeface="Alexandria"/>
              <a:buNone/>
            </a:pPr>
            <a:r>
              <a:rPr b="0" i="0" lang="en" sz="1000" u="none" cap="none" strike="noStrike">
                <a:solidFill>
                  <a:srgbClr val="404155"/>
                </a:solidFill>
                <a:latin typeface="Alexandria"/>
                <a:ea typeface="Alexandria"/>
                <a:cs typeface="Alexandria"/>
                <a:sym typeface="Alexandria"/>
              </a:rPr>
              <a:t>App Uninstall Rate</a:t>
            </a:r>
            <a:endParaRPr b="0" i="0" sz="1000" u="none" cap="none" strike="noStrike">
              <a:solidFill>
                <a:srgbClr val="000000"/>
              </a:solidFill>
              <a:latin typeface="Arial"/>
              <a:ea typeface="Arial"/>
              <a:cs typeface="Arial"/>
              <a:sym typeface="Arial"/>
            </a:endParaRPr>
          </a:p>
        </p:txBody>
      </p:sp>
      <p:sp>
        <p:nvSpPr>
          <p:cNvPr id="132" name="Google Shape;132;p24"/>
          <p:cNvSpPr/>
          <p:nvPr/>
        </p:nvSpPr>
        <p:spPr>
          <a:xfrm>
            <a:off x="6480795" y="1872035"/>
            <a:ext cx="1759372" cy="446484"/>
          </a:xfrm>
          <a:prstGeom prst="rect">
            <a:avLst/>
          </a:prstGeom>
          <a:noFill/>
          <a:ln>
            <a:noFill/>
          </a:ln>
        </p:spPr>
        <p:txBody>
          <a:bodyPr anchorCtr="0" anchor="t" bIns="0" lIns="0" spcFirstLastPara="1" rIns="0" wrap="square" tIns="0">
            <a:noAutofit/>
          </a:bodyPr>
          <a:lstStyle/>
          <a:p>
            <a:pPr indent="0" lvl="0" marL="0" marR="0" rtl="0" algn="ctr">
              <a:lnSpc>
                <a:spcPct val="117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Android apps abandoned within 30 days of install — AppsFlyer 2025 benchmark</a:t>
            </a:r>
            <a:endParaRPr b="0" i="0" sz="800" u="none" cap="none" strike="noStrike">
              <a:solidFill>
                <a:srgbClr val="000000"/>
              </a:solidFill>
              <a:latin typeface="Arial"/>
              <a:ea typeface="Arial"/>
              <a:cs typeface="Arial"/>
              <a:sym typeface="Arial"/>
            </a:endParaRPr>
          </a:p>
        </p:txBody>
      </p:sp>
      <p:sp>
        <p:nvSpPr>
          <p:cNvPr id="133" name="Google Shape;133;p24"/>
          <p:cNvSpPr/>
          <p:nvPr/>
        </p:nvSpPr>
        <p:spPr>
          <a:xfrm>
            <a:off x="840884" y="2532235"/>
            <a:ext cx="2691600" cy="166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000"/>
              <a:buFont typeface="Alexandria"/>
              <a:buNone/>
            </a:pPr>
            <a:r>
              <a:rPr b="0" i="0" lang="en" sz="1000" u="none" cap="none" strike="noStrike">
                <a:solidFill>
                  <a:srgbClr val="1B1B27"/>
                </a:solidFill>
                <a:latin typeface="Alexandria"/>
                <a:ea typeface="Alexandria"/>
                <a:cs typeface="Alexandria"/>
                <a:sym typeface="Alexandria"/>
              </a:rPr>
              <a:t>Current Situation</a:t>
            </a:r>
            <a:endParaRPr b="0" i="0" sz="1000" u="none" cap="none" strike="noStrike">
              <a:solidFill>
                <a:srgbClr val="000000"/>
              </a:solidFill>
              <a:latin typeface="Arial"/>
              <a:ea typeface="Arial"/>
              <a:cs typeface="Arial"/>
              <a:sym typeface="Arial"/>
            </a:endParaRPr>
          </a:p>
        </p:txBody>
      </p:sp>
      <p:sp>
        <p:nvSpPr>
          <p:cNvPr id="134" name="Google Shape;134;p24"/>
          <p:cNvSpPr/>
          <p:nvPr/>
        </p:nvSpPr>
        <p:spPr>
          <a:xfrm>
            <a:off x="840884" y="2787996"/>
            <a:ext cx="3538500" cy="1595700"/>
          </a:xfrm>
          <a:prstGeom prst="roundRect">
            <a:avLst>
              <a:gd fmla="val 2799"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4"/>
          <p:cNvSpPr/>
          <p:nvPr/>
        </p:nvSpPr>
        <p:spPr>
          <a:xfrm>
            <a:off x="951984" y="2845295"/>
            <a:ext cx="2009100" cy="1488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404155"/>
              </a:buClr>
              <a:buSzPts val="800"/>
              <a:buFont typeface="Nobile"/>
              <a:buNone/>
            </a:pPr>
            <a:r>
              <a:rPr b="1" i="0" lang="en" sz="800" u="none" cap="none" strike="noStrike">
                <a:solidFill>
                  <a:srgbClr val="404155"/>
                </a:solidFill>
                <a:latin typeface="Nobile"/>
                <a:ea typeface="Nobile"/>
                <a:cs typeface="Nobile"/>
                <a:sym typeface="Nobile"/>
              </a:rPr>
              <a:t>Current Reality</a:t>
            </a:r>
            <a:endParaRPr b="0" i="0" sz="800" u="none" cap="none" strike="noStrike">
              <a:solidFill>
                <a:srgbClr val="000000"/>
              </a:solidFill>
              <a:latin typeface="Arial"/>
              <a:ea typeface="Arial"/>
              <a:cs typeface="Arial"/>
              <a:sym typeface="Arial"/>
            </a:endParaRPr>
          </a:p>
        </p:txBody>
      </p:sp>
      <p:sp>
        <p:nvSpPr>
          <p:cNvPr id="136" name="Google Shape;136;p24"/>
          <p:cNvSpPr/>
          <p:nvPr/>
        </p:nvSpPr>
        <p:spPr>
          <a:xfrm>
            <a:off x="2716416" y="2845295"/>
            <a:ext cx="2009100" cy="1488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404155"/>
              </a:buClr>
              <a:buSzPts val="800"/>
              <a:buFont typeface="Nobile"/>
              <a:buNone/>
            </a:pPr>
            <a:r>
              <a:rPr b="1" i="0" lang="en" sz="800" u="none" cap="none" strike="noStrike">
                <a:solidFill>
                  <a:srgbClr val="404155"/>
                </a:solidFill>
                <a:latin typeface="Nobile"/>
                <a:ea typeface="Nobile"/>
                <a:cs typeface="Nobile"/>
                <a:sym typeface="Nobile"/>
              </a:rPr>
              <a:t>What's Needed</a:t>
            </a:r>
            <a:endParaRPr b="0" i="0" sz="800" u="none" cap="none" strike="noStrike">
              <a:solidFill>
                <a:srgbClr val="000000"/>
              </a:solidFill>
              <a:latin typeface="Arial"/>
              <a:ea typeface="Arial"/>
              <a:cs typeface="Arial"/>
              <a:sym typeface="Arial"/>
            </a:endParaRPr>
          </a:p>
        </p:txBody>
      </p:sp>
      <p:sp>
        <p:nvSpPr>
          <p:cNvPr id="137" name="Google Shape;137;p24"/>
          <p:cNvSpPr/>
          <p:nvPr/>
        </p:nvSpPr>
        <p:spPr>
          <a:xfrm>
            <a:off x="951984" y="3103959"/>
            <a:ext cx="2009100" cy="1488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GPS fails indoors</a:t>
            </a:r>
            <a:endParaRPr b="0" i="0" sz="800" u="none" cap="none" strike="noStrike">
              <a:solidFill>
                <a:srgbClr val="000000"/>
              </a:solidFill>
              <a:latin typeface="Arial"/>
              <a:ea typeface="Arial"/>
              <a:cs typeface="Arial"/>
              <a:sym typeface="Arial"/>
            </a:endParaRPr>
          </a:p>
        </p:txBody>
      </p:sp>
      <p:sp>
        <p:nvSpPr>
          <p:cNvPr id="138" name="Google Shape;138;p24"/>
          <p:cNvSpPr/>
          <p:nvPr/>
        </p:nvSpPr>
        <p:spPr>
          <a:xfrm>
            <a:off x="2716416" y="3103959"/>
            <a:ext cx="2009100" cy="1488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Reliable indoor positioning</a:t>
            </a:r>
            <a:endParaRPr b="0" i="0" sz="800" u="none" cap="none" strike="noStrike">
              <a:solidFill>
                <a:srgbClr val="000000"/>
              </a:solidFill>
              <a:latin typeface="Arial"/>
              <a:ea typeface="Arial"/>
              <a:cs typeface="Arial"/>
              <a:sym typeface="Arial"/>
            </a:endParaRPr>
          </a:p>
        </p:txBody>
      </p:sp>
      <p:sp>
        <p:nvSpPr>
          <p:cNvPr id="139" name="Google Shape;139;p24"/>
          <p:cNvSpPr/>
          <p:nvPr/>
        </p:nvSpPr>
        <p:spPr>
          <a:xfrm>
            <a:off x="951984" y="3362622"/>
            <a:ext cx="2009100" cy="1488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Accessibility is incomplete</a:t>
            </a:r>
            <a:endParaRPr b="0" i="0" sz="800" u="none" cap="none" strike="noStrike">
              <a:solidFill>
                <a:srgbClr val="000000"/>
              </a:solidFill>
              <a:latin typeface="Arial"/>
              <a:ea typeface="Arial"/>
              <a:cs typeface="Arial"/>
              <a:sym typeface="Arial"/>
            </a:endParaRPr>
          </a:p>
        </p:txBody>
      </p:sp>
      <p:sp>
        <p:nvSpPr>
          <p:cNvPr id="140" name="Google Shape;140;p24"/>
          <p:cNvSpPr/>
          <p:nvPr/>
        </p:nvSpPr>
        <p:spPr>
          <a:xfrm>
            <a:off x="2716416" y="3362622"/>
            <a:ext cx="2009100" cy="1488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Disability-aware routing</a:t>
            </a:r>
            <a:endParaRPr b="0" i="0" sz="800" u="none" cap="none" strike="noStrike">
              <a:solidFill>
                <a:srgbClr val="000000"/>
              </a:solidFill>
              <a:latin typeface="Arial"/>
              <a:ea typeface="Arial"/>
              <a:cs typeface="Arial"/>
              <a:sym typeface="Arial"/>
            </a:endParaRPr>
          </a:p>
        </p:txBody>
      </p:sp>
      <p:sp>
        <p:nvSpPr>
          <p:cNvPr id="141" name="Google Shape;141;p24"/>
          <p:cNvSpPr/>
          <p:nvPr/>
        </p:nvSpPr>
        <p:spPr>
          <a:xfrm>
            <a:off x="951984" y="3621285"/>
            <a:ext cx="1551900" cy="2976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Maps ignore real-time constraints</a:t>
            </a:r>
            <a:endParaRPr b="0" i="0" sz="800" u="none" cap="none" strike="noStrike">
              <a:solidFill>
                <a:srgbClr val="000000"/>
              </a:solidFill>
              <a:latin typeface="Arial"/>
              <a:ea typeface="Arial"/>
              <a:cs typeface="Arial"/>
              <a:sym typeface="Arial"/>
            </a:endParaRPr>
          </a:p>
        </p:txBody>
      </p:sp>
      <p:sp>
        <p:nvSpPr>
          <p:cNvPr id="142" name="Google Shape;142;p24"/>
          <p:cNvSpPr/>
          <p:nvPr/>
        </p:nvSpPr>
        <p:spPr>
          <a:xfrm>
            <a:off x="2716416" y="3621285"/>
            <a:ext cx="2009100" cy="1488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Live campus context</a:t>
            </a:r>
            <a:endParaRPr b="0" i="0" sz="800" u="none" cap="none" strike="noStrike">
              <a:solidFill>
                <a:srgbClr val="000000"/>
              </a:solidFill>
              <a:latin typeface="Arial"/>
              <a:ea typeface="Arial"/>
              <a:cs typeface="Arial"/>
              <a:sym typeface="Arial"/>
            </a:endParaRPr>
          </a:p>
        </p:txBody>
      </p:sp>
      <p:sp>
        <p:nvSpPr>
          <p:cNvPr id="143" name="Google Shape;143;p24"/>
          <p:cNvSpPr/>
          <p:nvPr/>
        </p:nvSpPr>
        <p:spPr>
          <a:xfrm>
            <a:off x="951984" y="4028777"/>
            <a:ext cx="2009100" cy="1488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Apps depend on internet</a:t>
            </a:r>
            <a:endParaRPr b="0" i="0" sz="800" u="none" cap="none" strike="noStrike">
              <a:solidFill>
                <a:srgbClr val="000000"/>
              </a:solidFill>
              <a:latin typeface="Arial"/>
              <a:ea typeface="Arial"/>
              <a:cs typeface="Arial"/>
              <a:sym typeface="Arial"/>
            </a:endParaRPr>
          </a:p>
        </p:txBody>
      </p:sp>
      <p:sp>
        <p:nvSpPr>
          <p:cNvPr id="144" name="Google Shape;144;p24"/>
          <p:cNvSpPr/>
          <p:nvPr/>
        </p:nvSpPr>
        <p:spPr>
          <a:xfrm>
            <a:off x="2716416" y="4028777"/>
            <a:ext cx="1551900" cy="2976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Offline &amp; low-connectivity support</a:t>
            </a:r>
            <a:endParaRPr b="0" i="0" sz="800" u="none" cap="none" strike="noStrike">
              <a:solidFill>
                <a:srgbClr val="000000"/>
              </a:solidFill>
              <a:latin typeface="Arial"/>
              <a:ea typeface="Arial"/>
              <a:cs typeface="Arial"/>
              <a:sym typeface="Arial"/>
            </a:endParaRPr>
          </a:p>
        </p:txBody>
      </p:sp>
      <p:sp>
        <p:nvSpPr>
          <p:cNvPr id="145" name="Google Shape;145;p24"/>
          <p:cNvSpPr/>
          <p:nvPr/>
        </p:nvSpPr>
        <p:spPr>
          <a:xfrm>
            <a:off x="4643517" y="2532235"/>
            <a:ext cx="3204300" cy="166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000"/>
              <a:buFont typeface="Alexandria"/>
              <a:buNone/>
            </a:pPr>
            <a:r>
              <a:rPr b="0" i="0" lang="en" sz="1000" u="none" cap="none" strike="noStrike">
                <a:solidFill>
                  <a:srgbClr val="1B1B27"/>
                </a:solidFill>
                <a:latin typeface="Alexandria"/>
                <a:ea typeface="Alexandria"/>
                <a:cs typeface="Alexandria"/>
                <a:sym typeface="Alexandria"/>
              </a:rPr>
              <a:t>Existing App Issues - By The Numbers</a:t>
            </a:r>
            <a:endParaRPr b="0" i="0" sz="1000" u="none" cap="none" strike="noStrike">
              <a:solidFill>
                <a:srgbClr val="000000"/>
              </a:solidFill>
              <a:latin typeface="Arial"/>
              <a:ea typeface="Arial"/>
              <a:cs typeface="Arial"/>
              <a:sym typeface="Arial"/>
            </a:endParaRPr>
          </a:p>
        </p:txBody>
      </p:sp>
      <p:pic>
        <p:nvPicPr>
          <p:cNvPr descr="preencoded.png" id="146" name="Google Shape;146;p24"/>
          <p:cNvPicPr preferRelativeResize="0"/>
          <p:nvPr/>
        </p:nvPicPr>
        <p:blipFill rotWithShape="1">
          <a:blip r:embed="rId3">
            <a:alphaModFix/>
          </a:blip>
          <a:srcRect b="0" l="0" r="0" t="0"/>
          <a:stretch/>
        </p:blipFill>
        <p:spPr>
          <a:xfrm>
            <a:off x="4643517" y="2787996"/>
            <a:ext cx="3538463" cy="1981497"/>
          </a:xfrm>
          <a:prstGeom prst="rect">
            <a:avLst/>
          </a:prstGeom>
          <a:noFill/>
          <a:ln>
            <a:noFill/>
          </a:ln>
        </p:spPr>
      </p:pic>
      <p:sp>
        <p:nvSpPr>
          <p:cNvPr id="147" name="Google Shape;147;p24"/>
          <p:cNvSpPr/>
          <p:nvPr/>
        </p:nvSpPr>
        <p:spPr>
          <a:xfrm>
            <a:off x="8024680" y="4772973"/>
            <a:ext cx="1084977" cy="370527"/>
          </a:xfrm>
          <a:prstGeom prst="rect">
            <a:avLst/>
          </a:prstGeom>
          <a:solidFill>
            <a:srgbClr val="F9F9FF"/>
          </a:solidFill>
          <a:ln cap="flat" cmpd="sng" w="9525">
            <a:solidFill>
              <a:srgbClr val="F9F9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p:nvPr/>
        </p:nvSpPr>
        <p:spPr>
          <a:xfrm>
            <a:off x="1285875" y="316855"/>
            <a:ext cx="2362200" cy="23812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500"/>
              <a:buFont typeface="Alexandria"/>
              <a:buNone/>
            </a:pPr>
            <a:r>
              <a:rPr b="0" i="0" lang="en" sz="1650" u="none" cap="none" strike="noStrike">
                <a:solidFill>
                  <a:srgbClr val="1B1B27"/>
                </a:solidFill>
                <a:latin typeface="Alexandria"/>
                <a:ea typeface="Alexandria"/>
                <a:cs typeface="Alexandria"/>
                <a:sym typeface="Alexandria"/>
              </a:rPr>
              <a:t>Proposed Solution</a:t>
            </a:r>
            <a:endParaRPr b="0" i="0" sz="1650" u="none" cap="none" strike="noStrike">
              <a:solidFill>
                <a:srgbClr val="000000"/>
              </a:solidFill>
              <a:latin typeface="Arial"/>
              <a:ea typeface="Arial"/>
              <a:cs typeface="Arial"/>
              <a:sym typeface="Arial"/>
            </a:endParaRPr>
          </a:p>
        </p:txBody>
      </p:sp>
      <p:sp>
        <p:nvSpPr>
          <p:cNvPr id="154" name="Google Shape;154;p25"/>
          <p:cNvSpPr/>
          <p:nvPr/>
        </p:nvSpPr>
        <p:spPr>
          <a:xfrm>
            <a:off x="1285875" y="682972"/>
            <a:ext cx="6572250" cy="254794"/>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1" i="0" lang="en" sz="750" u="none" cap="none" strike="noStrike">
                <a:solidFill>
                  <a:srgbClr val="404155"/>
                </a:solidFill>
                <a:latin typeface="Nobile"/>
                <a:ea typeface="Nobile"/>
                <a:cs typeface="Nobile"/>
                <a:sym typeface="Nobile"/>
              </a:rPr>
              <a:t>CampusPilot AI</a:t>
            </a:r>
            <a:r>
              <a:rPr b="0" i="0" lang="en" sz="750" u="none" cap="none" strike="noStrike">
                <a:solidFill>
                  <a:srgbClr val="404155"/>
                </a:solidFill>
                <a:latin typeface="Nobile"/>
                <a:ea typeface="Nobile"/>
                <a:cs typeface="Nobile"/>
                <a:sym typeface="Nobile"/>
              </a:rPr>
              <a:t> is a conversational AI agent that knows where users are </a:t>
            </a:r>
            <a:r>
              <a:rPr b="0" i="1" lang="en" sz="750" u="none" cap="none" strike="noStrike">
                <a:solidFill>
                  <a:srgbClr val="404155"/>
                </a:solidFill>
                <a:latin typeface="Nobile"/>
                <a:ea typeface="Nobile"/>
                <a:cs typeface="Nobile"/>
                <a:sym typeface="Nobile"/>
              </a:rPr>
              <a:t>indoors</a:t>
            </a:r>
            <a:r>
              <a:rPr b="0" i="0" lang="en" sz="750" u="none" cap="none" strike="noStrike">
                <a:solidFill>
                  <a:srgbClr val="404155"/>
                </a:solidFill>
                <a:latin typeface="Nobile"/>
                <a:ea typeface="Nobile"/>
                <a:cs typeface="Nobile"/>
                <a:sym typeface="Nobile"/>
              </a:rPr>
              <a:t>, routes around real constraints, serves every disability profile, and works even when the internet doesn't.</a:t>
            </a:r>
            <a:endParaRPr b="0" i="0" sz="750" u="none" cap="none" strike="noStrike">
              <a:solidFill>
                <a:srgbClr val="000000"/>
              </a:solidFill>
              <a:latin typeface="Arial"/>
              <a:ea typeface="Arial"/>
              <a:cs typeface="Arial"/>
              <a:sym typeface="Arial"/>
            </a:endParaRPr>
          </a:p>
        </p:txBody>
      </p:sp>
      <p:sp>
        <p:nvSpPr>
          <p:cNvPr id="155" name="Google Shape;155;p25"/>
          <p:cNvSpPr/>
          <p:nvPr/>
        </p:nvSpPr>
        <p:spPr>
          <a:xfrm>
            <a:off x="1285875" y="1009724"/>
            <a:ext cx="2148036" cy="1043285"/>
          </a:xfrm>
          <a:prstGeom prst="roundRect">
            <a:avLst>
              <a:gd fmla="val 6573" name="adj"/>
            </a:avLst>
          </a:prstGeom>
          <a:solidFill>
            <a:srgbClr val="F9F9FF"/>
          </a:solidFill>
          <a:ln cap="flat" cmpd="sng" w="1427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5"/>
          <p:cNvSpPr/>
          <p:nvPr/>
        </p:nvSpPr>
        <p:spPr>
          <a:xfrm>
            <a:off x="1271588" y="1009724"/>
            <a:ext cx="57150" cy="1043285"/>
          </a:xfrm>
          <a:prstGeom prst="roundRect">
            <a:avLst>
              <a:gd fmla="val 70000" name="adj"/>
            </a:avLst>
          </a:prstGeom>
          <a:solidFill>
            <a:srgbClr val="1B54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5"/>
          <p:cNvSpPr/>
          <p:nvPr/>
        </p:nvSpPr>
        <p:spPr>
          <a:xfrm>
            <a:off x="1591302" y="1119237"/>
            <a:ext cx="1537200" cy="1488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900"/>
              <a:buFont typeface="Alexandria"/>
              <a:buNone/>
            </a:pPr>
            <a:r>
              <a:rPr b="0" i="0" lang="en" sz="900" u="none" cap="none" strike="noStrike">
                <a:solidFill>
                  <a:srgbClr val="404155"/>
                </a:solidFill>
                <a:latin typeface="Alexandria"/>
                <a:ea typeface="Alexandria"/>
                <a:cs typeface="Alexandria"/>
                <a:sym typeface="Alexandria"/>
              </a:rPr>
              <a:t>QR Indoor Positioning</a:t>
            </a:r>
            <a:endParaRPr b="0" i="0" sz="900" u="none" cap="none" strike="noStrike">
              <a:solidFill>
                <a:srgbClr val="000000"/>
              </a:solidFill>
              <a:latin typeface="Arial"/>
              <a:ea typeface="Arial"/>
              <a:cs typeface="Arial"/>
              <a:sym typeface="Arial"/>
            </a:endParaRPr>
          </a:p>
        </p:txBody>
      </p:sp>
      <p:sp>
        <p:nvSpPr>
          <p:cNvPr id="158" name="Google Shape;158;p25"/>
          <p:cNvSpPr/>
          <p:nvPr/>
        </p:nvSpPr>
        <p:spPr>
          <a:xfrm>
            <a:off x="1438275" y="1306488"/>
            <a:ext cx="1886100" cy="636900"/>
          </a:xfrm>
          <a:prstGeom prst="rect">
            <a:avLst/>
          </a:prstGeom>
          <a:noFill/>
          <a:ln>
            <a:noFill/>
          </a:ln>
        </p:spPr>
        <p:txBody>
          <a:bodyPr anchorCtr="0" anchor="t" bIns="0" lIns="0" spcFirstLastPara="1" rIns="0" wrap="square" tIns="0">
            <a:noAutofit/>
          </a:bodyPr>
          <a:lstStyle/>
          <a:p>
            <a:pPr indent="0" lvl="0" marL="0" marR="0" rtl="0" algn="ctr">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Precise indoor location from QR checkpoints placed at entrances, lifts, and corridor junctions — no GPS, no beacons, no power dependency, fully offline.</a:t>
            </a:r>
            <a:endParaRPr b="0" i="0" sz="750" u="none" cap="none" strike="noStrike">
              <a:solidFill>
                <a:srgbClr val="000000"/>
              </a:solidFill>
              <a:latin typeface="Arial"/>
              <a:ea typeface="Arial"/>
              <a:cs typeface="Arial"/>
              <a:sym typeface="Arial"/>
            </a:endParaRPr>
          </a:p>
        </p:txBody>
      </p:sp>
      <p:sp>
        <p:nvSpPr>
          <p:cNvPr id="159" name="Google Shape;159;p25"/>
          <p:cNvSpPr/>
          <p:nvPr/>
        </p:nvSpPr>
        <p:spPr>
          <a:xfrm>
            <a:off x="3497907" y="1009724"/>
            <a:ext cx="2148111" cy="1043285"/>
          </a:xfrm>
          <a:prstGeom prst="roundRect">
            <a:avLst>
              <a:gd fmla="val 6573" name="adj"/>
            </a:avLst>
          </a:prstGeom>
          <a:solidFill>
            <a:srgbClr val="F9F9FF"/>
          </a:solidFill>
          <a:ln cap="flat" cmpd="sng" w="1427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5"/>
          <p:cNvSpPr/>
          <p:nvPr/>
        </p:nvSpPr>
        <p:spPr>
          <a:xfrm>
            <a:off x="3483620" y="1009724"/>
            <a:ext cx="57150" cy="1043285"/>
          </a:xfrm>
          <a:prstGeom prst="roundRect">
            <a:avLst>
              <a:gd fmla="val 70000" name="adj"/>
            </a:avLst>
          </a:prstGeom>
          <a:solidFill>
            <a:srgbClr val="1B54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5"/>
          <p:cNvSpPr/>
          <p:nvPr/>
        </p:nvSpPr>
        <p:spPr>
          <a:xfrm>
            <a:off x="3729864" y="1119262"/>
            <a:ext cx="1776900" cy="1488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900"/>
              <a:buFont typeface="Alexandria"/>
              <a:buNone/>
            </a:pPr>
            <a:r>
              <a:rPr b="0" i="0" lang="en" sz="900" u="none" cap="none" strike="noStrike">
                <a:solidFill>
                  <a:srgbClr val="404155"/>
                </a:solidFill>
                <a:latin typeface="Alexandria"/>
                <a:ea typeface="Alexandria"/>
                <a:cs typeface="Alexandria"/>
                <a:sym typeface="Alexandria"/>
              </a:rPr>
              <a:t>Conversational Navigation</a:t>
            </a:r>
            <a:endParaRPr b="0" i="0" sz="900" u="none" cap="none" strike="noStrike">
              <a:solidFill>
                <a:srgbClr val="000000"/>
              </a:solidFill>
              <a:latin typeface="Arial"/>
              <a:ea typeface="Arial"/>
              <a:cs typeface="Arial"/>
              <a:sym typeface="Arial"/>
            </a:endParaRPr>
          </a:p>
        </p:txBody>
      </p:sp>
      <p:sp>
        <p:nvSpPr>
          <p:cNvPr id="162" name="Google Shape;162;p25"/>
          <p:cNvSpPr/>
          <p:nvPr/>
        </p:nvSpPr>
        <p:spPr>
          <a:xfrm>
            <a:off x="3650307" y="1306488"/>
            <a:ext cx="1886100" cy="382200"/>
          </a:xfrm>
          <a:prstGeom prst="rect">
            <a:avLst/>
          </a:prstGeom>
          <a:noFill/>
          <a:ln>
            <a:noFill/>
          </a:ln>
        </p:spPr>
        <p:txBody>
          <a:bodyPr anchorCtr="0" anchor="t" bIns="0" lIns="0" spcFirstLastPara="1" rIns="0" wrap="square" tIns="0">
            <a:noAutofit/>
          </a:bodyPr>
          <a:lstStyle/>
          <a:p>
            <a:pPr indent="0" lvl="0" marL="0" marR="0" rtl="0" algn="ctr">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Natural language queries understood by an LLM agent — intent, location, and constraints resolved in one exchange.</a:t>
            </a:r>
            <a:endParaRPr b="0" i="0" sz="750" u="none" cap="none" strike="noStrike">
              <a:solidFill>
                <a:srgbClr val="000000"/>
              </a:solidFill>
              <a:latin typeface="Arial"/>
              <a:ea typeface="Arial"/>
              <a:cs typeface="Arial"/>
              <a:sym typeface="Arial"/>
            </a:endParaRPr>
          </a:p>
        </p:txBody>
      </p:sp>
      <p:sp>
        <p:nvSpPr>
          <p:cNvPr id="163" name="Google Shape;163;p25"/>
          <p:cNvSpPr/>
          <p:nvPr/>
        </p:nvSpPr>
        <p:spPr>
          <a:xfrm>
            <a:off x="5710014" y="1009724"/>
            <a:ext cx="2148036" cy="1043285"/>
          </a:xfrm>
          <a:prstGeom prst="roundRect">
            <a:avLst>
              <a:gd fmla="val 6573" name="adj"/>
            </a:avLst>
          </a:prstGeom>
          <a:solidFill>
            <a:srgbClr val="F9F9FF"/>
          </a:solidFill>
          <a:ln cap="flat" cmpd="sng" w="1427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5"/>
          <p:cNvSpPr/>
          <p:nvPr/>
        </p:nvSpPr>
        <p:spPr>
          <a:xfrm>
            <a:off x="5695727" y="1009724"/>
            <a:ext cx="57150" cy="1043285"/>
          </a:xfrm>
          <a:prstGeom prst="roundRect">
            <a:avLst>
              <a:gd fmla="val 70000" name="adj"/>
            </a:avLst>
          </a:prstGeom>
          <a:solidFill>
            <a:srgbClr val="1B54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5"/>
          <p:cNvSpPr/>
          <p:nvPr/>
        </p:nvSpPr>
        <p:spPr>
          <a:xfrm>
            <a:off x="5964263" y="1119287"/>
            <a:ext cx="1682400" cy="1488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900"/>
              <a:buFont typeface="Alexandria"/>
              <a:buNone/>
            </a:pPr>
            <a:r>
              <a:rPr b="0" i="0" lang="en" sz="900" u="none" cap="none" strike="noStrike">
                <a:solidFill>
                  <a:srgbClr val="404155"/>
                </a:solidFill>
                <a:latin typeface="Alexandria"/>
                <a:ea typeface="Alexandria"/>
                <a:cs typeface="Alexandria"/>
                <a:sym typeface="Alexandria"/>
              </a:rPr>
              <a:t>Accessibility Intelligence</a:t>
            </a:r>
            <a:endParaRPr b="0" i="0" sz="900" u="none" cap="none" strike="noStrike">
              <a:solidFill>
                <a:srgbClr val="000000"/>
              </a:solidFill>
              <a:latin typeface="Arial"/>
              <a:ea typeface="Arial"/>
              <a:cs typeface="Arial"/>
              <a:sym typeface="Arial"/>
            </a:endParaRPr>
          </a:p>
        </p:txBody>
      </p:sp>
      <p:sp>
        <p:nvSpPr>
          <p:cNvPr id="166" name="Google Shape;166;p25"/>
          <p:cNvSpPr/>
          <p:nvPr/>
        </p:nvSpPr>
        <p:spPr>
          <a:xfrm>
            <a:off x="5862414" y="1306488"/>
            <a:ext cx="1886099" cy="382191"/>
          </a:xfrm>
          <a:prstGeom prst="rect">
            <a:avLst/>
          </a:prstGeom>
          <a:noFill/>
          <a:ln>
            <a:noFill/>
          </a:ln>
        </p:spPr>
        <p:txBody>
          <a:bodyPr anchorCtr="0" anchor="t" bIns="0" lIns="0" spcFirstLastPara="1" rIns="0" wrap="square" tIns="0">
            <a:noAutofit/>
          </a:bodyPr>
          <a:lstStyle/>
          <a:p>
            <a:pPr indent="0" lvl="0" marL="0" marR="0" rtl="0" algn="ctr">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Five disability profiles: wheelchair, vision-impaired, hearing-impaired, cognitive, and invisible. WCAG 2.1 compliant.</a:t>
            </a:r>
            <a:endParaRPr b="0" i="0" sz="750" u="none" cap="none" strike="noStrike">
              <a:solidFill>
                <a:srgbClr val="000000"/>
              </a:solidFill>
              <a:latin typeface="Arial"/>
              <a:ea typeface="Arial"/>
              <a:cs typeface="Arial"/>
              <a:sym typeface="Arial"/>
            </a:endParaRPr>
          </a:p>
        </p:txBody>
      </p:sp>
      <p:sp>
        <p:nvSpPr>
          <p:cNvPr id="167" name="Google Shape;167;p25"/>
          <p:cNvSpPr/>
          <p:nvPr/>
        </p:nvSpPr>
        <p:spPr>
          <a:xfrm>
            <a:off x="2391891" y="2117006"/>
            <a:ext cx="2148036" cy="788491"/>
          </a:xfrm>
          <a:prstGeom prst="roundRect">
            <a:avLst>
              <a:gd fmla="val 8698" name="adj"/>
            </a:avLst>
          </a:prstGeom>
          <a:solidFill>
            <a:srgbClr val="F9F9FF"/>
          </a:solidFill>
          <a:ln cap="flat" cmpd="sng" w="1427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5"/>
          <p:cNvSpPr/>
          <p:nvPr/>
        </p:nvSpPr>
        <p:spPr>
          <a:xfrm>
            <a:off x="2377604" y="2117006"/>
            <a:ext cx="57150" cy="788491"/>
          </a:xfrm>
          <a:prstGeom prst="roundRect">
            <a:avLst>
              <a:gd fmla="val 70000" name="adj"/>
            </a:avLst>
          </a:prstGeom>
          <a:solidFill>
            <a:srgbClr val="1B54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5"/>
          <p:cNvSpPr/>
          <p:nvPr/>
        </p:nvSpPr>
        <p:spPr>
          <a:xfrm>
            <a:off x="2756303" y="2206718"/>
            <a:ext cx="1419300" cy="1488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900"/>
              <a:buFont typeface="Alexandria"/>
              <a:buNone/>
            </a:pPr>
            <a:r>
              <a:rPr b="0" i="0" lang="en" sz="900" u="none" cap="none" strike="noStrike">
                <a:solidFill>
                  <a:srgbClr val="404155"/>
                </a:solidFill>
                <a:latin typeface="Alexandria"/>
                <a:ea typeface="Alexandria"/>
                <a:cs typeface="Alexandria"/>
                <a:sym typeface="Alexandria"/>
              </a:rPr>
              <a:t>Shadow Mapping</a:t>
            </a:r>
            <a:endParaRPr b="0" i="0" sz="900" u="none" cap="none" strike="noStrike">
              <a:solidFill>
                <a:srgbClr val="000000"/>
              </a:solidFill>
              <a:latin typeface="Arial"/>
              <a:ea typeface="Arial"/>
              <a:cs typeface="Arial"/>
              <a:sym typeface="Arial"/>
            </a:endParaRPr>
          </a:p>
        </p:txBody>
      </p:sp>
      <p:sp>
        <p:nvSpPr>
          <p:cNvPr id="170" name="Google Shape;170;p25"/>
          <p:cNvSpPr/>
          <p:nvPr/>
        </p:nvSpPr>
        <p:spPr>
          <a:xfrm>
            <a:off x="2544291" y="2413769"/>
            <a:ext cx="1886099" cy="382191"/>
          </a:xfrm>
          <a:prstGeom prst="rect">
            <a:avLst/>
          </a:prstGeom>
          <a:noFill/>
          <a:ln>
            <a:noFill/>
          </a:ln>
        </p:spPr>
        <p:txBody>
          <a:bodyPr anchorCtr="0" anchor="t" bIns="0" lIns="0" spcFirstLastPara="1" rIns="0" wrap="square" tIns="0">
            <a:noAutofit/>
          </a:bodyPr>
          <a:lstStyle/>
          <a:p>
            <a:pPr indent="0" lvl="0" marL="0" marR="0" rtl="0" algn="ctr">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Official map + real-usage map. Micro-feedback continuously corrects inaccurate campus data automatically.</a:t>
            </a:r>
            <a:endParaRPr b="0" i="0" sz="750" u="none" cap="none" strike="noStrike">
              <a:solidFill>
                <a:srgbClr val="000000"/>
              </a:solidFill>
              <a:latin typeface="Arial"/>
              <a:ea typeface="Arial"/>
              <a:cs typeface="Arial"/>
              <a:sym typeface="Arial"/>
            </a:endParaRPr>
          </a:p>
        </p:txBody>
      </p:sp>
      <p:sp>
        <p:nvSpPr>
          <p:cNvPr id="171" name="Google Shape;171;p25"/>
          <p:cNvSpPr/>
          <p:nvPr/>
        </p:nvSpPr>
        <p:spPr>
          <a:xfrm>
            <a:off x="4603924" y="2117006"/>
            <a:ext cx="2148111" cy="788491"/>
          </a:xfrm>
          <a:prstGeom prst="roundRect">
            <a:avLst>
              <a:gd fmla="val 8698" name="adj"/>
            </a:avLst>
          </a:prstGeom>
          <a:solidFill>
            <a:srgbClr val="F9F9FF"/>
          </a:solidFill>
          <a:ln cap="flat" cmpd="sng" w="1427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25"/>
          <p:cNvSpPr/>
          <p:nvPr/>
        </p:nvSpPr>
        <p:spPr>
          <a:xfrm>
            <a:off x="4589636" y="2117006"/>
            <a:ext cx="57150" cy="788491"/>
          </a:xfrm>
          <a:prstGeom prst="roundRect">
            <a:avLst>
              <a:gd fmla="val 70000" name="adj"/>
            </a:avLst>
          </a:prstGeom>
          <a:solidFill>
            <a:srgbClr val="1B54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5"/>
          <p:cNvSpPr/>
          <p:nvPr/>
        </p:nvSpPr>
        <p:spPr>
          <a:xfrm>
            <a:off x="4968374" y="2206731"/>
            <a:ext cx="1419300" cy="1488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900"/>
              <a:buFont typeface="Alexandria"/>
              <a:buNone/>
            </a:pPr>
            <a:r>
              <a:rPr b="0" i="0" lang="en" sz="900" u="none" cap="none" strike="noStrike">
                <a:solidFill>
                  <a:srgbClr val="404155"/>
                </a:solidFill>
                <a:latin typeface="Alexandria"/>
                <a:ea typeface="Alexandria"/>
                <a:cs typeface="Alexandria"/>
                <a:sym typeface="Alexandria"/>
              </a:rPr>
              <a:t>Bluetooth Mesh</a:t>
            </a:r>
            <a:endParaRPr b="0" i="0" sz="900" u="none" cap="none" strike="noStrike">
              <a:solidFill>
                <a:srgbClr val="000000"/>
              </a:solidFill>
              <a:latin typeface="Arial"/>
              <a:ea typeface="Arial"/>
              <a:cs typeface="Arial"/>
              <a:sym typeface="Arial"/>
            </a:endParaRPr>
          </a:p>
        </p:txBody>
      </p:sp>
      <p:sp>
        <p:nvSpPr>
          <p:cNvPr id="174" name="Google Shape;174;p25"/>
          <p:cNvSpPr/>
          <p:nvPr/>
        </p:nvSpPr>
        <p:spPr>
          <a:xfrm>
            <a:off x="4756324" y="2413769"/>
            <a:ext cx="1886173" cy="382191"/>
          </a:xfrm>
          <a:prstGeom prst="rect">
            <a:avLst/>
          </a:prstGeom>
          <a:noFill/>
          <a:ln>
            <a:noFill/>
          </a:ln>
        </p:spPr>
        <p:txBody>
          <a:bodyPr anchorCtr="0" anchor="t" bIns="0" lIns="0" spcFirstLastPara="1" rIns="0" wrap="square" tIns="0">
            <a:noAutofit/>
          </a:bodyPr>
          <a:lstStyle/>
          <a:p>
            <a:pPr indent="0" lvl="0" marL="0" marR="0" rtl="0" algn="ctr">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Every phone is a data node. Crowd alerts and emergency signals travel device-to-device without internet.</a:t>
            </a:r>
            <a:endParaRPr b="0" i="0" sz="750" u="none" cap="none" strike="noStrike">
              <a:solidFill>
                <a:srgbClr val="000000"/>
              </a:solidFill>
              <a:latin typeface="Arial"/>
              <a:ea typeface="Arial"/>
              <a:cs typeface="Arial"/>
              <a:sym typeface="Arial"/>
            </a:endParaRPr>
          </a:p>
        </p:txBody>
      </p:sp>
      <p:sp>
        <p:nvSpPr>
          <p:cNvPr id="175" name="Google Shape;175;p25"/>
          <p:cNvSpPr/>
          <p:nvPr/>
        </p:nvSpPr>
        <p:spPr>
          <a:xfrm>
            <a:off x="3393430" y="3001491"/>
            <a:ext cx="2128540" cy="14882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B1B27"/>
              </a:buClr>
              <a:buSzPts val="900"/>
              <a:buFont typeface="Alexandria"/>
              <a:buNone/>
            </a:pPr>
            <a:r>
              <a:rPr b="0" i="0" lang="en" sz="900" u="none" cap="none" strike="noStrike">
                <a:solidFill>
                  <a:srgbClr val="1B1B27"/>
                </a:solidFill>
                <a:latin typeface="Alexandria"/>
                <a:ea typeface="Alexandria"/>
                <a:cs typeface="Alexandria"/>
                <a:sym typeface="Alexandria"/>
              </a:rPr>
              <a:t>How We Are Different</a:t>
            </a:r>
            <a:endParaRPr b="0" i="0" sz="900" u="none" cap="none" strike="noStrike">
              <a:solidFill>
                <a:srgbClr val="000000"/>
              </a:solidFill>
              <a:latin typeface="Arial"/>
              <a:ea typeface="Arial"/>
              <a:cs typeface="Arial"/>
              <a:sym typeface="Arial"/>
            </a:endParaRPr>
          </a:p>
        </p:txBody>
      </p:sp>
      <p:sp>
        <p:nvSpPr>
          <p:cNvPr id="176" name="Google Shape;176;p25"/>
          <p:cNvSpPr/>
          <p:nvPr/>
        </p:nvSpPr>
        <p:spPr>
          <a:xfrm>
            <a:off x="1285875" y="3246313"/>
            <a:ext cx="6572250" cy="1380976"/>
          </a:xfrm>
          <a:prstGeom prst="roundRect">
            <a:avLst>
              <a:gd fmla="val 2897"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5"/>
          <p:cNvSpPr/>
          <p:nvPr/>
        </p:nvSpPr>
        <p:spPr>
          <a:xfrm>
            <a:off x="1385962" y="3294236"/>
            <a:ext cx="2101825" cy="12739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1" i="0" lang="en" sz="750" u="none" cap="none" strike="noStrike">
                <a:solidFill>
                  <a:srgbClr val="404155"/>
                </a:solidFill>
                <a:latin typeface="Nobile"/>
                <a:ea typeface="Nobile"/>
                <a:cs typeface="Nobile"/>
                <a:sym typeface="Nobile"/>
              </a:rPr>
              <a:t>Capability</a:t>
            </a:r>
            <a:endParaRPr b="0" i="0" sz="750" u="none" cap="none" strike="noStrike">
              <a:solidFill>
                <a:srgbClr val="000000"/>
              </a:solidFill>
              <a:latin typeface="Arial"/>
              <a:ea typeface="Arial"/>
              <a:cs typeface="Arial"/>
              <a:sym typeface="Arial"/>
            </a:endParaRPr>
          </a:p>
        </p:txBody>
      </p:sp>
      <p:sp>
        <p:nvSpPr>
          <p:cNvPr id="178" name="Google Shape;178;p25"/>
          <p:cNvSpPr/>
          <p:nvPr/>
        </p:nvSpPr>
        <p:spPr>
          <a:xfrm>
            <a:off x="3225850" y="3294236"/>
            <a:ext cx="2624510" cy="12739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1" i="0" lang="en" sz="750" u="none" cap="none" strike="noStrike">
                <a:solidFill>
                  <a:srgbClr val="404155"/>
                </a:solidFill>
                <a:latin typeface="Nobile"/>
                <a:ea typeface="Nobile"/>
                <a:cs typeface="Nobile"/>
                <a:sym typeface="Nobile"/>
              </a:rPr>
              <a:t>Existing Apps</a:t>
            </a:r>
            <a:endParaRPr b="0" i="0" sz="750" u="none" cap="none" strike="noStrike">
              <a:solidFill>
                <a:srgbClr val="000000"/>
              </a:solidFill>
              <a:latin typeface="Arial"/>
              <a:ea typeface="Arial"/>
              <a:cs typeface="Arial"/>
              <a:sym typeface="Arial"/>
            </a:endParaRPr>
          </a:p>
        </p:txBody>
      </p:sp>
      <p:sp>
        <p:nvSpPr>
          <p:cNvPr id="179" name="Google Shape;179;p25"/>
          <p:cNvSpPr/>
          <p:nvPr/>
        </p:nvSpPr>
        <p:spPr>
          <a:xfrm>
            <a:off x="5588422" y="3294236"/>
            <a:ext cx="2626891" cy="12739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1" i="0" lang="en" sz="750" u="none" cap="none" strike="noStrike">
                <a:solidFill>
                  <a:srgbClr val="404155"/>
                </a:solidFill>
                <a:latin typeface="Nobile"/>
                <a:ea typeface="Nobile"/>
                <a:cs typeface="Nobile"/>
                <a:sym typeface="Nobile"/>
              </a:rPr>
              <a:t>CampusPilot AI</a:t>
            </a:r>
            <a:endParaRPr b="0" i="0" sz="750" u="none" cap="none" strike="noStrike">
              <a:solidFill>
                <a:srgbClr val="000000"/>
              </a:solidFill>
              <a:latin typeface="Arial"/>
              <a:ea typeface="Arial"/>
              <a:cs typeface="Arial"/>
              <a:sym typeface="Arial"/>
            </a:endParaRPr>
          </a:p>
        </p:txBody>
      </p:sp>
      <p:sp>
        <p:nvSpPr>
          <p:cNvPr id="180" name="Google Shape;180;p25"/>
          <p:cNvSpPr/>
          <p:nvPr/>
        </p:nvSpPr>
        <p:spPr>
          <a:xfrm>
            <a:off x="1385962" y="3512716"/>
            <a:ext cx="2101825"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600"/>
              <a:buFont typeface="Nobile"/>
              <a:buNone/>
            </a:pPr>
            <a:r>
              <a:rPr b="0" i="0" lang="en" sz="600" u="none" cap="none" strike="noStrike">
                <a:solidFill>
                  <a:srgbClr val="404155"/>
                </a:solidFill>
                <a:latin typeface="Nobile"/>
                <a:ea typeface="Nobile"/>
                <a:cs typeface="Nobile"/>
                <a:sym typeface="Nobile"/>
              </a:rPr>
              <a:t>Indoor navigation</a:t>
            </a:r>
            <a:endParaRPr b="0" i="0" sz="600" u="none" cap="none" strike="noStrike">
              <a:solidFill>
                <a:srgbClr val="000000"/>
              </a:solidFill>
              <a:latin typeface="Arial"/>
              <a:ea typeface="Arial"/>
              <a:cs typeface="Arial"/>
              <a:sym typeface="Arial"/>
            </a:endParaRPr>
          </a:p>
        </p:txBody>
      </p:sp>
      <p:sp>
        <p:nvSpPr>
          <p:cNvPr id="181" name="Google Shape;181;p25"/>
          <p:cNvSpPr/>
          <p:nvPr/>
        </p:nvSpPr>
        <p:spPr>
          <a:xfrm>
            <a:off x="3225850" y="3512716"/>
            <a:ext cx="2624510"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600"/>
              <a:buFont typeface="Nobile"/>
              <a:buNone/>
            </a:pPr>
            <a:r>
              <a:rPr b="0" i="0" lang="en" sz="600" u="none" cap="none" strike="noStrike">
                <a:solidFill>
                  <a:srgbClr val="404155"/>
                </a:solidFill>
                <a:latin typeface="Nobile"/>
                <a:ea typeface="Nobile"/>
                <a:cs typeface="Nobile"/>
                <a:sym typeface="Nobile"/>
              </a:rPr>
              <a:t>Limited or GPS-dependent</a:t>
            </a:r>
            <a:endParaRPr b="0" i="0" sz="600" u="none" cap="none" strike="noStrike">
              <a:solidFill>
                <a:srgbClr val="000000"/>
              </a:solidFill>
              <a:latin typeface="Arial"/>
              <a:ea typeface="Arial"/>
              <a:cs typeface="Arial"/>
              <a:sym typeface="Arial"/>
            </a:endParaRPr>
          </a:p>
        </p:txBody>
      </p:sp>
      <p:sp>
        <p:nvSpPr>
          <p:cNvPr id="182" name="Google Shape;182;p25"/>
          <p:cNvSpPr/>
          <p:nvPr/>
        </p:nvSpPr>
        <p:spPr>
          <a:xfrm>
            <a:off x="5588422" y="3512716"/>
            <a:ext cx="2626891"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1B54DA"/>
              </a:buClr>
              <a:buSzPts val="600"/>
              <a:buFont typeface="Nobile"/>
              <a:buNone/>
            </a:pPr>
            <a:r>
              <a:rPr b="0" i="0" lang="en" sz="600" u="none" cap="none" strike="noStrike">
                <a:solidFill>
                  <a:srgbClr val="1B54DA"/>
                </a:solidFill>
                <a:latin typeface="Nobile"/>
                <a:ea typeface="Nobile"/>
                <a:cs typeface="Nobile"/>
                <a:sym typeface="Nobile"/>
              </a:rPr>
              <a:t>QR-based indoor positioning</a:t>
            </a:r>
            <a:endParaRPr b="0" i="0" sz="600" u="none" cap="none" strike="noStrike">
              <a:solidFill>
                <a:srgbClr val="000000"/>
              </a:solidFill>
              <a:latin typeface="Arial"/>
              <a:ea typeface="Arial"/>
              <a:cs typeface="Arial"/>
              <a:sym typeface="Arial"/>
            </a:endParaRPr>
          </a:p>
        </p:txBody>
      </p:sp>
      <p:sp>
        <p:nvSpPr>
          <p:cNvPr id="183" name="Google Shape;183;p25"/>
          <p:cNvSpPr/>
          <p:nvPr/>
        </p:nvSpPr>
        <p:spPr>
          <a:xfrm>
            <a:off x="1385962" y="3705671"/>
            <a:ext cx="2101825"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600"/>
              <a:buFont typeface="Nobile"/>
              <a:buNone/>
            </a:pPr>
            <a:r>
              <a:rPr b="0" i="0" lang="en" sz="600" u="none" cap="none" strike="noStrike">
                <a:solidFill>
                  <a:srgbClr val="404155"/>
                </a:solidFill>
                <a:latin typeface="Nobile"/>
                <a:ea typeface="Nobile"/>
                <a:cs typeface="Nobile"/>
                <a:sym typeface="Nobile"/>
              </a:rPr>
              <a:t>Disability coverage</a:t>
            </a:r>
            <a:endParaRPr b="0" i="0" sz="600" u="none" cap="none" strike="noStrike">
              <a:solidFill>
                <a:srgbClr val="000000"/>
              </a:solidFill>
              <a:latin typeface="Arial"/>
              <a:ea typeface="Arial"/>
              <a:cs typeface="Arial"/>
              <a:sym typeface="Arial"/>
            </a:endParaRPr>
          </a:p>
        </p:txBody>
      </p:sp>
      <p:sp>
        <p:nvSpPr>
          <p:cNvPr id="184" name="Google Shape;184;p25"/>
          <p:cNvSpPr/>
          <p:nvPr/>
        </p:nvSpPr>
        <p:spPr>
          <a:xfrm>
            <a:off x="3225850" y="3705671"/>
            <a:ext cx="2624510"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600"/>
              <a:buFont typeface="Nobile"/>
              <a:buNone/>
            </a:pPr>
            <a:r>
              <a:rPr b="0" i="0" lang="en" sz="600" u="none" cap="none" strike="noStrike">
                <a:solidFill>
                  <a:srgbClr val="404155"/>
                </a:solidFill>
                <a:latin typeface="Nobile"/>
                <a:ea typeface="Nobile"/>
                <a:cs typeface="Nobile"/>
                <a:sym typeface="Nobile"/>
              </a:rPr>
              <a:t>Usually 1–2 profiles</a:t>
            </a:r>
            <a:endParaRPr b="0" i="0" sz="600" u="none" cap="none" strike="noStrike">
              <a:solidFill>
                <a:srgbClr val="000000"/>
              </a:solidFill>
              <a:latin typeface="Arial"/>
              <a:ea typeface="Arial"/>
              <a:cs typeface="Arial"/>
              <a:sym typeface="Arial"/>
            </a:endParaRPr>
          </a:p>
        </p:txBody>
      </p:sp>
      <p:sp>
        <p:nvSpPr>
          <p:cNvPr id="185" name="Google Shape;185;p25"/>
          <p:cNvSpPr/>
          <p:nvPr/>
        </p:nvSpPr>
        <p:spPr>
          <a:xfrm>
            <a:off x="5588422" y="3705671"/>
            <a:ext cx="2626891"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1B54DA"/>
              </a:buClr>
              <a:buSzPts val="600"/>
              <a:buFont typeface="Nobile"/>
              <a:buNone/>
            </a:pPr>
            <a:r>
              <a:rPr b="0" i="0" lang="en" sz="600" u="none" cap="none" strike="noStrike">
                <a:solidFill>
                  <a:srgbClr val="1B54DA"/>
                </a:solidFill>
                <a:latin typeface="Nobile"/>
                <a:ea typeface="Nobile"/>
                <a:cs typeface="Nobile"/>
                <a:sym typeface="Nobile"/>
              </a:rPr>
              <a:t>5 disability profiles</a:t>
            </a:r>
            <a:endParaRPr b="0" i="0" sz="600" u="none" cap="none" strike="noStrike">
              <a:solidFill>
                <a:srgbClr val="000000"/>
              </a:solidFill>
              <a:latin typeface="Arial"/>
              <a:ea typeface="Arial"/>
              <a:cs typeface="Arial"/>
              <a:sym typeface="Arial"/>
            </a:endParaRPr>
          </a:p>
        </p:txBody>
      </p:sp>
      <p:sp>
        <p:nvSpPr>
          <p:cNvPr id="186" name="Google Shape;186;p25"/>
          <p:cNvSpPr/>
          <p:nvPr/>
        </p:nvSpPr>
        <p:spPr>
          <a:xfrm>
            <a:off x="1385962" y="3898627"/>
            <a:ext cx="2101825"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600"/>
              <a:buFont typeface="Nobile"/>
              <a:buNone/>
            </a:pPr>
            <a:r>
              <a:rPr b="0" i="0" lang="en" sz="600" u="none" cap="none" strike="noStrike">
                <a:solidFill>
                  <a:srgbClr val="404155"/>
                </a:solidFill>
                <a:latin typeface="Nobile"/>
                <a:ea typeface="Nobile"/>
                <a:cs typeface="Nobile"/>
                <a:sym typeface="Nobile"/>
              </a:rPr>
              <a:t>Real-time updates</a:t>
            </a:r>
            <a:endParaRPr b="0" i="0" sz="600" u="none" cap="none" strike="noStrike">
              <a:solidFill>
                <a:srgbClr val="000000"/>
              </a:solidFill>
              <a:latin typeface="Arial"/>
              <a:ea typeface="Arial"/>
              <a:cs typeface="Arial"/>
              <a:sym typeface="Arial"/>
            </a:endParaRPr>
          </a:p>
        </p:txBody>
      </p:sp>
      <p:sp>
        <p:nvSpPr>
          <p:cNvPr id="187" name="Google Shape;187;p25"/>
          <p:cNvSpPr/>
          <p:nvPr/>
        </p:nvSpPr>
        <p:spPr>
          <a:xfrm>
            <a:off x="3225850" y="3898627"/>
            <a:ext cx="2624510"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600"/>
              <a:buFont typeface="Nobile"/>
              <a:buNone/>
            </a:pPr>
            <a:r>
              <a:rPr b="0" i="0" lang="en" sz="600" u="none" cap="none" strike="noStrike">
                <a:solidFill>
                  <a:srgbClr val="404155"/>
                </a:solidFill>
                <a:latin typeface="Nobile"/>
                <a:ea typeface="Nobile"/>
                <a:cs typeface="Nobile"/>
                <a:sym typeface="Nobile"/>
              </a:rPr>
              <a:t>Limited or community-based</a:t>
            </a:r>
            <a:endParaRPr b="0" i="0" sz="600" u="none" cap="none" strike="noStrike">
              <a:solidFill>
                <a:srgbClr val="000000"/>
              </a:solidFill>
              <a:latin typeface="Arial"/>
              <a:ea typeface="Arial"/>
              <a:cs typeface="Arial"/>
              <a:sym typeface="Arial"/>
            </a:endParaRPr>
          </a:p>
        </p:txBody>
      </p:sp>
      <p:sp>
        <p:nvSpPr>
          <p:cNvPr id="188" name="Google Shape;188;p25"/>
          <p:cNvSpPr/>
          <p:nvPr/>
        </p:nvSpPr>
        <p:spPr>
          <a:xfrm>
            <a:off x="5588422" y="3898627"/>
            <a:ext cx="2626891"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1B54DA"/>
              </a:buClr>
              <a:buSzPts val="600"/>
              <a:buFont typeface="Nobile"/>
              <a:buNone/>
            </a:pPr>
            <a:r>
              <a:rPr b="0" i="0" lang="en" sz="600" u="none" cap="none" strike="noStrike">
                <a:solidFill>
                  <a:srgbClr val="1B54DA"/>
                </a:solidFill>
                <a:latin typeface="Nobile"/>
                <a:ea typeface="Nobile"/>
                <a:cs typeface="Nobile"/>
                <a:sym typeface="Nobile"/>
              </a:rPr>
              <a:t>Shadow map + live feedback</a:t>
            </a:r>
            <a:endParaRPr b="0" i="0" sz="600" u="none" cap="none" strike="noStrike">
              <a:solidFill>
                <a:srgbClr val="000000"/>
              </a:solidFill>
              <a:latin typeface="Arial"/>
              <a:ea typeface="Arial"/>
              <a:cs typeface="Arial"/>
              <a:sym typeface="Arial"/>
            </a:endParaRPr>
          </a:p>
        </p:txBody>
      </p:sp>
      <p:sp>
        <p:nvSpPr>
          <p:cNvPr id="189" name="Google Shape;189;p25"/>
          <p:cNvSpPr/>
          <p:nvPr/>
        </p:nvSpPr>
        <p:spPr>
          <a:xfrm>
            <a:off x="1385962" y="4091583"/>
            <a:ext cx="2101825"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600"/>
              <a:buFont typeface="Nobile"/>
              <a:buNone/>
            </a:pPr>
            <a:r>
              <a:rPr b="0" i="0" lang="en" sz="600" u="none" cap="none" strike="noStrike">
                <a:solidFill>
                  <a:srgbClr val="404155"/>
                </a:solidFill>
                <a:latin typeface="Nobile"/>
                <a:ea typeface="Nobile"/>
                <a:cs typeface="Nobile"/>
                <a:sym typeface="Nobile"/>
              </a:rPr>
              <a:t>Offline support</a:t>
            </a:r>
            <a:endParaRPr b="0" i="0" sz="600" u="none" cap="none" strike="noStrike">
              <a:solidFill>
                <a:srgbClr val="000000"/>
              </a:solidFill>
              <a:latin typeface="Arial"/>
              <a:ea typeface="Arial"/>
              <a:cs typeface="Arial"/>
              <a:sym typeface="Arial"/>
            </a:endParaRPr>
          </a:p>
        </p:txBody>
      </p:sp>
      <p:sp>
        <p:nvSpPr>
          <p:cNvPr id="190" name="Google Shape;190;p25"/>
          <p:cNvSpPr/>
          <p:nvPr/>
        </p:nvSpPr>
        <p:spPr>
          <a:xfrm>
            <a:off x="3225850" y="4091583"/>
            <a:ext cx="2624510"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600"/>
              <a:buFont typeface="Nobile"/>
              <a:buNone/>
            </a:pPr>
            <a:r>
              <a:rPr b="0" i="0" lang="en" sz="600" u="none" cap="none" strike="noStrike">
                <a:solidFill>
                  <a:srgbClr val="404155"/>
                </a:solidFill>
                <a:latin typeface="Nobile"/>
                <a:ea typeface="Nobile"/>
                <a:cs typeface="Nobile"/>
                <a:sym typeface="Nobile"/>
              </a:rPr>
              <a:t>Weak or unavailable</a:t>
            </a:r>
            <a:endParaRPr b="0" i="0" sz="600" u="none" cap="none" strike="noStrike">
              <a:solidFill>
                <a:srgbClr val="000000"/>
              </a:solidFill>
              <a:latin typeface="Arial"/>
              <a:ea typeface="Arial"/>
              <a:cs typeface="Arial"/>
              <a:sym typeface="Arial"/>
            </a:endParaRPr>
          </a:p>
        </p:txBody>
      </p:sp>
      <p:sp>
        <p:nvSpPr>
          <p:cNvPr id="191" name="Google Shape;191;p25"/>
          <p:cNvSpPr/>
          <p:nvPr/>
        </p:nvSpPr>
        <p:spPr>
          <a:xfrm>
            <a:off x="5588422" y="4091583"/>
            <a:ext cx="2626891"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1B54DA"/>
              </a:buClr>
              <a:buSzPts val="600"/>
              <a:buFont typeface="Nobile"/>
              <a:buNone/>
            </a:pPr>
            <a:r>
              <a:rPr b="0" i="0" lang="en" sz="600" u="none" cap="none" strike="noStrike">
                <a:solidFill>
                  <a:srgbClr val="1B54DA"/>
                </a:solidFill>
                <a:latin typeface="Nobile"/>
                <a:ea typeface="Nobile"/>
                <a:cs typeface="Nobile"/>
                <a:sym typeface="Nobile"/>
              </a:rPr>
              <a:t>QR + caching + Bluetooth mesh</a:t>
            </a:r>
            <a:endParaRPr b="0" i="0" sz="600" u="none" cap="none" strike="noStrike">
              <a:solidFill>
                <a:srgbClr val="000000"/>
              </a:solidFill>
              <a:latin typeface="Arial"/>
              <a:ea typeface="Arial"/>
              <a:cs typeface="Arial"/>
              <a:sym typeface="Arial"/>
            </a:endParaRPr>
          </a:p>
        </p:txBody>
      </p:sp>
      <p:sp>
        <p:nvSpPr>
          <p:cNvPr id="192" name="Google Shape;192;p25"/>
          <p:cNvSpPr/>
          <p:nvPr/>
        </p:nvSpPr>
        <p:spPr>
          <a:xfrm>
            <a:off x="1385962" y="4284538"/>
            <a:ext cx="2101825"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600"/>
              <a:buFont typeface="Nobile"/>
              <a:buNone/>
            </a:pPr>
            <a:r>
              <a:rPr b="0" i="0" lang="en" sz="600" u="none" cap="none" strike="noStrike">
                <a:solidFill>
                  <a:srgbClr val="404155"/>
                </a:solidFill>
                <a:latin typeface="Nobile"/>
                <a:ea typeface="Nobile"/>
                <a:cs typeface="Nobile"/>
                <a:sym typeface="Nobile"/>
              </a:rPr>
              <a:t>Conversational AI</a:t>
            </a:r>
            <a:endParaRPr b="0" i="0" sz="600" u="none" cap="none" strike="noStrike">
              <a:solidFill>
                <a:srgbClr val="000000"/>
              </a:solidFill>
              <a:latin typeface="Arial"/>
              <a:ea typeface="Arial"/>
              <a:cs typeface="Arial"/>
              <a:sym typeface="Arial"/>
            </a:endParaRPr>
          </a:p>
        </p:txBody>
      </p:sp>
      <p:sp>
        <p:nvSpPr>
          <p:cNvPr id="193" name="Google Shape;193;p25"/>
          <p:cNvSpPr/>
          <p:nvPr/>
        </p:nvSpPr>
        <p:spPr>
          <a:xfrm>
            <a:off x="3225850" y="4284538"/>
            <a:ext cx="2624510"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600"/>
              <a:buFont typeface="Nobile"/>
              <a:buNone/>
            </a:pPr>
            <a:r>
              <a:rPr b="0" i="0" lang="en" sz="600" u="none" cap="none" strike="noStrike">
                <a:solidFill>
                  <a:srgbClr val="404155"/>
                </a:solidFill>
                <a:latin typeface="Nobile"/>
                <a:ea typeface="Nobile"/>
                <a:cs typeface="Nobile"/>
                <a:sym typeface="Nobile"/>
              </a:rPr>
              <a:t>Mostly absent</a:t>
            </a:r>
            <a:endParaRPr b="0" i="0" sz="600" u="none" cap="none" strike="noStrike">
              <a:solidFill>
                <a:srgbClr val="000000"/>
              </a:solidFill>
              <a:latin typeface="Arial"/>
              <a:ea typeface="Arial"/>
              <a:cs typeface="Arial"/>
              <a:sym typeface="Arial"/>
            </a:endParaRPr>
          </a:p>
        </p:txBody>
      </p:sp>
      <p:sp>
        <p:nvSpPr>
          <p:cNvPr id="194" name="Google Shape;194;p25"/>
          <p:cNvSpPr/>
          <p:nvPr/>
        </p:nvSpPr>
        <p:spPr>
          <a:xfrm>
            <a:off x="5588422" y="4284538"/>
            <a:ext cx="2626891"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1B54DA"/>
              </a:buClr>
              <a:buSzPts val="600"/>
              <a:buFont typeface="Nobile"/>
              <a:buNone/>
            </a:pPr>
            <a:r>
              <a:rPr b="0" i="0" lang="en" sz="600" u="none" cap="none" strike="noStrike">
                <a:solidFill>
                  <a:srgbClr val="1B54DA"/>
                </a:solidFill>
                <a:latin typeface="Nobile"/>
                <a:ea typeface="Nobile"/>
                <a:cs typeface="Nobile"/>
                <a:sym typeface="Nobile"/>
              </a:rPr>
              <a:t>Natural language route assistant</a:t>
            </a:r>
            <a:endParaRPr b="0" i="0" sz="600" u="none" cap="none" strike="noStrike">
              <a:solidFill>
                <a:srgbClr val="000000"/>
              </a:solidFill>
              <a:latin typeface="Arial"/>
              <a:ea typeface="Arial"/>
              <a:cs typeface="Arial"/>
              <a:sym typeface="Arial"/>
            </a:endParaRPr>
          </a:p>
        </p:txBody>
      </p:sp>
      <p:sp>
        <p:nvSpPr>
          <p:cNvPr id="195" name="Google Shape;195;p25"/>
          <p:cNvSpPr/>
          <p:nvPr/>
        </p:nvSpPr>
        <p:spPr>
          <a:xfrm>
            <a:off x="1385962" y="4477494"/>
            <a:ext cx="2101825"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600"/>
              <a:buFont typeface="Nobile"/>
              <a:buNone/>
            </a:pPr>
            <a:r>
              <a:rPr b="0" i="0" lang="en" sz="600" u="none" cap="none" strike="noStrike">
                <a:solidFill>
                  <a:srgbClr val="404155"/>
                </a:solidFill>
                <a:latin typeface="Nobile"/>
                <a:ea typeface="Nobile"/>
                <a:cs typeface="Nobile"/>
                <a:sym typeface="Nobile"/>
              </a:rPr>
              <a:t>Emergency support</a:t>
            </a:r>
            <a:endParaRPr b="0" i="0" sz="600" u="none" cap="none" strike="noStrike">
              <a:solidFill>
                <a:srgbClr val="000000"/>
              </a:solidFill>
              <a:latin typeface="Arial"/>
              <a:ea typeface="Arial"/>
              <a:cs typeface="Arial"/>
              <a:sym typeface="Arial"/>
            </a:endParaRPr>
          </a:p>
        </p:txBody>
      </p:sp>
      <p:sp>
        <p:nvSpPr>
          <p:cNvPr id="196" name="Google Shape;196;p25"/>
          <p:cNvSpPr/>
          <p:nvPr/>
        </p:nvSpPr>
        <p:spPr>
          <a:xfrm>
            <a:off x="3225850" y="4477494"/>
            <a:ext cx="2624510"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600"/>
              <a:buFont typeface="Nobile"/>
              <a:buNone/>
            </a:pPr>
            <a:r>
              <a:rPr b="0" i="0" lang="en" sz="600" u="none" cap="none" strike="noStrike">
                <a:solidFill>
                  <a:srgbClr val="404155"/>
                </a:solidFill>
                <a:latin typeface="Nobile"/>
                <a:ea typeface="Nobile"/>
                <a:cs typeface="Nobile"/>
                <a:sym typeface="Nobile"/>
              </a:rPr>
              <a:t>Basic or missing</a:t>
            </a:r>
            <a:endParaRPr b="0" i="0" sz="600" u="none" cap="none" strike="noStrike">
              <a:solidFill>
                <a:srgbClr val="000000"/>
              </a:solidFill>
              <a:latin typeface="Arial"/>
              <a:ea typeface="Arial"/>
              <a:cs typeface="Arial"/>
              <a:sym typeface="Arial"/>
            </a:endParaRPr>
          </a:p>
        </p:txBody>
      </p:sp>
      <p:sp>
        <p:nvSpPr>
          <p:cNvPr id="197" name="Google Shape;197;p25"/>
          <p:cNvSpPr/>
          <p:nvPr/>
        </p:nvSpPr>
        <p:spPr>
          <a:xfrm>
            <a:off x="5588422" y="4477494"/>
            <a:ext cx="2626891" cy="101873"/>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1B54DA"/>
              </a:buClr>
              <a:buSzPts val="600"/>
              <a:buFont typeface="Nobile"/>
              <a:buNone/>
            </a:pPr>
            <a:r>
              <a:rPr b="0" i="0" lang="en" sz="600" u="none" cap="none" strike="noStrike">
                <a:solidFill>
                  <a:srgbClr val="1B54DA"/>
                </a:solidFill>
                <a:latin typeface="Nobile"/>
                <a:ea typeface="Nobile"/>
                <a:cs typeface="Nobile"/>
                <a:sym typeface="Nobile"/>
              </a:rPr>
              <a:t>SOS via mesh + SMS + QR location</a:t>
            </a:r>
            <a:endParaRPr b="0" i="0" sz="600" u="none" cap="none" strike="noStrike">
              <a:solidFill>
                <a:srgbClr val="000000"/>
              </a:solidFill>
              <a:latin typeface="Arial"/>
              <a:ea typeface="Arial"/>
              <a:cs typeface="Arial"/>
              <a:sym typeface="Arial"/>
            </a:endParaRPr>
          </a:p>
        </p:txBody>
      </p:sp>
      <p:sp>
        <p:nvSpPr>
          <p:cNvPr id="198" name="Google Shape;198;p25"/>
          <p:cNvSpPr/>
          <p:nvPr/>
        </p:nvSpPr>
        <p:spPr>
          <a:xfrm>
            <a:off x="1285875" y="4699248"/>
            <a:ext cx="7029450" cy="12739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0" i="1" lang="en" sz="750" u="none" cap="none" strike="noStrike">
                <a:solidFill>
                  <a:srgbClr val="404155"/>
                </a:solidFill>
                <a:latin typeface="Nobile"/>
                <a:ea typeface="Nobile"/>
                <a:cs typeface="Nobile"/>
                <a:sym typeface="Nobile"/>
              </a:rPr>
              <a:t>Benchmarked against GoodMaps, Wheelmap, BlindSquare, and AccessNow.</a:t>
            </a:r>
            <a:endParaRPr b="0" i="0" sz="750" u="none" cap="none" strike="noStrike">
              <a:solidFill>
                <a:srgbClr val="000000"/>
              </a:solidFill>
              <a:latin typeface="Arial"/>
              <a:ea typeface="Arial"/>
              <a:cs typeface="Arial"/>
              <a:sym typeface="Arial"/>
            </a:endParaRPr>
          </a:p>
        </p:txBody>
      </p:sp>
      <p:sp>
        <p:nvSpPr>
          <p:cNvPr id="199" name="Google Shape;199;p25"/>
          <p:cNvSpPr/>
          <p:nvPr/>
        </p:nvSpPr>
        <p:spPr>
          <a:xfrm>
            <a:off x="8035600" y="4849850"/>
            <a:ext cx="1059000" cy="249300"/>
          </a:xfrm>
          <a:prstGeom prst="rect">
            <a:avLst/>
          </a:prstGeom>
          <a:solidFill>
            <a:srgbClr val="F9F9FF"/>
          </a:solidFill>
          <a:ln cap="flat" cmpd="sng" w="9525">
            <a:solidFill>
              <a:srgbClr val="F9F9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6"/>
          <p:cNvSpPr/>
          <p:nvPr/>
        </p:nvSpPr>
        <p:spPr>
          <a:xfrm>
            <a:off x="980182" y="336947"/>
            <a:ext cx="2539380" cy="26022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600"/>
              <a:buFont typeface="Alexandria"/>
              <a:buNone/>
            </a:pPr>
            <a:r>
              <a:rPr b="0" i="0" lang="en" sz="1600" u="none" cap="none" strike="noStrike">
                <a:solidFill>
                  <a:srgbClr val="1B1B27"/>
                </a:solidFill>
                <a:latin typeface="Alexandria"/>
                <a:ea typeface="Alexandria"/>
                <a:cs typeface="Alexandria"/>
                <a:sym typeface="Alexandria"/>
              </a:rPr>
              <a:t>Innovation Story</a:t>
            </a:r>
            <a:endParaRPr b="0" i="0" sz="1600" u="none" cap="none" strike="noStrike">
              <a:solidFill>
                <a:srgbClr val="000000"/>
              </a:solidFill>
              <a:latin typeface="Arial"/>
              <a:ea typeface="Arial"/>
              <a:cs typeface="Arial"/>
              <a:sym typeface="Arial"/>
            </a:endParaRPr>
          </a:p>
        </p:txBody>
      </p:sp>
      <p:sp>
        <p:nvSpPr>
          <p:cNvPr id="206" name="Google Shape;206;p26"/>
          <p:cNvSpPr/>
          <p:nvPr/>
        </p:nvSpPr>
        <p:spPr>
          <a:xfrm>
            <a:off x="980182" y="627683"/>
            <a:ext cx="4508078" cy="16266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000"/>
              <a:buFont typeface="Alexandria"/>
              <a:buNone/>
            </a:pPr>
            <a:r>
              <a:rPr b="0" i="0" lang="en" sz="1000" u="none" cap="none" strike="noStrike">
                <a:solidFill>
                  <a:srgbClr val="1B1B27"/>
                </a:solidFill>
                <a:latin typeface="Alexandria"/>
                <a:ea typeface="Alexandria"/>
                <a:cs typeface="Alexandria"/>
                <a:sym typeface="Alexandria"/>
              </a:rPr>
              <a:t>Three non-obvious decisions forced by real campus constraints</a:t>
            </a:r>
            <a:endParaRPr b="0" i="0" sz="1000" u="none" cap="none" strike="noStrike">
              <a:solidFill>
                <a:srgbClr val="000000"/>
              </a:solidFill>
              <a:latin typeface="Arial"/>
              <a:ea typeface="Arial"/>
              <a:cs typeface="Arial"/>
              <a:sym typeface="Arial"/>
            </a:endParaRPr>
          </a:p>
        </p:txBody>
      </p:sp>
      <p:pic>
        <p:nvPicPr>
          <p:cNvPr descr="preencoded.png" id="207" name="Google Shape;207;p26"/>
          <p:cNvPicPr preferRelativeResize="0"/>
          <p:nvPr/>
        </p:nvPicPr>
        <p:blipFill rotWithShape="1">
          <a:blip r:embed="rId3">
            <a:alphaModFix/>
          </a:blip>
          <a:srcRect b="0" l="0" r="0" t="0"/>
          <a:stretch/>
        </p:blipFill>
        <p:spPr>
          <a:xfrm>
            <a:off x="980182" y="905024"/>
            <a:ext cx="2394496" cy="416421"/>
          </a:xfrm>
          <a:prstGeom prst="rect">
            <a:avLst/>
          </a:prstGeom>
          <a:noFill/>
          <a:ln>
            <a:noFill/>
          </a:ln>
        </p:spPr>
      </p:pic>
      <p:sp>
        <p:nvSpPr>
          <p:cNvPr id="208" name="Google Shape;208;p26"/>
          <p:cNvSpPr/>
          <p:nvPr/>
        </p:nvSpPr>
        <p:spPr>
          <a:xfrm>
            <a:off x="1084287" y="1397868"/>
            <a:ext cx="2603227" cy="16266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04155"/>
              </a:buClr>
              <a:buSzPts val="1000"/>
              <a:buFont typeface="Alexandria"/>
              <a:buNone/>
            </a:pPr>
            <a:r>
              <a:rPr b="0" i="0" lang="en" sz="1000" u="none" cap="none" strike="noStrike">
                <a:solidFill>
                  <a:srgbClr val="404155"/>
                </a:solidFill>
                <a:latin typeface="Alexandria"/>
                <a:ea typeface="Alexandria"/>
                <a:cs typeface="Alexandria"/>
                <a:sym typeface="Alexandria"/>
              </a:rPr>
              <a:t>We Rejected the Obvious Answer</a:t>
            </a:r>
            <a:endParaRPr b="0" i="0" sz="1000" u="none" cap="none" strike="noStrike">
              <a:solidFill>
                <a:srgbClr val="000000"/>
              </a:solidFill>
              <a:latin typeface="Arial"/>
              <a:ea typeface="Arial"/>
              <a:cs typeface="Arial"/>
              <a:sym typeface="Arial"/>
            </a:endParaRPr>
          </a:p>
        </p:txBody>
      </p:sp>
      <p:sp>
        <p:nvSpPr>
          <p:cNvPr id="209" name="Google Shape;209;p26"/>
          <p:cNvSpPr/>
          <p:nvPr/>
        </p:nvSpPr>
        <p:spPr>
          <a:xfrm>
            <a:off x="1084287" y="1606376"/>
            <a:ext cx="2186285" cy="288875"/>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404155"/>
              </a:buClr>
              <a:buSzPts val="800"/>
              <a:buFont typeface="Nobile"/>
              <a:buNone/>
            </a:pPr>
            <a:r>
              <a:rPr b="1" i="0" lang="en" sz="800" u="none" cap="none" strike="noStrike">
                <a:solidFill>
                  <a:srgbClr val="404155"/>
                </a:solidFill>
                <a:latin typeface="Nobile"/>
                <a:ea typeface="Nobile"/>
                <a:cs typeface="Nobile"/>
                <a:sym typeface="Nobile"/>
              </a:rPr>
              <a:t>Constraint:</a:t>
            </a:r>
            <a:r>
              <a:rPr b="0" i="0" lang="en" sz="800" u="none" cap="none" strike="noStrike">
                <a:solidFill>
                  <a:srgbClr val="404155"/>
                </a:solidFill>
                <a:latin typeface="Nobile"/>
                <a:ea typeface="Nobile"/>
                <a:cs typeface="Nobile"/>
                <a:sym typeface="Nobile"/>
              </a:rPr>
              <a:t> GPS fails indoors. 46% of nav apps are uninstalled in 30 days.</a:t>
            </a:r>
            <a:endParaRPr b="0" i="0" sz="800" u="none" cap="none" strike="noStrike">
              <a:solidFill>
                <a:srgbClr val="000000"/>
              </a:solidFill>
              <a:latin typeface="Arial"/>
              <a:ea typeface="Arial"/>
              <a:cs typeface="Arial"/>
              <a:sym typeface="Arial"/>
            </a:endParaRPr>
          </a:p>
        </p:txBody>
      </p:sp>
      <p:sp>
        <p:nvSpPr>
          <p:cNvPr id="210" name="Google Shape;210;p26"/>
          <p:cNvSpPr/>
          <p:nvPr/>
        </p:nvSpPr>
        <p:spPr>
          <a:xfrm>
            <a:off x="1084287" y="1941091"/>
            <a:ext cx="2186285" cy="433313"/>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404155"/>
              </a:buClr>
              <a:buSzPts val="800"/>
              <a:buFont typeface="Nobile"/>
              <a:buNone/>
            </a:pPr>
            <a:r>
              <a:rPr b="1" i="0" lang="en" sz="800" u="none" cap="none" strike="noStrike">
                <a:solidFill>
                  <a:srgbClr val="404155"/>
                </a:solidFill>
                <a:latin typeface="Nobile"/>
                <a:ea typeface="Nobile"/>
                <a:cs typeface="Nobile"/>
                <a:sym typeface="Nobile"/>
              </a:rPr>
              <a:t>Decision:</a:t>
            </a:r>
            <a:r>
              <a:rPr b="0" i="0" lang="en" sz="800" u="none" cap="none" strike="noStrike">
                <a:solidFill>
                  <a:srgbClr val="404155"/>
                </a:solidFill>
                <a:latin typeface="Nobile"/>
                <a:ea typeface="Nobile"/>
                <a:cs typeface="Nobile"/>
                <a:sym typeface="Nobile"/>
              </a:rPr>
              <a:t> Build a conversational agent + QR positioning at ₹20/point — no hardware, no install barrier.</a:t>
            </a:r>
            <a:endParaRPr b="0" i="0" sz="800" u="none" cap="none" strike="noStrike">
              <a:solidFill>
                <a:srgbClr val="000000"/>
              </a:solidFill>
              <a:latin typeface="Arial"/>
              <a:ea typeface="Arial"/>
              <a:cs typeface="Arial"/>
              <a:sym typeface="Arial"/>
            </a:endParaRPr>
          </a:p>
        </p:txBody>
      </p:sp>
      <p:sp>
        <p:nvSpPr>
          <p:cNvPr id="211" name="Google Shape;211;p26"/>
          <p:cNvSpPr/>
          <p:nvPr/>
        </p:nvSpPr>
        <p:spPr>
          <a:xfrm>
            <a:off x="1084287" y="2420243"/>
            <a:ext cx="2186285" cy="288875"/>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404155"/>
              </a:buClr>
              <a:buSzPts val="800"/>
              <a:buFont typeface="Nobile"/>
              <a:buNone/>
            </a:pPr>
            <a:r>
              <a:rPr b="1" i="0" lang="en" sz="800" u="none" cap="none" strike="noStrike">
                <a:solidFill>
                  <a:srgbClr val="404155"/>
                </a:solidFill>
                <a:latin typeface="Nobile"/>
                <a:ea typeface="Nobile"/>
                <a:cs typeface="Nobile"/>
                <a:sym typeface="Nobile"/>
              </a:rPr>
              <a:t>Outcome:</a:t>
            </a:r>
            <a:r>
              <a:rPr b="0" i="0" lang="en" sz="800" u="none" cap="none" strike="noStrike">
                <a:solidFill>
                  <a:srgbClr val="404155"/>
                </a:solidFill>
                <a:latin typeface="Nobile"/>
                <a:ea typeface="Nobile"/>
                <a:cs typeface="Nobile"/>
                <a:sym typeface="Nobile"/>
              </a:rPr>
              <a:t> Indoor location becomes solvable at campus scale, cheaply.</a:t>
            </a:r>
            <a:endParaRPr b="0" i="0" sz="800" u="none" cap="none" strike="noStrike">
              <a:solidFill>
                <a:srgbClr val="000000"/>
              </a:solidFill>
              <a:latin typeface="Arial"/>
              <a:ea typeface="Arial"/>
              <a:cs typeface="Arial"/>
              <a:sym typeface="Arial"/>
            </a:endParaRPr>
          </a:p>
        </p:txBody>
      </p:sp>
      <p:pic>
        <p:nvPicPr>
          <p:cNvPr descr="preencoded.png" id="212" name="Google Shape;212;p26"/>
          <p:cNvPicPr preferRelativeResize="0"/>
          <p:nvPr/>
        </p:nvPicPr>
        <p:blipFill rotWithShape="1">
          <a:blip r:embed="rId4">
            <a:alphaModFix/>
          </a:blip>
          <a:srcRect b="0" l="0" r="0" t="0"/>
          <a:stretch/>
        </p:blipFill>
        <p:spPr>
          <a:xfrm>
            <a:off x="3374678" y="905024"/>
            <a:ext cx="2394496" cy="416421"/>
          </a:xfrm>
          <a:prstGeom prst="rect">
            <a:avLst/>
          </a:prstGeom>
          <a:noFill/>
          <a:ln>
            <a:noFill/>
          </a:ln>
        </p:spPr>
      </p:pic>
      <p:sp>
        <p:nvSpPr>
          <p:cNvPr id="213" name="Google Shape;213;p26"/>
          <p:cNvSpPr/>
          <p:nvPr/>
        </p:nvSpPr>
        <p:spPr>
          <a:xfrm>
            <a:off x="3478783" y="1397868"/>
            <a:ext cx="2186285" cy="32533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04155"/>
              </a:buClr>
              <a:buSzPts val="1000"/>
              <a:buFont typeface="Alexandria"/>
              <a:buNone/>
            </a:pPr>
            <a:r>
              <a:rPr b="0" i="0" lang="en" sz="1000" u="none" cap="none" strike="noStrike">
                <a:solidFill>
                  <a:srgbClr val="404155"/>
                </a:solidFill>
                <a:latin typeface="Alexandria"/>
                <a:ea typeface="Alexandria"/>
                <a:cs typeface="Alexandria"/>
                <a:sym typeface="Alexandria"/>
              </a:rPr>
              <a:t>We Solved for When Infrastructure Fails</a:t>
            </a:r>
            <a:endParaRPr b="0" i="0" sz="1000" u="none" cap="none" strike="noStrike">
              <a:solidFill>
                <a:srgbClr val="000000"/>
              </a:solidFill>
              <a:latin typeface="Arial"/>
              <a:ea typeface="Arial"/>
              <a:cs typeface="Arial"/>
              <a:sym typeface="Arial"/>
            </a:endParaRPr>
          </a:p>
        </p:txBody>
      </p:sp>
      <p:sp>
        <p:nvSpPr>
          <p:cNvPr id="214" name="Google Shape;214;p26"/>
          <p:cNvSpPr/>
          <p:nvPr/>
        </p:nvSpPr>
        <p:spPr>
          <a:xfrm>
            <a:off x="3478783" y="1769046"/>
            <a:ext cx="2186285" cy="433313"/>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404155"/>
              </a:buClr>
              <a:buSzPts val="800"/>
              <a:buFont typeface="Nobile"/>
              <a:buNone/>
            </a:pPr>
            <a:r>
              <a:rPr b="1" i="0" lang="en" sz="800" u="none" cap="none" strike="noStrike">
                <a:solidFill>
                  <a:srgbClr val="404155"/>
                </a:solidFill>
                <a:latin typeface="Nobile"/>
                <a:ea typeface="Nobile"/>
                <a:cs typeface="Nobile"/>
                <a:sym typeface="Nobile"/>
              </a:rPr>
              <a:t>Constraint:</a:t>
            </a:r>
            <a:r>
              <a:rPr b="0" i="0" lang="en" sz="800" u="none" cap="none" strike="noStrike">
                <a:solidFill>
                  <a:srgbClr val="404155"/>
                </a:solidFill>
                <a:latin typeface="Nobile"/>
                <a:ea typeface="Nobile"/>
                <a:cs typeface="Nobile"/>
                <a:sym typeface="Nobile"/>
              </a:rPr>
              <a:t> Campus WiFi saturates during events — exactly when navigation matters most.</a:t>
            </a:r>
            <a:endParaRPr b="0" i="0" sz="800" u="none" cap="none" strike="noStrike">
              <a:solidFill>
                <a:srgbClr val="000000"/>
              </a:solidFill>
              <a:latin typeface="Arial"/>
              <a:ea typeface="Arial"/>
              <a:cs typeface="Arial"/>
              <a:sym typeface="Arial"/>
            </a:endParaRPr>
          </a:p>
        </p:txBody>
      </p:sp>
      <p:sp>
        <p:nvSpPr>
          <p:cNvPr id="215" name="Google Shape;215;p26"/>
          <p:cNvSpPr/>
          <p:nvPr/>
        </p:nvSpPr>
        <p:spPr>
          <a:xfrm>
            <a:off x="3478783" y="2248198"/>
            <a:ext cx="2186285" cy="433313"/>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404155"/>
              </a:buClr>
              <a:buSzPts val="800"/>
              <a:buFont typeface="Nobile"/>
              <a:buNone/>
            </a:pPr>
            <a:r>
              <a:rPr b="1" i="0" lang="en" sz="800" u="none" cap="none" strike="noStrike">
                <a:solidFill>
                  <a:srgbClr val="404155"/>
                </a:solidFill>
                <a:latin typeface="Nobile"/>
                <a:ea typeface="Nobile"/>
                <a:cs typeface="Nobile"/>
                <a:sym typeface="Nobile"/>
              </a:rPr>
              <a:t>Decision:</a:t>
            </a:r>
            <a:r>
              <a:rPr b="0" i="0" lang="en" sz="800" u="none" cap="none" strike="noStrike">
                <a:solidFill>
                  <a:srgbClr val="404155"/>
                </a:solidFill>
                <a:latin typeface="Nobile"/>
                <a:ea typeface="Nobile"/>
                <a:cs typeface="Nobile"/>
                <a:sym typeface="Nobile"/>
              </a:rPr>
              <a:t> Bluetooth mesh + shadow mapping. The system improves as usage grows.</a:t>
            </a:r>
            <a:endParaRPr b="0" i="0" sz="800" u="none" cap="none" strike="noStrike">
              <a:solidFill>
                <a:srgbClr val="000000"/>
              </a:solidFill>
              <a:latin typeface="Arial"/>
              <a:ea typeface="Arial"/>
              <a:cs typeface="Arial"/>
              <a:sym typeface="Arial"/>
            </a:endParaRPr>
          </a:p>
        </p:txBody>
      </p:sp>
      <p:sp>
        <p:nvSpPr>
          <p:cNvPr id="216" name="Google Shape;216;p26"/>
          <p:cNvSpPr/>
          <p:nvPr/>
        </p:nvSpPr>
        <p:spPr>
          <a:xfrm>
            <a:off x="3478783" y="2727350"/>
            <a:ext cx="2186285" cy="288875"/>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404155"/>
              </a:buClr>
              <a:buSzPts val="800"/>
              <a:buFont typeface="Nobile"/>
              <a:buNone/>
            </a:pPr>
            <a:r>
              <a:rPr b="1" i="0" lang="en" sz="800" u="none" cap="none" strike="noStrike">
                <a:solidFill>
                  <a:srgbClr val="404155"/>
                </a:solidFill>
                <a:latin typeface="Nobile"/>
                <a:ea typeface="Nobile"/>
                <a:cs typeface="Nobile"/>
                <a:sym typeface="Nobile"/>
              </a:rPr>
              <a:t>Outcome:</a:t>
            </a:r>
            <a:r>
              <a:rPr b="0" i="0" lang="en" sz="800" u="none" cap="none" strike="noStrike">
                <a:solidFill>
                  <a:srgbClr val="404155"/>
                </a:solidFill>
                <a:latin typeface="Nobile"/>
                <a:ea typeface="Nobile"/>
                <a:cs typeface="Nobile"/>
                <a:sym typeface="Nobile"/>
              </a:rPr>
              <a:t> Performs best when WiFi performs worst.</a:t>
            </a:r>
            <a:endParaRPr b="0" i="0" sz="800" u="none" cap="none" strike="noStrike">
              <a:solidFill>
                <a:srgbClr val="000000"/>
              </a:solidFill>
              <a:latin typeface="Arial"/>
              <a:ea typeface="Arial"/>
              <a:cs typeface="Arial"/>
              <a:sym typeface="Arial"/>
            </a:endParaRPr>
          </a:p>
        </p:txBody>
      </p:sp>
      <p:pic>
        <p:nvPicPr>
          <p:cNvPr descr="preencoded.png" id="217" name="Google Shape;217;p26"/>
          <p:cNvPicPr preferRelativeResize="0"/>
          <p:nvPr/>
        </p:nvPicPr>
        <p:blipFill rotWithShape="1">
          <a:blip r:embed="rId5">
            <a:alphaModFix/>
          </a:blip>
          <a:srcRect b="0" l="0" r="0" t="0"/>
          <a:stretch/>
        </p:blipFill>
        <p:spPr>
          <a:xfrm>
            <a:off x="5769173" y="905024"/>
            <a:ext cx="2394570" cy="416421"/>
          </a:xfrm>
          <a:prstGeom prst="rect">
            <a:avLst/>
          </a:prstGeom>
          <a:noFill/>
          <a:ln>
            <a:noFill/>
          </a:ln>
        </p:spPr>
      </p:pic>
      <p:sp>
        <p:nvSpPr>
          <p:cNvPr id="218" name="Google Shape;218;p26"/>
          <p:cNvSpPr/>
          <p:nvPr/>
        </p:nvSpPr>
        <p:spPr>
          <a:xfrm>
            <a:off x="5873279" y="1397868"/>
            <a:ext cx="2186360" cy="32533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04155"/>
              </a:buClr>
              <a:buSzPts val="1000"/>
              <a:buFont typeface="Alexandria"/>
              <a:buNone/>
            </a:pPr>
            <a:r>
              <a:rPr b="0" i="0" lang="en" sz="1000" u="none" cap="none" strike="noStrike">
                <a:solidFill>
                  <a:srgbClr val="404155"/>
                </a:solidFill>
                <a:latin typeface="Alexandria"/>
                <a:ea typeface="Alexandria"/>
                <a:cs typeface="Alexandria"/>
                <a:sym typeface="Alexandria"/>
              </a:rPr>
              <a:t>We Designed for Who Actually Needs This</a:t>
            </a:r>
            <a:endParaRPr b="0" i="0" sz="1000" u="none" cap="none" strike="noStrike">
              <a:solidFill>
                <a:srgbClr val="000000"/>
              </a:solidFill>
              <a:latin typeface="Arial"/>
              <a:ea typeface="Arial"/>
              <a:cs typeface="Arial"/>
              <a:sym typeface="Arial"/>
            </a:endParaRPr>
          </a:p>
        </p:txBody>
      </p:sp>
      <p:sp>
        <p:nvSpPr>
          <p:cNvPr id="219" name="Google Shape;219;p26"/>
          <p:cNvSpPr/>
          <p:nvPr/>
        </p:nvSpPr>
        <p:spPr>
          <a:xfrm>
            <a:off x="5873279" y="1769046"/>
            <a:ext cx="2186360" cy="288875"/>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404155"/>
              </a:buClr>
              <a:buSzPts val="800"/>
              <a:buFont typeface="Nobile"/>
              <a:buNone/>
            </a:pPr>
            <a:r>
              <a:rPr b="1" i="0" lang="en" sz="800" u="none" cap="none" strike="noStrike">
                <a:solidFill>
                  <a:srgbClr val="404155"/>
                </a:solidFill>
                <a:latin typeface="Nobile"/>
                <a:ea typeface="Nobile"/>
                <a:cs typeface="Nobile"/>
                <a:sym typeface="Nobile"/>
              </a:rPr>
              <a:t>Constraint:</a:t>
            </a:r>
            <a:r>
              <a:rPr b="0" i="0" lang="en" sz="800" u="none" cap="none" strike="noStrike">
                <a:solidFill>
                  <a:srgbClr val="404155"/>
                </a:solidFill>
                <a:latin typeface="Nobile"/>
                <a:ea typeface="Nobile"/>
                <a:cs typeface="Nobile"/>
                <a:sym typeface="Nobile"/>
              </a:rPr>
              <a:t> Existing tools treat disability as binary. Most cover only wheelchair users.</a:t>
            </a:r>
            <a:endParaRPr b="0" i="0" sz="800" u="none" cap="none" strike="noStrike">
              <a:solidFill>
                <a:srgbClr val="000000"/>
              </a:solidFill>
              <a:latin typeface="Arial"/>
              <a:ea typeface="Arial"/>
              <a:cs typeface="Arial"/>
              <a:sym typeface="Arial"/>
            </a:endParaRPr>
          </a:p>
        </p:txBody>
      </p:sp>
      <p:sp>
        <p:nvSpPr>
          <p:cNvPr id="220" name="Google Shape;220;p26"/>
          <p:cNvSpPr/>
          <p:nvPr/>
        </p:nvSpPr>
        <p:spPr>
          <a:xfrm>
            <a:off x="5873279" y="2103760"/>
            <a:ext cx="2186360" cy="433313"/>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404155"/>
              </a:buClr>
              <a:buSzPts val="800"/>
              <a:buFont typeface="Nobile"/>
              <a:buNone/>
            </a:pPr>
            <a:r>
              <a:rPr b="1" i="0" lang="en" sz="800" u="none" cap="none" strike="noStrike">
                <a:solidFill>
                  <a:srgbClr val="404155"/>
                </a:solidFill>
                <a:latin typeface="Nobile"/>
                <a:ea typeface="Nobile"/>
                <a:cs typeface="Nobile"/>
                <a:sym typeface="Nobile"/>
              </a:rPr>
              <a:t>Decision:</a:t>
            </a:r>
            <a:r>
              <a:rPr b="0" i="0" lang="en" sz="800" u="none" cap="none" strike="noStrike">
                <a:solidFill>
                  <a:srgbClr val="404155"/>
                </a:solidFill>
                <a:latin typeface="Nobile"/>
                <a:ea typeface="Nobile"/>
                <a:cs typeface="Nobile"/>
                <a:sym typeface="Nobile"/>
              </a:rPr>
              <a:t> Five profiles built into the architecture — each with unique routing logic and interaction mode.</a:t>
            </a:r>
            <a:endParaRPr b="0" i="0" sz="800" u="none" cap="none" strike="noStrike">
              <a:solidFill>
                <a:srgbClr val="000000"/>
              </a:solidFill>
              <a:latin typeface="Arial"/>
              <a:ea typeface="Arial"/>
              <a:cs typeface="Arial"/>
              <a:sym typeface="Arial"/>
            </a:endParaRPr>
          </a:p>
        </p:txBody>
      </p:sp>
      <p:sp>
        <p:nvSpPr>
          <p:cNvPr id="221" name="Google Shape;221;p26"/>
          <p:cNvSpPr/>
          <p:nvPr/>
        </p:nvSpPr>
        <p:spPr>
          <a:xfrm>
            <a:off x="5873279" y="2582912"/>
            <a:ext cx="2186360" cy="288875"/>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404155"/>
              </a:buClr>
              <a:buSzPts val="800"/>
              <a:buFont typeface="Nobile"/>
              <a:buNone/>
            </a:pPr>
            <a:r>
              <a:rPr b="1" i="0" lang="en" sz="800" u="none" cap="none" strike="noStrike">
                <a:solidFill>
                  <a:srgbClr val="404155"/>
                </a:solidFill>
                <a:latin typeface="Nobile"/>
                <a:ea typeface="Nobile"/>
                <a:cs typeface="Nobile"/>
                <a:sym typeface="Nobile"/>
              </a:rPr>
              <a:t>Outcome:</a:t>
            </a:r>
            <a:r>
              <a:rPr b="0" i="0" lang="en" sz="800" u="none" cap="none" strike="noStrike">
                <a:solidFill>
                  <a:srgbClr val="404155"/>
                </a:solidFill>
                <a:latin typeface="Nobile"/>
                <a:ea typeface="Nobile"/>
                <a:cs typeface="Nobile"/>
                <a:sym typeface="Nobile"/>
              </a:rPr>
              <a:t> No competitor covers more than two disability categories.</a:t>
            </a:r>
            <a:endParaRPr b="0" i="0" sz="800" u="none" cap="none" strike="noStrike">
              <a:solidFill>
                <a:srgbClr val="000000"/>
              </a:solidFill>
              <a:latin typeface="Arial"/>
              <a:ea typeface="Arial"/>
              <a:cs typeface="Arial"/>
              <a:sym typeface="Arial"/>
            </a:endParaRPr>
          </a:p>
        </p:txBody>
      </p:sp>
      <p:sp>
        <p:nvSpPr>
          <p:cNvPr id="222" name="Google Shape;222;p26"/>
          <p:cNvSpPr/>
          <p:nvPr/>
        </p:nvSpPr>
        <p:spPr>
          <a:xfrm>
            <a:off x="751582" y="3258294"/>
            <a:ext cx="2559397" cy="343570"/>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404155"/>
              </a:buClr>
              <a:buSzPts val="2700"/>
              <a:buFont typeface="Alexandria"/>
              <a:buNone/>
            </a:pPr>
            <a:r>
              <a:rPr b="0" i="0" lang="en" sz="2700" u="none" cap="none" strike="noStrike">
                <a:solidFill>
                  <a:srgbClr val="404155"/>
                </a:solidFill>
                <a:latin typeface="Alexandria"/>
                <a:ea typeface="Alexandria"/>
                <a:cs typeface="Alexandria"/>
                <a:sym typeface="Alexandria"/>
              </a:rPr>
              <a:t>50%</a:t>
            </a:r>
            <a:endParaRPr b="0" i="0" sz="2700" u="none" cap="none" strike="noStrike">
              <a:solidFill>
                <a:srgbClr val="000000"/>
              </a:solidFill>
              <a:latin typeface="Arial"/>
              <a:ea typeface="Arial"/>
              <a:cs typeface="Arial"/>
              <a:sym typeface="Arial"/>
            </a:endParaRPr>
          </a:p>
        </p:txBody>
      </p:sp>
      <p:sp>
        <p:nvSpPr>
          <p:cNvPr id="223" name="Google Shape;223;p26"/>
          <p:cNvSpPr/>
          <p:nvPr/>
        </p:nvSpPr>
        <p:spPr>
          <a:xfrm>
            <a:off x="1266304" y="3711178"/>
            <a:ext cx="1529953" cy="16266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1000"/>
              <a:buFont typeface="Alexandria"/>
              <a:buNone/>
            </a:pPr>
            <a:r>
              <a:rPr b="0" i="0" lang="en" sz="1000" u="none" cap="none" strike="noStrike">
                <a:solidFill>
                  <a:srgbClr val="404155"/>
                </a:solidFill>
                <a:latin typeface="Alexandria"/>
                <a:ea typeface="Alexandria"/>
                <a:cs typeface="Alexandria"/>
                <a:sym typeface="Alexandria"/>
              </a:rPr>
              <a:t>Faster Navigation</a:t>
            </a:r>
            <a:endParaRPr b="0" i="0" sz="1000" u="none" cap="none" strike="noStrike">
              <a:solidFill>
                <a:srgbClr val="000000"/>
              </a:solidFill>
              <a:latin typeface="Arial"/>
              <a:ea typeface="Arial"/>
              <a:cs typeface="Arial"/>
              <a:sym typeface="Arial"/>
            </a:endParaRPr>
          </a:p>
        </p:txBody>
      </p:sp>
      <p:sp>
        <p:nvSpPr>
          <p:cNvPr id="224" name="Google Shape;224;p26"/>
          <p:cNvSpPr/>
          <p:nvPr/>
        </p:nvSpPr>
        <p:spPr>
          <a:xfrm>
            <a:off x="980182" y="3919686"/>
            <a:ext cx="2330797" cy="288875"/>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10–15 min per destination → under 2 min with the conversational agent</a:t>
            </a:r>
            <a:endParaRPr b="0" i="0" sz="800" u="none" cap="none" strike="noStrike">
              <a:solidFill>
                <a:srgbClr val="000000"/>
              </a:solidFill>
              <a:latin typeface="Arial"/>
              <a:ea typeface="Arial"/>
              <a:cs typeface="Arial"/>
              <a:sym typeface="Arial"/>
            </a:endParaRPr>
          </a:p>
        </p:txBody>
      </p:sp>
      <p:sp>
        <p:nvSpPr>
          <p:cNvPr id="225" name="Google Shape;225;p26"/>
          <p:cNvSpPr/>
          <p:nvPr/>
        </p:nvSpPr>
        <p:spPr>
          <a:xfrm>
            <a:off x="3177927" y="3258294"/>
            <a:ext cx="2559397" cy="343570"/>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404155"/>
              </a:buClr>
              <a:buSzPts val="2700"/>
              <a:buFont typeface="Alexandria"/>
              <a:buNone/>
            </a:pPr>
            <a:r>
              <a:rPr b="0" i="0" lang="en" sz="2700" u="none" cap="none" strike="noStrike">
                <a:solidFill>
                  <a:srgbClr val="404155"/>
                </a:solidFill>
                <a:latin typeface="Alexandria"/>
                <a:ea typeface="Alexandria"/>
                <a:cs typeface="Alexandria"/>
                <a:sym typeface="Alexandria"/>
              </a:rPr>
              <a:t>100%</a:t>
            </a:r>
            <a:endParaRPr b="0" i="0" sz="2700" u="none" cap="none" strike="noStrike">
              <a:solidFill>
                <a:srgbClr val="000000"/>
              </a:solidFill>
              <a:latin typeface="Arial"/>
              <a:ea typeface="Arial"/>
              <a:cs typeface="Arial"/>
              <a:sym typeface="Arial"/>
            </a:endParaRPr>
          </a:p>
        </p:txBody>
      </p:sp>
      <p:sp>
        <p:nvSpPr>
          <p:cNvPr id="226" name="Google Shape;226;p26"/>
          <p:cNvSpPr/>
          <p:nvPr/>
        </p:nvSpPr>
        <p:spPr>
          <a:xfrm>
            <a:off x="3692649" y="3711178"/>
            <a:ext cx="1529953" cy="16266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1000"/>
              <a:buFont typeface="Alexandria"/>
              <a:buNone/>
            </a:pPr>
            <a:r>
              <a:rPr b="0" i="0" lang="en" sz="1000" u="none" cap="none" strike="noStrike">
                <a:solidFill>
                  <a:srgbClr val="404155"/>
                </a:solidFill>
                <a:latin typeface="Alexandria"/>
                <a:ea typeface="Alexandria"/>
                <a:cs typeface="Alexandria"/>
                <a:sym typeface="Alexandria"/>
              </a:rPr>
              <a:t>Disability Coverage</a:t>
            </a:r>
            <a:endParaRPr b="0" i="0" sz="1000" u="none" cap="none" strike="noStrike">
              <a:solidFill>
                <a:srgbClr val="000000"/>
              </a:solidFill>
              <a:latin typeface="Arial"/>
              <a:ea typeface="Arial"/>
              <a:cs typeface="Arial"/>
              <a:sym typeface="Arial"/>
            </a:endParaRPr>
          </a:p>
        </p:txBody>
      </p:sp>
      <p:sp>
        <p:nvSpPr>
          <p:cNvPr id="227" name="Google Shape;227;p26"/>
          <p:cNvSpPr/>
          <p:nvPr/>
        </p:nvSpPr>
        <p:spPr>
          <a:xfrm>
            <a:off x="3406527" y="3919686"/>
            <a:ext cx="2330797" cy="288875"/>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All five categories with distinct interaction modes — no competitor matches this</a:t>
            </a:r>
            <a:endParaRPr b="0" i="0" sz="800" u="none" cap="none" strike="noStrike">
              <a:solidFill>
                <a:srgbClr val="000000"/>
              </a:solidFill>
              <a:latin typeface="Arial"/>
              <a:ea typeface="Arial"/>
              <a:cs typeface="Arial"/>
              <a:sym typeface="Arial"/>
            </a:endParaRPr>
          </a:p>
        </p:txBody>
      </p:sp>
      <p:sp>
        <p:nvSpPr>
          <p:cNvPr id="228" name="Google Shape;228;p26"/>
          <p:cNvSpPr/>
          <p:nvPr/>
        </p:nvSpPr>
        <p:spPr>
          <a:xfrm>
            <a:off x="5604272" y="3258294"/>
            <a:ext cx="2559397" cy="343570"/>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404155"/>
              </a:buClr>
              <a:buSzPts val="2700"/>
              <a:buFont typeface="Alexandria"/>
              <a:buNone/>
            </a:pPr>
            <a:r>
              <a:rPr b="0" i="0" lang="en" sz="2700" u="none" cap="none" strike="noStrike">
                <a:solidFill>
                  <a:srgbClr val="404155"/>
                </a:solidFill>
                <a:latin typeface="Alexandria"/>
                <a:ea typeface="Alexandria"/>
                <a:cs typeface="Alexandria"/>
                <a:sym typeface="Alexandria"/>
              </a:rPr>
              <a:t>80%+</a:t>
            </a:r>
            <a:endParaRPr b="0" i="0" sz="2700" u="none" cap="none" strike="noStrike">
              <a:solidFill>
                <a:srgbClr val="000000"/>
              </a:solidFill>
              <a:latin typeface="Arial"/>
              <a:ea typeface="Arial"/>
              <a:cs typeface="Arial"/>
              <a:sym typeface="Arial"/>
            </a:endParaRPr>
          </a:p>
        </p:txBody>
      </p:sp>
      <p:sp>
        <p:nvSpPr>
          <p:cNvPr id="229" name="Google Shape;229;p26"/>
          <p:cNvSpPr/>
          <p:nvPr/>
        </p:nvSpPr>
        <p:spPr>
          <a:xfrm>
            <a:off x="6118994" y="3711178"/>
            <a:ext cx="1529953" cy="16266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1000"/>
              <a:buFont typeface="Alexandria"/>
              <a:buNone/>
            </a:pPr>
            <a:r>
              <a:rPr b="0" i="0" lang="en" sz="1000" u="none" cap="none" strike="noStrike">
                <a:solidFill>
                  <a:srgbClr val="404155"/>
                </a:solidFill>
                <a:latin typeface="Alexandria"/>
                <a:ea typeface="Alexandria"/>
                <a:cs typeface="Alexandria"/>
                <a:sym typeface="Alexandria"/>
              </a:rPr>
              <a:t>Adoption Potential</a:t>
            </a:r>
            <a:endParaRPr b="0" i="0" sz="1000" u="none" cap="none" strike="noStrike">
              <a:solidFill>
                <a:srgbClr val="000000"/>
              </a:solidFill>
              <a:latin typeface="Arial"/>
              <a:ea typeface="Arial"/>
              <a:cs typeface="Arial"/>
              <a:sym typeface="Arial"/>
            </a:endParaRPr>
          </a:p>
        </p:txBody>
      </p:sp>
      <p:sp>
        <p:nvSpPr>
          <p:cNvPr id="230" name="Google Shape;230;p26"/>
          <p:cNvSpPr/>
          <p:nvPr/>
        </p:nvSpPr>
        <p:spPr>
          <a:xfrm>
            <a:off x="5832872" y="3919686"/>
            <a:ext cx="2330797" cy="288875"/>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88% of students want a wayfinding app; zero-install PWA eliminates the 46% uninstall risk</a:t>
            </a:r>
            <a:endParaRPr b="0" i="0" sz="800" u="none" cap="none" strike="noStrike">
              <a:solidFill>
                <a:srgbClr val="000000"/>
              </a:solidFill>
              <a:latin typeface="Arial"/>
              <a:ea typeface="Arial"/>
              <a:cs typeface="Arial"/>
              <a:sym typeface="Arial"/>
            </a:endParaRPr>
          </a:p>
        </p:txBody>
      </p:sp>
      <p:sp>
        <p:nvSpPr>
          <p:cNvPr id="231" name="Google Shape;231;p26"/>
          <p:cNvSpPr/>
          <p:nvPr/>
        </p:nvSpPr>
        <p:spPr>
          <a:xfrm>
            <a:off x="980220" y="4339035"/>
            <a:ext cx="7183500" cy="512100"/>
          </a:xfrm>
          <a:prstGeom prst="roundRect">
            <a:avLst>
              <a:gd fmla="val 8540" name="adj"/>
            </a:avLst>
          </a:prstGeom>
          <a:solidFill>
            <a:srgbClr val="B6D6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32" name="Google Shape;232;p26"/>
          <p:cNvPicPr preferRelativeResize="0"/>
          <p:nvPr/>
        </p:nvPicPr>
        <p:blipFill rotWithShape="1">
          <a:blip r:embed="rId6">
            <a:alphaModFix/>
          </a:blip>
          <a:srcRect b="0" l="0" r="0" t="0"/>
          <a:stretch/>
        </p:blipFill>
        <p:spPr>
          <a:xfrm>
            <a:off x="1084287" y="4526341"/>
            <a:ext cx="130076" cy="104105"/>
          </a:xfrm>
          <a:prstGeom prst="rect">
            <a:avLst/>
          </a:prstGeom>
          <a:noFill/>
          <a:ln>
            <a:noFill/>
          </a:ln>
        </p:spPr>
      </p:pic>
      <p:sp>
        <p:nvSpPr>
          <p:cNvPr id="233" name="Google Shape;233;p26"/>
          <p:cNvSpPr/>
          <p:nvPr/>
        </p:nvSpPr>
        <p:spPr>
          <a:xfrm>
            <a:off x="1318468" y="4485779"/>
            <a:ext cx="6741300" cy="2889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000000"/>
              </a:buClr>
              <a:buSzPts val="800"/>
              <a:buFont typeface="Nobile"/>
              <a:buNone/>
            </a:pPr>
            <a:r>
              <a:rPr b="0" i="0" lang="en" sz="800" u="none" cap="none" strike="noStrike">
                <a:solidFill>
                  <a:srgbClr val="000000"/>
                </a:solidFill>
                <a:latin typeface="Nobile"/>
                <a:ea typeface="Nobile"/>
                <a:cs typeface="Nobile"/>
                <a:sym typeface="Nobile"/>
              </a:rPr>
              <a:t>"We didn't build a better map. We made three non-obvious decisions forced by real constraints — and they compounded into a campus navigation intelligence layer no existing product has reached."</a:t>
            </a:r>
            <a:endParaRPr b="0" i="0" sz="800" u="none" cap="none" strike="noStrike">
              <a:solidFill>
                <a:srgbClr val="000000"/>
              </a:solidFill>
              <a:latin typeface="Arial"/>
              <a:ea typeface="Arial"/>
              <a:cs typeface="Arial"/>
              <a:sym typeface="Arial"/>
            </a:endParaRPr>
          </a:p>
        </p:txBody>
      </p:sp>
      <p:sp>
        <p:nvSpPr>
          <p:cNvPr id="234" name="Google Shape;234;p26"/>
          <p:cNvSpPr/>
          <p:nvPr/>
        </p:nvSpPr>
        <p:spPr>
          <a:xfrm>
            <a:off x="8059775" y="4851125"/>
            <a:ext cx="1034700" cy="248100"/>
          </a:xfrm>
          <a:prstGeom prst="rect">
            <a:avLst/>
          </a:prstGeom>
          <a:solidFill>
            <a:srgbClr val="F9F9FF"/>
          </a:solidFill>
          <a:ln cap="flat" cmpd="sng" w="9525">
            <a:solidFill>
              <a:srgbClr val="F9F9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7"/>
          <p:cNvSpPr/>
          <p:nvPr/>
        </p:nvSpPr>
        <p:spPr>
          <a:xfrm>
            <a:off x="1285875" y="261938"/>
            <a:ext cx="2395538" cy="23812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500"/>
              <a:buFont typeface="Alexandria"/>
              <a:buNone/>
            </a:pPr>
            <a:r>
              <a:rPr b="0" i="0" lang="en" sz="1500" u="none" cap="none" strike="noStrike">
                <a:solidFill>
                  <a:srgbClr val="1B1B27"/>
                </a:solidFill>
                <a:latin typeface="Alexandria"/>
                <a:ea typeface="Alexandria"/>
                <a:cs typeface="Alexandria"/>
                <a:sym typeface="Alexandria"/>
              </a:rPr>
              <a:t>Execution Approach</a:t>
            </a:r>
            <a:endParaRPr b="0" i="0" sz="1500" u="none" cap="none" strike="noStrike">
              <a:solidFill>
                <a:srgbClr val="000000"/>
              </a:solidFill>
              <a:latin typeface="Arial"/>
              <a:ea typeface="Arial"/>
              <a:cs typeface="Arial"/>
              <a:sym typeface="Arial"/>
            </a:endParaRPr>
          </a:p>
        </p:txBody>
      </p:sp>
      <p:sp>
        <p:nvSpPr>
          <p:cNvPr id="241" name="Google Shape;241;p27"/>
          <p:cNvSpPr/>
          <p:nvPr/>
        </p:nvSpPr>
        <p:spPr>
          <a:xfrm>
            <a:off x="1285875" y="628055"/>
            <a:ext cx="7029450" cy="12739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A disciplined four-phase build — from raw campus data to a fully tested, accessibility-compliant navigation intelligence layer.</a:t>
            </a:r>
            <a:endParaRPr b="0" i="0" sz="750" u="none" cap="none" strike="noStrike">
              <a:solidFill>
                <a:srgbClr val="000000"/>
              </a:solidFill>
              <a:latin typeface="Arial"/>
              <a:ea typeface="Arial"/>
              <a:cs typeface="Arial"/>
              <a:sym typeface="Arial"/>
            </a:endParaRPr>
          </a:p>
        </p:txBody>
      </p:sp>
      <p:pic>
        <p:nvPicPr>
          <p:cNvPr descr="preencoded.png" id="242" name="Google Shape;242;p27"/>
          <p:cNvPicPr preferRelativeResize="0"/>
          <p:nvPr/>
        </p:nvPicPr>
        <p:blipFill rotWithShape="1">
          <a:blip r:embed="rId3">
            <a:alphaModFix/>
          </a:blip>
          <a:srcRect b="0" l="0" r="0" t="0"/>
          <a:stretch/>
        </p:blipFill>
        <p:spPr>
          <a:xfrm>
            <a:off x="1285875" y="827410"/>
            <a:ext cx="6572250" cy="1801862"/>
          </a:xfrm>
          <a:prstGeom prst="rect">
            <a:avLst/>
          </a:prstGeom>
          <a:noFill/>
          <a:ln>
            <a:noFill/>
          </a:ln>
        </p:spPr>
      </p:pic>
      <p:sp>
        <p:nvSpPr>
          <p:cNvPr id="243" name="Google Shape;243;p27"/>
          <p:cNvSpPr/>
          <p:nvPr/>
        </p:nvSpPr>
        <p:spPr>
          <a:xfrm>
            <a:off x="2078111" y="1478516"/>
            <a:ext cx="993174" cy="35565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1100"/>
              <a:buFont typeface="Alexandria"/>
              <a:buNone/>
            </a:pPr>
            <a:r>
              <a:rPr b="0" i="0" lang="en" sz="1100" u="none" cap="none" strike="noStrike">
                <a:solidFill>
                  <a:srgbClr val="404155"/>
                </a:solidFill>
                <a:latin typeface="Alexandria"/>
                <a:ea typeface="Alexandria"/>
                <a:cs typeface="Alexandria"/>
                <a:sym typeface="Alexandria"/>
              </a:rPr>
              <a:t>Data &amp; Mapping</a:t>
            </a:r>
            <a:endParaRPr b="0" i="0" sz="1100" u="none" cap="none" strike="noStrike">
              <a:solidFill>
                <a:srgbClr val="000000"/>
              </a:solidFill>
              <a:latin typeface="Arial"/>
              <a:ea typeface="Arial"/>
              <a:cs typeface="Arial"/>
              <a:sym typeface="Arial"/>
            </a:endParaRPr>
          </a:p>
        </p:txBody>
      </p:sp>
      <p:sp>
        <p:nvSpPr>
          <p:cNvPr id="244" name="Google Shape;244;p27"/>
          <p:cNvSpPr/>
          <p:nvPr/>
        </p:nvSpPr>
        <p:spPr>
          <a:xfrm>
            <a:off x="2078111" y="1884756"/>
            <a:ext cx="993174" cy="237698"/>
          </a:xfrm>
          <a:prstGeom prst="rect">
            <a:avLst/>
          </a:prstGeom>
          <a:noFill/>
          <a:ln>
            <a:noFill/>
          </a:ln>
        </p:spPr>
        <p:txBody>
          <a:bodyPr anchorCtr="0" anchor="t" bIns="0" lIns="0" spcFirstLastPara="1" rIns="0" wrap="square" tIns="0">
            <a:noAutofit/>
          </a:bodyPr>
          <a:lstStyle/>
          <a:p>
            <a:pPr indent="0" lvl="0" marL="0" marR="0" rtl="0" algn="ctr">
              <a:lnSpc>
                <a:spcPct val="87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Floor plans, Neo4j graph, QR rollout</a:t>
            </a:r>
            <a:endParaRPr b="0" i="0" sz="850" u="none" cap="none" strike="noStrike">
              <a:solidFill>
                <a:srgbClr val="000000"/>
              </a:solidFill>
              <a:latin typeface="Arial"/>
              <a:ea typeface="Arial"/>
              <a:cs typeface="Arial"/>
              <a:sym typeface="Arial"/>
            </a:endParaRPr>
          </a:p>
        </p:txBody>
      </p:sp>
      <p:sp>
        <p:nvSpPr>
          <p:cNvPr id="245" name="Google Shape;245;p27"/>
          <p:cNvSpPr/>
          <p:nvPr/>
        </p:nvSpPr>
        <p:spPr>
          <a:xfrm>
            <a:off x="3418546" y="1278459"/>
            <a:ext cx="993174" cy="35565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B1B27"/>
              </a:buClr>
              <a:buSzPts val="1100"/>
              <a:buFont typeface="Alexandria"/>
              <a:buNone/>
            </a:pPr>
            <a:r>
              <a:rPr b="0" i="0" lang="en" sz="1100" u="none" cap="none" strike="noStrike">
                <a:solidFill>
                  <a:srgbClr val="1B1B27"/>
                </a:solidFill>
                <a:latin typeface="Alexandria"/>
                <a:ea typeface="Alexandria"/>
                <a:cs typeface="Alexandria"/>
                <a:sym typeface="Alexandria"/>
              </a:rPr>
              <a:t>Agent Development</a:t>
            </a:r>
            <a:endParaRPr b="0" i="0" sz="1100" u="none" cap="none" strike="noStrike">
              <a:solidFill>
                <a:srgbClr val="000000"/>
              </a:solidFill>
              <a:latin typeface="Arial"/>
              <a:ea typeface="Arial"/>
              <a:cs typeface="Arial"/>
              <a:sym typeface="Arial"/>
            </a:endParaRPr>
          </a:p>
        </p:txBody>
      </p:sp>
      <p:sp>
        <p:nvSpPr>
          <p:cNvPr id="246" name="Google Shape;246;p27"/>
          <p:cNvSpPr/>
          <p:nvPr/>
        </p:nvSpPr>
        <p:spPr>
          <a:xfrm>
            <a:off x="3418546" y="1684699"/>
            <a:ext cx="993174" cy="356547"/>
          </a:xfrm>
          <a:prstGeom prst="rect">
            <a:avLst/>
          </a:prstGeom>
          <a:noFill/>
          <a:ln>
            <a:noFill/>
          </a:ln>
        </p:spPr>
        <p:txBody>
          <a:bodyPr anchorCtr="0" anchor="t" bIns="0" lIns="0" spcFirstLastPara="1" rIns="0" wrap="square" tIns="0">
            <a:noAutofit/>
          </a:bodyPr>
          <a:lstStyle/>
          <a:p>
            <a:pPr indent="0" lvl="0" marL="0" marR="0" rtl="0" algn="ctr">
              <a:lnSpc>
                <a:spcPct val="87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LLM agent, FastAPI backend, routing</a:t>
            </a:r>
            <a:endParaRPr b="0" i="0" sz="850" u="none" cap="none" strike="noStrike">
              <a:solidFill>
                <a:srgbClr val="000000"/>
              </a:solidFill>
              <a:latin typeface="Arial"/>
              <a:ea typeface="Arial"/>
              <a:cs typeface="Arial"/>
              <a:sym typeface="Arial"/>
            </a:endParaRPr>
          </a:p>
        </p:txBody>
      </p:sp>
      <p:sp>
        <p:nvSpPr>
          <p:cNvPr id="247" name="Google Shape;247;p27"/>
          <p:cNvSpPr/>
          <p:nvPr/>
        </p:nvSpPr>
        <p:spPr>
          <a:xfrm>
            <a:off x="4784271" y="1478516"/>
            <a:ext cx="993174" cy="35565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B1B27"/>
              </a:buClr>
              <a:buSzPts val="1100"/>
              <a:buFont typeface="Alexandria"/>
              <a:buNone/>
            </a:pPr>
            <a:r>
              <a:rPr b="0" i="0" lang="en" sz="1100" u="none" cap="none" strike="noStrike">
                <a:solidFill>
                  <a:srgbClr val="1B1B27"/>
                </a:solidFill>
                <a:latin typeface="Alexandria"/>
                <a:ea typeface="Alexandria"/>
                <a:cs typeface="Alexandria"/>
                <a:sym typeface="Alexandria"/>
              </a:rPr>
              <a:t>Navigation Intelligence</a:t>
            </a:r>
            <a:endParaRPr b="0" i="0" sz="1100" u="none" cap="none" strike="noStrike">
              <a:solidFill>
                <a:srgbClr val="000000"/>
              </a:solidFill>
              <a:latin typeface="Arial"/>
              <a:ea typeface="Arial"/>
              <a:cs typeface="Arial"/>
              <a:sym typeface="Arial"/>
            </a:endParaRPr>
          </a:p>
        </p:txBody>
      </p:sp>
      <p:sp>
        <p:nvSpPr>
          <p:cNvPr id="248" name="Google Shape;248;p27"/>
          <p:cNvSpPr/>
          <p:nvPr/>
        </p:nvSpPr>
        <p:spPr>
          <a:xfrm>
            <a:off x="4784271" y="1884756"/>
            <a:ext cx="993174" cy="356547"/>
          </a:xfrm>
          <a:prstGeom prst="rect">
            <a:avLst/>
          </a:prstGeom>
          <a:noFill/>
          <a:ln>
            <a:noFill/>
          </a:ln>
        </p:spPr>
        <p:txBody>
          <a:bodyPr anchorCtr="0" anchor="t" bIns="0" lIns="0" spcFirstLastPara="1" rIns="0" wrap="square" tIns="0">
            <a:noAutofit/>
          </a:bodyPr>
          <a:lstStyle/>
          <a:p>
            <a:pPr indent="0" lvl="0" marL="0" marR="0" rtl="0" algn="ctr">
              <a:lnSpc>
                <a:spcPct val="87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Shadow map, Bluetooth mesh, offline SOS</a:t>
            </a:r>
            <a:endParaRPr b="0" i="0" sz="850" u="none" cap="none" strike="noStrike">
              <a:solidFill>
                <a:srgbClr val="000000"/>
              </a:solidFill>
              <a:latin typeface="Arial"/>
              <a:ea typeface="Arial"/>
              <a:cs typeface="Arial"/>
              <a:sym typeface="Arial"/>
            </a:endParaRPr>
          </a:p>
        </p:txBody>
      </p:sp>
      <p:sp>
        <p:nvSpPr>
          <p:cNvPr id="249" name="Google Shape;249;p27"/>
          <p:cNvSpPr/>
          <p:nvPr/>
        </p:nvSpPr>
        <p:spPr>
          <a:xfrm>
            <a:off x="6137352" y="1278459"/>
            <a:ext cx="993174" cy="35565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B1B27"/>
              </a:buClr>
              <a:buSzPts val="1100"/>
              <a:buFont typeface="Alexandria"/>
              <a:buNone/>
            </a:pPr>
            <a:r>
              <a:rPr b="0" i="0" lang="en" sz="1100" u="none" cap="none" strike="noStrike">
                <a:solidFill>
                  <a:srgbClr val="1B1B27"/>
                </a:solidFill>
                <a:latin typeface="Alexandria"/>
                <a:ea typeface="Alexandria"/>
                <a:cs typeface="Alexandria"/>
                <a:sym typeface="Alexandria"/>
              </a:rPr>
              <a:t>Testing &amp; Evaluation</a:t>
            </a:r>
            <a:endParaRPr b="0" i="0" sz="1100" u="none" cap="none" strike="noStrike">
              <a:solidFill>
                <a:srgbClr val="000000"/>
              </a:solidFill>
              <a:latin typeface="Arial"/>
              <a:ea typeface="Arial"/>
              <a:cs typeface="Arial"/>
              <a:sym typeface="Arial"/>
            </a:endParaRPr>
          </a:p>
        </p:txBody>
      </p:sp>
      <p:sp>
        <p:nvSpPr>
          <p:cNvPr id="250" name="Google Shape;250;p27"/>
          <p:cNvSpPr/>
          <p:nvPr/>
        </p:nvSpPr>
        <p:spPr>
          <a:xfrm>
            <a:off x="6137352" y="1684699"/>
            <a:ext cx="993174" cy="356547"/>
          </a:xfrm>
          <a:prstGeom prst="rect">
            <a:avLst/>
          </a:prstGeom>
          <a:noFill/>
          <a:ln>
            <a:noFill/>
          </a:ln>
        </p:spPr>
        <p:txBody>
          <a:bodyPr anchorCtr="0" anchor="t" bIns="0" lIns="0" spcFirstLastPara="1" rIns="0" wrap="square" tIns="0">
            <a:noAutofit/>
          </a:bodyPr>
          <a:lstStyle/>
          <a:p>
            <a:pPr indent="0" lvl="0" marL="0" marR="0" rtl="0" algn="ctr">
              <a:lnSpc>
                <a:spcPct val="87000"/>
              </a:lnSpc>
              <a:spcBef>
                <a:spcPts val="0"/>
              </a:spcBef>
              <a:spcAft>
                <a:spcPts val="0"/>
              </a:spcAft>
              <a:buClr>
                <a:srgbClr val="404155"/>
              </a:buClr>
              <a:buSzPts val="850"/>
              <a:buFont typeface="Nobile"/>
              <a:buNone/>
            </a:pPr>
            <a:r>
              <a:rPr b="0" i="0" lang="en" sz="850" u="none" cap="none" strike="noStrike">
                <a:solidFill>
                  <a:srgbClr val="404155"/>
                </a:solidFill>
                <a:latin typeface="Nobile"/>
                <a:ea typeface="Nobile"/>
                <a:cs typeface="Nobile"/>
                <a:sym typeface="Nobile"/>
              </a:rPr>
              <a:t>Route accuracy, WCAG, offline reliability</a:t>
            </a:r>
            <a:endParaRPr b="0" i="0" sz="850" u="none" cap="none" strike="noStrike">
              <a:solidFill>
                <a:srgbClr val="000000"/>
              </a:solidFill>
              <a:latin typeface="Arial"/>
              <a:ea typeface="Arial"/>
              <a:cs typeface="Arial"/>
              <a:sym typeface="Arial"/>
            </a:endParaRPr>
          </a:p>
        </p:txBody>
      </p:sp>
      <p:sp>
        <p:nvSpPr>
          <p:cNvPr id="251" name="Google Shape;251;p27"/>
          <p:cNvSpPr/>
          <p:nvPr/>
        </p:nvSpPr>
        <p:spPr>
          <a:xfrm>
            <a:off x="1285875" y="2765227"/>
            <a:ext cx="1647825" cy="14882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900"/>
              <a:buFont typeface="Alexandria"/>
              <a:buNone/>
            </a:pPr>
            <a:r>
              <a:rPr b="0" i="0" lang="en" sz="900" u="none" cap="none" strike="noStrike">
                <a:solidFill>
                  <a:srgbClr val="1B1B27"/>
                </a:solidFill>
                <a:latin typeface="Alexandria"/>
                <a:ea typeface="Alexandria"/>
                <a:cs typeface="Alexandria"/>
                <a:sym typeface="Alexandria"/>
              </a:rPr>
              <a:t>Demo Flow</a:t>
            </a:r>
            <a:endParaRPr b="0" i="0" sz="900" u="none" cap="none" strike="noStrike">
              <a:solidFill>
                <a:srgbClr val="000000"/>
              </a:solidFill>
              <a:latin typeface="Arial"/>
              <a:ea typeface="Arial"/>
              <a:cs typeface="Arial"/>
              <a:sym typeface="Arial"/>
            </a:endParaRPr>
          </a:p>
        </p:txBody>
      </p:sp>
      <p:pic>
        <p:nvPicPr>
          <p:cNvPr descr="preencoded.png" id="252" name="Google Shape;252;p27"/>
          <p:cNvPicPr preferRelativeResize="0"/>
          <p:nvPr/>
        </p:nvPicPr>
        <p:blipFill rotWithShape="1">
          <a:blip r:embed="rId4">
            <a:alphaModFix/>
          </a:blip>
          <a:srcRect b="0" l="0" r="0" t="0"/>
          <a:stretch/>
        </p:blipFill>
        <p:spPr>
          <a:xfrm>
            <a:off x="1285875" y="2986013"/>
            <a:ext cx="3305994" cy="1240557"/>
          </a:xfrm>
          <a:prstGeom prst="rect">
            <a:avLst/>
          </a:prstGeom>
          <a:noFill/>
          <a:ln>
            <a:noFill/>
          </a:ln>
        </p:spPr>
      </p:pic>
      <p:pic>
        <p:nvPicPr>
          <p:cNvPr descr="preencoded.png" id="253" name="Google Shape;253;p27"/>
          <p:cNvPicPr preferRelativeResize="0"/>
          <p:nvPr/>
        </p:nvPicPr>
        <p:blipFill rotWithShape="1">
          <a:blip r:embed="rId5">
            <a:alphaModFix/>
          </a:blip>
          <a:srcRect b="0" l="0" r="0" t="0"/>
          <a:stretch/>
        </p:blipFill>
        <p:spPr>
          <a:xfrm>
            <a:off x="4109227" y="3302005"/>
            <a:ext cx="170767" cy="170767"/>
          </a:xfrm>
          <a:prstGeom prst="rect">
            <a:avLst/>
          </a:prstGeom>
          <a:noFill/>
          <a:ln>
            <a:noFill/>
          </a:ln>
        </p:spPr>
      </p:pic>
      <p:sp>
        <p:nvSpPr>
          <p:cNvPr id="254" name="Google Shape;254;p27"/>
          <p:cNvSpPr/>
          <p:nvPr/>
        </p:nvSpPr>
        <p:spPr>
          <a:xfrm>
            <a:off x="3957083" y="3877385"/>
            <a:ext cx="498641" cy="192114"/>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600"/>
              <a:buFont typeface="Alexandria"/>
              <a:buNone/>
            </a:pPr>
            <a:r>
              <a:rPr b="0" i="0" lang="en" sz="600" u="none" cap="none" strike="noStrike">
                <a:solidFill>
                  <a:srgbClr val="404155"/>
                </a:solidFill>
                <a:latin typeface="Alexandria"/>
                <a:ea typeface="Alexandria"/>
                <a:cs typeface="Alexandria"/>
                <a:sym typeface="Alexandria"/>
              </a:rPr>
              <a:t>Deliver Route</a:t>
            </a:r>
            <a:endParaRPr b="0" i="0" sz="600" u="none" cap="none" strike="noStrike">
              <a:solidFill>
                <a:srgbClr val="000000"/>
              </a:solidFill>
              <a:latin typeface="Arial"/>
              <a:ea typeface="Arial"/>
              <a:cs typeface="Arial"/>
              <a:sym typeface="Arial"/>
            </a:endParaRPr>
          </a:p>
        </p:txBody>
      </p:sp>
      <p:pic>
        <p:nvPicPr>
          <p:cNvPr descr="preencoded.png" id="255" name="Google Shape;255;p27"/>
          <p:cNvPicPr preferRelativeResize="0"/>
          <p:nvPr/>
        </p:nvPicPr>
        <p:blipFill rotWithShape="1">
          <a:blip r:embed="rId6">
            <a:alphaModFix/>
          </a:blip>
          <a:srcRect b="0" l="0" r="0" t="0"/>
          <a:stretch/>
        </p:blipFill>
        <p:spPr>
          <a:xfrm>
            <a:off x="3484057" y="3302325"/>
            <a:ext cx="170767" cy="170767"/>
          </a:xfrm>
          <a:prstGeom prst="rect">
            <a:avLst/>
          </a:prstGeom>
          <a:noFill/>
          <a:ln>
            <a:noFill/>
          </a:ln>
        </p:spPr>
      </p:pic>
      <p:sp>
        <p:nvSpPr>
          <p:cNvPr id="256" name="Google Shape;256;p27"/>
          <p:cNvSpPr/>
          <p:nvPr/>
        </p:nvSpPr>
        <p:spPr>
          <a:xfrm>
            <a:off x="3328659" y="3877385"/>
            <a:ext cx="498641" cy="192114"/>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600"/>
              <a:buFont typeface="Alexandria"/>
              <a:buNone/>
            </a:pPr>
            <a:r>
              <a:rPr b="0" i="0" lang="en" sz="600" u="none" cap="none" strike="noStrike">
                <a:solidFill>
                  <a:srgbClr val="404155"/>
                </a:solidFill>
                <a:latin typeface="Alexandria"/>
                <a:ea typeface="Alexandria"/>
                <a:cs typeface="Alexandria"/>
                <a:sym typeface="Alexandria"/>
              </a:rPr>
              <a:t>Route Reasoning</a:t>
            </a:r>
            <a:endParaRPr b="0" i="0" sz="600" u="none" cap="none" strike="noStrike">
              <a:solidFill>
                <a:srgbClr val="000000"/>
              </a:solidFill>
              <a:latin typeface="Arial"/>
              <a:ea typeface="Arial"/>
              <a:cs typeface="Arial"/>
              <a:sym typeface="Arial"/>
            </a:endParaRPr>
          </a:p>
        </p:txBody>
      </p:sp>
      <p:pic>
        <p:nvPicPr>
          <p:cNvPr descr="preencoded.png" id="257" name="Google Shape;257;p27"/>
          <p:cNvPicPr preferRelativeResize="0"/>
          <p:nvPr/>
        </p:nvPicPr>
        <p:blipFill rotWithShape="1">
          <a:blip r:embed="rId7">
            <a:alphaModFix/>
          </a:blip>
          <a:srcRect b="0" l="0" r="0" t="0"/>
          <a:stretch/>
        </p:blipFill>
        <p:spPr>
          <a:xfrm>
            <a:off x="2859048" y="3302325"/>
            <a:ext cx="170767" cy="170767"/>
          </a:xfrm>
          <a:prstGeom prst="rect">
            <a:avLst/>
          </a:prstGeom>
          <a:noFill/>
          <a:ln>
            <a:noFill/>
          </a:ln>
        </p:spPr>
      </p:pic>
      <p:sp>
        <p:nvSpPr>
          <p:cNvPr id="258" name="Google Shape;258;p27"/>
          <p:cNvSpPr/>
          <p:nvPr/>
        </p:nvSpPr>
        <p:spPr>
          <a:xfrm>
            <a:off x="2475050" y="3925413"/>
            <a:ext cx="727241" cy="96057"/>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600"/>
              <a:buFont typeface="Alexandria"/>
              <a:buNone/>
            </a:pPr>
            <a:r>
              <a:rPr b="0" i="0" lang="en" sz="600" u="none" cap="none" strike="noStrike">
                <a:solidFill>
                  <a:srgbClr val="404155"/>
                </a:solidFill>
                <a:latin typeface="Alexandria"/>
                <a:ea typeface="Alexandria"/>
                <a:cs typeface="Alexandria"/>
                <a:sym typeface="Alexandria"/>
              </a:rPr>
              <a:t>Scan QR</a:t>
            </a:r>
            <a:endParaRPr b="0" i="0" sz="600" u="none" cap="none" strike="noStrike">
              <a:solidFill>
                <a:srgbClr val="000000"/>
              </a:solidFill>
              <a:latin typeface="Arial"/>
              <a:ea typeface="Arial"/>
              <a:cs typeface="Arial"/>
              <a:sym typeface="Arial"/>
            </a:endParaRPr>
          </a:p>
        </p:txBody>
      </p:sp>
      <p:pic>
        <p:nvPicPr>
          <p:cNvPr descr="preencoded.png" id="259" name="Google Shape;259;p27"/>
          <p:cNvPicPr preferRelativeResize="0"/>
          <p:nvPr/>
        </p:nvPicPr>
        <p:blipFill rotWithShape="1">
          <a:blip r:embed="rId8">
            <a:alphaModFix/>
          </a:blip>
          <a:srcRect b="0" l="0" r="0" t="0"/>
          <a:stretch/>
        </p:blipFill>
        <p:spPr>
          <a:xfrm>
            <a:off x="2234039" y="3302325"/>
            <a:ext cx="170767" cy="170767"/>
          </a:xfrm>
          <a:prstGeom prst="rect">
            <a:avLst/>
          </a:prstGeom>
          <a:noFill/>
          <a:ln>
            <a:noFill/>
          </a:ln>
        </p:spPr>
      </p:pic>
      <p:sp>
        <p:nvSpPr>
          <p:cNvPr id="260" name="Google Shape;260;p27"/>
          <p:cNvSpPr/>
          <p:nvPr/>
        </p:nvSpPr>
        <p:spPr>
          <a:xfrm>
            <a:off x="2078641" y="3877385"/>
            <a:ext cx="498641" cy="192114"/>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600"/>
              <a:buFont typeface="Alexandria"/>
              <a:buNone/>
            </a:pPr>
            <a:r>
              <a:rPr b="0" i="0" lang="en" sz="600" u="none" cap="none" strike="noStrike">
                <a:solidFill>
                  <a:srgbClr val="404155"/>
                </a:solidFill>
                <a:latin typeface="Alexandria"/>
                <a:ea typeface="Alexandria"/>
                <a:cs typeface="Alexandria"/>
                <a:sym typeface="Alexandria"/>
              </a:rPr>
              <a:t>Profile Detect</a:t>
            </a:r>
            <a:endParaRPr b="0" i="0" sz="600" u="none" cap="none" strike="noStrike">
              <a:solidFill>
                <a:srgbClr val="000000"/>
              </a:solidFill>
              <a:latin typeface="Arial"/>
              <a:ea typeface="Arial"/>
              <a:cs typeface="Arial"/>
              <a:sym typeface="Arial"/>
            </a:endParaRPr>
          </a:p>
        </p:txBody>
      </p:sp>
      <p:pic>
        <p:nvPicPr>
          <p:cNvPr descr="preencoded.png" id="261" name="Google Shape;261;p27"/>
          <p:cNvPicPr preferRelativeResize="0"/>
          <p:nvPr/>
        </p:nvPicPr>
        <p:blipFill rotWithShape="1">
          <a:blip r:embed="rId9">
            <a:alphaModFix/>
          </a:blip>
          <a:srcRect b="0" l="0" r="0" t="0"/>
          <a:stretch/>
        </p:blipFill>
        <p:spPr>
          <a:xfrm>
            <a:off x="1605615" y="3302325"/>
            <a:ext cx="170767" cy="170767"/>
          </a:xfrm>
          <a:prstGeom prst="rect">
            <a:avLst/>
          </a:prstGeom>
          <a:noFill/>
          <a:ln>
            <a:noFill/>
          </a:ln>
        </p:spPr>
      </p:pic>
      <p:sp>
        <p:nvSpPr>
          <p:cNvPr id="262" name="Google Shape;262;p27"/>
          <p:cNvSpPr/>
          <p:nvPr/>
        </p:nvSpPr>
        <p:spPr>
          <a:xfrm>
            <a:off x="1211370" y="3925413"/>
            <a:ext cx="727241" cy="96057"/>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04155"/>
              </a:buClr>
              <a:buSzPts val="600"/>
              <a:buFont typeface="Alexandria"/>
              <a:buNone/>
            </a:pPr>
            <a:r>
              <a:rPr b="0" i="0" lang="en" sz="600" u="none" cap="none" strike="noStrike">
                <a:solidFill>
                  <a:srgbClr val="404155"/>
                </a:solidFill>
                <a:latin typeface="Alexandria"/>
                <a:ea typeface="Alexandria"/>
                <a:cs typeface="Alexandria"/>
                <a:sym typeface="Alexandria"/>
              </a:rPr>
              <a:t>User Query</a:t>
            </a:r>
            <a:endParaRPr b="0" i="0" sz="600" u="none" cap="none" strike="noStrike">
              <a:solidFill>
                <a:srgbClr val="000000"/>
              </a:solidFill>
              <a:latin typeface="Arial"/>
              <a:ea typeface="Arial"/>
              <a:cs typeface="Arial"/>
              <a:sym typeface="Arial"/>
            </a:endParaRPr>
          </a:p>
        </p:txBody>
      </p:sp>
      <p:sp>
        <p:nvSpPr>
          <p:cNvPr id="263" name="Google Shape;263;p27"/>
          <p:cNvSpPr/>
          <p:nvPr/>
        </p:nvSpPr>
        <p:spPr>
          <a:xfrm>
            <a:off x="1285875" y="4298528"/>
            <a:ext cx="3305994" cy="447824"/>
          </a:xfrm>
          <a:prstGeom prst="roundRect">
            <a:avLst>
              <a:gd fmla="val 8933" name="adj"/>
            </a:avLst>
          </a:prstGeom>
          <a:solidFill>
            <a:srgbClr val="B6D6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4" name="Google Shape;264;p27"/>
          <p:cNvPicPr preferRelativeResize="0"/>
          <p:nvPr/>
        </p:nvPicPr>
        <p:blipFill rotWithShape="1">
          <a:blip r:embed="rId10">
            <a:alphaModFix/>
          </a:blip>
          <a:srcRect b="0" l="0" r="0" t="0"/>
          <a:stretch/>
        </p:blipFill>
        <p:spPr>
          <a:xfrm>
            <a:off x="1381125" y="4419972"/>
            <a:ext cx="119062" cy="95250"/>
          </a:xfrm>
          <a:prstGeom prst="rect">
            <a:avLst/>
          </a:prstGeom>
          <a:noFill/>
          <a:ln>
            <a:noFill/>
          </a:ln>
        </p:spPr>
      </p:pic>
      <p:sp>
        <p:nvSpPr>
          <p:cNvPr id="265" name="Google Shape;265;p27"/>
          <p:cNvSpPr/>
          <p:nvPr/>
        </p:nvSpPr>
        <p:spPr>
          <a:xfrm>
            <a:off x="1595438" y="4386337"/>
            <a:ext cx="2901181" cy="254794"/>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000000"/>
              </a:buClr>
              <a:buSzPts val="750"/>
              <a:buFont typeface="Nobile"/>
              <a:buNone/>
            </a:pPr>
            <a:r>
              <a:rPr b="1" i="0" lang="en" sz="750" u="none" cap="none" strike="noStrike">
                <a:solidFill>
                  <a:srgbClr val="000000"/>
                </a:solidFill>
                <a:latin typeface="Nobile"/>
                <a:ea typeface="Nobile"/>
                <a:cs typeface="Nobile"/>
                <a:sym typeface="Nobile"/>
              </a:rPr>
              <a:t>Tech Stack:</a:t>
            </a:r>
            <a:r>
              <a:rPr b="0" i="0" lang="en" sz="750" u="none" cap="none" strike="noStrike">
                <a:solidFill>
                  <a:srgbClr val="000000"/>
                </a:solidFill>
                <a:latin typeface="Nobile"/>
                <a:ea typeface="Nobile"/>
                <a:cs typeface="Nobile"/>
                <a:sym typeface="Nobile"/>
              </a:rPr>
              <a:t> </a:t>
            </a:r>
            <a:r>
              <a:rPr lang="en" sz="750">
                <a:latin typeface="Nobile"/>
                <a:ea typeface="Nobile"/>
                <a:cs typeface="Nobile"/>
                <a:sym typeface="Nobile"/>
              </a:rPr>
              <a:t>Groq</a:t>
            </a:r>
            <a:r>
              <a:rPr b="0" i="0" lang="en" sz="750" u="none" cap="none" strike="noStrike">
                <a:solidFill>
                  <a:srgbClr val="000000"/>
                </a:solidFill>
                <a:latin typeface="Nobile"/>
                <a:ea typeface="Nobile"/>
                <a:cs typeface="Nobile"/>
                <a:sym typeface="Nobile"/>
              </a:rPr>
              <a:t> API · LangChain · FastAPI · Neo4j · React PWA · Google Nearby Connections · OpenTelemetry</a:t>
            </a:r>
            <a:endParaRPr b="0" i="0" sz="750" u="none" cap="none" strike="noStrike">
              <a:solidFill>
                <a:srgbClr val="000000"/>
              </a:solidFill>
              <a:latin typeface="Arial"/>
              <a:ea typeface="Arial"/>
              <a:cs typeface="Arial"/>
              <a:sym typeface="Arial"/>
            </a:endParaRPr>
          </a:p>
        </p:txBody>
      </p:sp>
      <p:sp>
        <p:nvSpPr>
          <p:cNvPr id="266" name="Google Shape;266;p27"/>
          <p:cNvSpPr/>
          <p:nvPr/>
        </p:nvSpPr>
        <p:spPr>
          <a:xfrm>
            <a:off x="4828952" y="2765227"/>
            <a:ext cx="1648792" cy="14882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900"/>
              <a:buFont typeface="Alexandria"/>
              <a:buNone/>
            </a:pPr>
            <a:r>
              <a:rPr b="0" i="0" lang="en" sz="900" u="none" cap="none" strike="noStrike">
                <a:solidFill>
                  <a:srgbClr val="1B1B27"/>
                </a:solidFill>
                <a:latin typeface="Alexandria"/>
                <a:ea typeface="Alexandria"/>
                <a:cs typeface="Alexandria"/>
                <a:sym typeface="Alexandria"/>
              </a:rPr>
              <a:t>Evaluation Mapping</a:t>
            </a:r>
            <a:endParaRPr b="0" i="0" sz="900" u="none" cap="none" strike="noStrike">
              <a:solidFill>
                <a:srgbClr val="000000"/>
              </a:solidFill>
              <a:latin typeface="Arial"/>
              <a:ea typeface="Arial"/>
              <a:cs typeface="Arial"/>
              <a:sym typeface="Arial"/>
            </a:endParaRPr>
          </a:p>
        </p:txBody>
      </p:sp>
      <p:sp>
        <p:nvSpPr>
          <p:cNvPr id="267" name="Google Shape;267;p27"/>
          <p:cNvSpPr/>
          <p:nvPr/>
        </p:nvSpPr>
        <p:spPr>
          <a:xfrm>
            <a:off x="4828952" y="2986013"/>
            <a:ext cx="3033900" cy="1825200"/>
          </a:xfrm>
          <a:prstGeom prst="roundRect">
            <a:avLst>
              <a:gd fmla="val 2192"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7"/>
          <p:cNvSpPr/>
          <p:nvPr/>
        </p:nvSpPr>
        <p:spPr>
          <a:xfrm>
            <a:off x="4929039" y="3033936"/>
            <a:ext cx="1627584" cy="12739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1" i="0" lang="en" sz="750" u="none" cap="none" strike="noStrike">
                <a:solidFill>
                  <a:srgbClr val="404155"/>
                </a:solidFill>
                <a:latin typeface="Nobile"/>
                <a:ea typeface="Nobile"/>
                <a:cs typeface="Nobile"/>
                <a:sym typeface="Nobile"/>
              </a:rPr>
              <a:t>Criterion</a:t>
            </a:r>
            <a:endParaRPr b="0" i="0" sz="750" u="none" cap="none" strike="noStrike">
              <a:solidFill>
                <a:srgbClr val="000000"/>
              </a:solidFill>
              <a:latin typeface="Arial"/>
              <a:ea typeface="Arial"/>
              <a:cs typeface="Arial"/>
              <a:sym typeface="Arial"/>
            </a:endParaRPr>
          </a:p>
        </p:txBody>
      </p:sp>
      <p:sp>
        <p:nvSpPr>
          <p:cNvPr id="269" name="Google Shape;269;p27"/>
          <p:cNvSpPr/>
          <p:nvPr/>
        </p:nvSpPr>
        <p:spPr>
          <a:xfrm>
            <a:off x="6289923" y="3033936"/>
            <a:ext cx="1930078" cy="12739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1" i="0" lang="en" sz="750" u="none" cap="none" strike="noStrike">
                <a:solidFill>
                  <a:srgbClr val="404155"/>
                </a:solidFill>
                <a:latin typeface="Nobile"/>
                <a:ea typeface="Nobile"/>
                <a:cs typeface="Nobile"/>
                <a:sym typeface="Nobile"/>
              </a:rPr>
              <a:t>CampusPilot AI Solution</a:t>
            </a:r>
            <a:endParaRPr b="0" i="0" sz="750" u="none" cap="none" strike="noStrike">
              <a:solidFill>
                <a:srgbClr val="000000"/>
              </a:solidFill>
              <a:latin typeface="Arial"/>
              <a:ea typeface="Arial"/>
              <a:cs typeface="Arial"/>
              <a:sym typeface="Arial"/>
            </a:endParaRPr>
          </a:p>
        </p:txBody>
      </p:sp>
      <p:sp>
        <p:nvSpPr>
          <p:cNvPr id="270" name="Google Shape;270;p27"/>
          <p:cNvSpPr/>
          <p:nvPr/>
        </p:nvSpPr>
        <p:spPr>
          <a:xfrm>
            <a:off x="4929039" y="3252415"/>
            <a:ext cx="1627584" cy="12739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Route correctness</a:t>
            </a:r>
            <a:endParaRPr b="0" i="0" sz="750" u="none" cap="none" strike="noStrike">
              <a:solidFill>
                <a:srgbClr val="000000"/>
              </a:solidFill>
              <a:latin typeface="Arial"/>
              <a:ea typeface="Arial"/>
              <a:cs typeface="Arial"/>
              <a:sym typeface="Arial"/>
            </a:endParaRPr>
          </a:p>
        </p:txBody>
      </p:sp>
      <p:sp>
        <p:nvSpPr>
          <p:cNvPr id="271" name="Google Shape;271;p27"/>
          <p:cNvSpPr/>
          <p:nvPr/>
        </p:nvSpPr>
        <p:spPr>
          <a:xfrm>
            <a:off x="6289923" y="3252415"/>
            <a:ext cx="1472878" cy="254794"/>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Knowledge graph + golden dataset testing</a:t>
            </a:r>
            <a:endParaRPr b="0" i="0" sz="750" u="none" cap="none" strike="noStrike">
              <a:solidFill>
                <a:srgbClr val="000000"/>
              </a:solidFill>
              <a:latin typeface="Arial"/>
              <a:ea typeface="Arial"/>
              <a:cs typeface="Arial"/>
              <a:sym typeface="Arial"/>
            </a:endParaRPr>
          </a:p>
        </p:txBody>
      </p:sp>
      <p:sp>
        <p:nvSpPr>
          <p:cNvPr id="272" name="Google Shape;272;p27"/>
          <p:cNvSpPr/>
          <p:nvPr/>
        </p:nvSpPr>
        <p:spPr>
          <a:xfrm>
            <a:off x="4929039" y="3598292"/>
            <a:ext cx="1627584" cy="12739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Accessibility options</a:t>
            </a:r>
            <a:endParaRPr b="0" i="0" sz="750" u="none" cap="none" strike="noStrike">
              <a:solidFill>
                <a:srgbClr val="000000"/>
              </a:solidFill>
              <a:latin typeface="Arial"/>
              <a:ea typeface="Arial"/>
              <a:cs typeface="Arial"/>
              <a:sym typeface="Arial"/>
            </a:endParaRPr>
          </a:p>
        </p:txBody>
      </p:sp>
      <p:sp>
        <p:nvSpPr>
          <p:cNvPr id="273" name="Google Shape;273;p27"/>
          <p:cNvSpPr/>
          <p:nvPr/>
        </p:nvSpPr>
        <p:spPr>
          <a:xfrm>
            <a:off x="6289923" y="3598292"/>
            <a:ext cx="1930078" cy="12739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5 disability profiles + WCAG 2.1</a:t>
            </a:r>
            <a:endParaRPr b="0" i="0" sz="750" u="none" cap="none" strike="noStrike">
              <a:solidFill>
                <a:srgbClr val="000000"/>
              </a:solidFill>
              <a:latin typeface="Arial"/>
              <a:ea typeface="Arial"/>
              <a:cs typeface="Arial"/>
              <a:sym typeface="Arial"/>
            </a:endParaRPr>
          </a:p>
        </p:txBody>
      </p:sp>
      <p:sp>
        <p:nvSpPr>
          <p:cNvPr id="274" name="Google Shape;274;p27"/>
          <p:cNvSpPr/>
          <p:nvPr/>
        </p:nvSpPr>
        <p:spPr>
          <a:xfrm>
            <a:off x="4929039" y="3816772"/>
            <a:ext cx="1627584" cy="12739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Conversation UX</a:t>
            </a:r>
            <a:endParaRPr b="0" i="0" sz="750" u="none" cap="none" strike="noStrike">
              <a:solidFill>
                <a:srgbClr val="000000"/>
              </a:solidFill>
              <a:latin typeface="Arial"/>
              <a:ea typeface="Arial"/>
              <a:cs typeface="Arial"/>
              <a:sym typeface="Arial"/>
            </a:endParaRPr>
          </a:p>
        </p:txBody>
      </p:sp>
      <p:sp>
        <p:nvSpPr>
          <p:cNvPr id="275" name="Google Shape;275;p27"/>
          <p:cNvSpPr/>
          <p:nvPr/>
        </p:nvSpPr>
        <p:spPr>
          <a:xfrm>
            <a:off x="6289923" y="3816772"/>
            <a:ext cx="1472878" cy="254794"/>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Natural language via Claude + LangChain</a:t>
            </a:r>
            <a:endParaRPr b="0" i="0" sz="750" u="none" cap="none" strike="noStrike">
              <a:solidFill>
                <a:srgbClr val="000000"/>
              </a:solidFill>
              <a:latin typeface="Arial"/>
              <a:ea typeface="Arial"/>
              <a:cs typeface="Arial"/>
              <a:sym typeface="Arial"/>
            </a:endParaRPr>
          </a:p>
        </p:txBody>
      </p:sp>
      <p:sp>
        <p:nvSpPr>
          <p:cNvPr id="276" name="Google Shape;276;p27"/>
          <p:cNvSpPr/>
          <p:nvPr/>
        </p:nvSpPr>
        <p:spPr>
          <a:xfrm>
            <a:off x="4929039" y="4162648"/>
            <a:ext cx="1627584" cy="12739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Context handling</a:t>
            </a:r>
            <a:endParaRPr b="0" i="0" sz="750" u="none" cap="none" strike="noStrike">
              <a:solidFill>
                <a:srgbClr val="000000"/>
              </a:solidFill>
              <a:latin typeface="Arial"/>
              <a:ea typeface="Arial"/>
              <a:cs typeface="Arial"/>
              <a:sym typeface="Arial"/>
            </a:endParaRPr>
          </a:p>
        </p:txBody>
      </p:sp>
      <p:sp>
        <p:nvSpPr>
          <p:cNvPr id="277" name="Google Shape;277;p27"/>
          <p:cNvSpPr/>
          <p:nvPr/>
        </p:nvSpPr>
        <p:spPr>
          <a:xfrm>
            <a:off x="6289923" y="4162648"/>
            <a:ext cx="1472878" cy="254794"/>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Shadow map + admin-flagged updates</a:t>
            </a:r>
            <a:endParaRPr b="0" i="0" sz="750" u="none" cap="none" strike="noStrike">
              <a:solidFill>
                <a:srgbClr val="000000"/>
              </a:solidFill>
              <a:latin typeface="Arial"/>
              <a:ea typeface="Arial"/>
              <a:cs typeface="Arial"/>
              <a:sym typeface="Arial"/>
            </a:endParaRPr>
          </a:p>
        </p:txBody>
      </p:sp>
      <p:sp>
        <p:nvSpPr>
          <p:cNvPr id="278" name="Google Shape;278;p27"/>
          <p:cNvSpPr/>
          <p:nvPr/>
        </p:nvSpPr>
        <p:spPr>
          <a:xfrm>
            <a:off x="4929039" y="4508525"/>
            <a:ext cx="1627584" cy="12739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Offline / low connectivity</a:t>
            </a:r>
            <a:endParaRPr b="0" i="0" sz="750" u="none" cap="none" strike="noStrike">
              <a:solidFill>
                <a:srgbClr val="000000"/>
              </a:solidFill>
              <a:latin typeface="Arial"/>
              <a:ea typeface="Arial"/>
              <a:cs typeface="Arial"/>
              <a:sym typeface="Arial"/>
            </a:endParaRPr>
          </a:p>
        </p:txBody>
      </p:sp>
      <p:sp>
        <p:nvSpPr>
          <p:cNvPr id="279" name="Google Shape;279;p27"/>
          <p:cNvSpPr/>
          <p:nvPr/>
        </p:nvSpPr>
        <p:spPr>
          <a:xfrm>
            <a:off x="6289923" y="4508525"/>
            <a:ext cx="1472878" cy="254794"/>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Mesh network + progressive caching</a:t>
            </a:r>
            <a:endParaRPr b="0" i="0" sz="750" u="none" cap="none" strike="noStrike">
              <a:solidFill>
                <a:srgbClr val="000000"/>
              </a:solidFill>
              <a:latin typeface="Arial"/>
              <a:ea typeface="Arial"/>
              <a:cs typeface="Arial"/>
              <a:sym typeface="Arial"/>
            </a:endParaRPr>
          </a:p>
        </p:txBody>
      </p:sp>
      <p:sp>
        <p:nvSpPr>
          <p:cNvPr id="280" name="Google Shape;280;p27"/>
          <p:cNvSpPr/>
          <p:nvPr/>
        </p:nvSpPr>
        <p:spPr>
          <a:xfrm>
            <a:off x="8035600" y="4849850"/>
            <a:ext cx="1059000" cy="249300"/>
          </a:xfrm>
          <a:prstGeom prst="rect">
            <a:avLst/>
          </a:prstGeom>
          <a:solidFill>
            <a:srgbClr val="F9F9FF"/>
          </a:solidFill>
          <a:ln cap="flat" cmpd="sng" w="9525">
            <a:solidFill>
              <a:srgbClr val="F9F9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8"/>
          <p:cNvSpPr/>
          <p:nvPr/>
        </p:nvSpPr>
        <p:spPr>
          <a:xfrm>
            <a:off x="1285875" y="261938"/>
            <a:ext cx="3500100" cy="238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500"/>
              <a:buFont typeface="Alexandria"/>
              <a:buNone/>
            </a:pPr>
            <a:r>
              <a:rPr b="0" i="0" lang="en" sz="1650" u="none" cap="none" strike="noStrike">
                <a:solidFill>
                  <a:srgbClr val="1B1B27"/>
                </a:solidFill>
                <a:latin typeface="Alexandria"/>
                <a:ea typeface="Alexandria"/>
                <a:cs typeface="Alexandria"/>
                <a:sym typeface="Alexandria"/>
              </a:rPr>
              <a:t>Approach &amp; Methodology</a:t>
            </a:r>
            <a:endParaRPr b="0" i="0" sz="1650" u="none" cap="none" strike="noStrike">
              <a:solidFill>
                <a:srgbClr val="000000"/>
              </a:solidFill>
              <a:latin typeface="Arial"/>
              <a:ea typeface="Arial"/>
              <a:cs typeface="Arial"/>
              <a:sym typeface="Arial"/>
            </a:endParaRPr>
          </a:p>
        </p:txBody>
      </p:sp>
      <p:sp>
        <p:nvSpPr>
          <p:cNvPr id="286" name="Google Shape;286;p28"/>
          <p:cNvSpPr/>
          <p:nvPr/>
        </p:nvSpPr>
        <p:spPr>
          <a:xfrm>
            <a:off x="1285875" y="628055"/>
            <a:ext cx="7029600" cy="127500"/>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750"/>
              <a:buFont typeface="Nobile"/>
              <a:buNone/>
            </a:pPr>
            <a:r>
              <a:rPr b="0" i="0" lang="en" sz="750" u="none" cap="none" strike="noStrike">
                <a:solidFill>
                  <a:srgbClr val="404155"/>
                </a:solidFill>
                <a:latin typeface="Nobile"/>
                <a:ea typeface="Nobile"/>
                <a:cs typeface="Nobile"/>
                <a:sym typeface="Nobile"/>
              </a:rPr>
              <a:t>From root-cause analysis to a justified, agentic-first technical methodology — every design choice traced back to a constraint.</a:t>
            </a:r>
            <a:endParaRPr b="0" i="0" sz="750" u="none" cap="none" strike="noStrike">
              <a:solidFill>
                <a:srgbClr val="000000"/>
              </a:solidFill>
              <a:latin typeface="Arial"/>
              <a:ea typeface="Arial"/>
              <a:cs typeface="Arial"/>
              <a:sym typeface="Arial"/>
            </a:endParaRPr>
          </a:p>
        </p:txBody>
      </p:sp>
      <p:sp>
        <p:nvSpPr>
          <p:cNvPr id="287" name="Google Shape;287;p28"/>
          <p:cNvSpPr/>
          <p:nvPr/>
        </p:nvSpPr>
        <p:spPr>
          <a:xfrm>
            <a:off x="1285875" y="900000"/>
            <a:ext cx="3450000" cy="1850100"/>
          </a:xfrm>
          <a:prstGeom prst="roundRect">
            <a:avLst>
              <a:gd fmla="val 6573" name="adj"/>
            </a:avLst>
          </a:prstGeom>
          <a:solidFill>
            <a:srgbClr val="F9F9FF"/>
          </a:solidFill>
          <a:ln cap="flat" cmpd="sng" w="1427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8"/>
          <p:cNvSpPr/>
          <p:nvPr/>
        </p:nvSpPr>
        <p:spPr>
          <a:xfrm>
            <a:off x="1271588" y="900000"/>
            <a:ext cx="57300" cy="1850100"/>
          </a:xfrm>
          <a:prstGeom prst="roundRect">
            <a:avLst>
              <a:gd fmla="val 70000" name="adj"/>
            </a:avLst>
          </a:prstGeom>
          <a:solidFill>
            <a:srgbClr val="1B54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8"/>
          <p:cNvSpPr/>
          <p:nvPr/>
        </p:nvSpPr>
        <p:spPr>
          <a:xfrm>
            <a:off x="1438275" y="970000"/>
            <a:ext cx="3150000" cy="148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04155"/>
              </a:buClr>
              <a:buSzPts val="900"/>
              <a:buFont typeface="Alexandria"/>
              <a:buNone/>
            </a:pPr>
            <a:r>
              <a:rPr b="0" i="0" lang="en" sz="900" u="none" cap="none" strike="noStrike">
                <a:solidFill>
                  <a:srgbClr val="404155"/>
                </a:solidFill>
                <a:latin typeface="Alexandria"/>
                <a:ea typeface="Alexandria"/>
                <a:cs typeface="Alexandria"/>
                <a:sym typeface="Alexandria"/>
              </a:rPr>
              <a:t>Problem-Solving Process</a:t>
            </a:r>
            <a:endParaRPr b="0" i="0" sz="900" u="none" cap="none" strike="noStrike">
              <a:solidFill>
                <a:srgbClr val="000000"/>
              </a:solidFill>
              <a:latin typeface="Arial"/>
              <a:ea typeface="Arial"/>
              <a:cs typeface="Arial"/>
              <a:sym typeface="Arial"/>
            </a:endParaRPr>
          </a:p>
        </p:txBody>
      </p:sp>
      <p:sp>
        <p:nvSpPr>
          <p:cNvPr id="290" name="Google Shape;290;p28"/>
          <p:cNvSpPr/>
          <p:nvPr/>
        </p:nvSpPr>
        <p:spPr>
          <a:xfrm>
            <a:off x="1438275" y="1180000"/>
            <a:ext cx="3150000" cy="15000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1B54DA"/>
              </a:buClr>
              <a:buSzPts val="700"/>
              <a:buFont typeface="Nobile"/>
              <a:buNone/>
            </a:pPr>
            <a:r>
              <a:rPr b="1" i="0" lang="en" sz="700" u="none" cap="none" strike="noStrike">
                <a:solidFill>
                  <a:srgbClr val="1B54DA"/>
                </a:solidFill>
                <a:latin typeface="Nobile"/>
                <a:ea typeface="Nobile"/>
                <a:cs typeface="Nobile"/>
                <a:sym typeface="Nobile"/>
              </a:rPr>
              <a:t>Whys</a:t>
            </a:r>
            <a:r>
              <a:rPr i="0" lang="en" sz="700" u="none" cap="none" strike="noStrike">
                <a:solidFill>
                  <a:srgbClr val="1B54DA"/>
                </a:solidFill>
                <a:latin typeface="Nobile"/>
                <a:ea typeface="Nobile"/>
                <a:cs typeface="Nobile"/>
                <a:sym typeface="Nobile"/>
              </a:rPr>
              <a:t>: </a:t>
            </a:r>
            <a:r>
              <a:rPr i="0" lang="en" sz="700" u="none" cap="none" strike="noStrike">
                <a:solidFill>
                  <a:srgbClr val="404155"/>
                </a:solidFill>
                <a:latin typeface="Nobile"/>
                <a:ea typeface="Nobile"/>
                <a:cs typeface="Nobile"/>
                <a:sym typeface="Nobile"/>
              </a:rPr>
              <a:t>GPS fails indoors → existing tools built for outdoor use → navigation treated as a mapping problem, not an accessibility challenge.</a:t>
            </a:r>
            <a:endParaRPr i="0" sz="700" u="none" cap="none" strike="noStrike">
              <a:solidFill>
                <a:srgbClr val="000000"/>
              </a:solidFill>
            </a:endParaRPr>
          </a:p>
          <a:p>
            <a:pPr indent="0" lvl="0" marL="0" marR="0" rtl="0" algn="l">
              <a:lnSpc>
                <a:spcPct val="118000"/>
              </a:lnSpc>
              <a:spcBef>
                <a:spcPts val="600"/>
              </a:spcBef>
              <a:spcAft>
                <a:spcPts val="0"/>
              </a:spcAft>
              <a:buClr>
                <a:srgbClr val="1B54DA"/>
              </a:buClr>
              <a:buSzPts val="700"/>
              <a:buFont typeface="Nobile"/>
              <a:buNone/>
            </a:pPr>
            <a:r>
              <a:rPr b="1" lang="en" sz="700">
                <a:solidFill>
                  <a:srgbClr val="1B54DA"/>
                </a:solidFill>
                <a:latin typeface="Nobile"/>
                <a:ea typeface="Nobile"/>
                <a:cs typeface="Nobile"/>
                <a:sym typeface="Nobile"/>
              </a:rPr>
              <a:t>S</a:t>
            </a:r>
            <a:r>
              <a:rPr b="1" i="0" lang="en" sz="700" u="none" cap="none" strike="noStrike">
                <a:solidFill>
                  <a:srgbClr val="1B54DA"/>
                </a:solidFill>
                <a:latin typeface="Nobile"/>
                <a:ea typeface="Nobile"/>
                <a:cs typeface="Nobile"/>
                <a:sym typeface="Nobile"/>
              </a:rPr>
              <a:t>econdary gaps:</a:t>
            </a:r>
            <a:r>
              <a:rPr i="0" lang="en" sz="700" u="none" cap="none" strike="noStrike">
                <a:solidFill>
                  <a:srgbClr val="1B54DA"/>
                </a:solidFill>
                <a:latin typeface="Nobile"/>
                <a:ea typeface="Nobile"/>
                <a:cs typeface="Nobile"/>
                <a:sym typeface="Nobile"/>
              </a:rPr>
              <a:t> </a:t>
            </a:r>
            <a:r>
              <a:rPr i="0" lang="en" sz="700" u="none" cap="none" strike="noStrike">
                <a:solidFill>
                  <a:srgbClr val="404155"/>
                </a:solidFill>
                <a:latin typeface="Nobile"/>
                <a:ea typeface="Nobile"/>
                <a:cs typeface="Nobile"/>
                <a:sym typeface="Nobile"/>
              </a:rPr>
              <a:t>indoor positioning, real-time context, offline resilience, multi-disability coverage.</a:t>
            </a:r>
            <a:endParaRPr i="0" sz="700" u="none" cap="none" strike="noStrike">
              <a:solidFill>
                <a:srgbClr val="000000"/>
              </a:solidFill>
            </a:endParaRPr>
          </a:p>
        </p:txBody>
      </p:sp>
      <p:sp>
        <p:nvSpPr>
          <p:cNvPr id="291" name="Google Shape;291;p28"/>
          <p:cNvSpPr/>
          <p:nvPr/>
        </p:nvSpPr>
        <p:spPr>
          <a:xfrm>
            <a:off x="4865325" y="900000"/>
            <a:ext cx="3450000" cy="1850100"/>
          </a:xfrm>
          <a:prstGeom prst="roundRect">
            <a:avLst>
              <a:gd fmla="val 6573" name="adj"/>
            </a:avLst>
          </a:prstGeom>
          <a:solidFill>
            <a:srgbClr val="F9F9FF"/>
          </a:solidFill>
          <a:ln cap="flat" cmpd="sng" w="1427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8"/>
          <p:cNvSpPr/>
          <p:nvPr/>
        </p:nvSpPr>
        <p:spPr>
          <a:xfrm>
            <a:off x="4851038" y="900000"/>
            <a:ext cx="57300" cy="1850100"/>
          </a:xfrm>
          <a:prstGeom prst="roundRect">
            <a:avLst>
              <a:gd fmla="val 70000" name="adj"/>
            </a:avLst>
          </a:prstGeom>
          <a:solidFill>
            <a:srgbClr val="1B54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8"/>
          <p:cNvSpPr/>
          <p:nvPr/>
        </p:nvSpPr>
        <p:spPr>
          <a:xfrm>
            <a:off x="5017725" y="970000"/>
            <a:ext cx="3150000" cy="148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04155"/>
              </a:buClr>
              <a:buSzPts val="900"/>
              <a:buFont typeface="Alexandria"/>
              <a:buNone/>
            </a:pPr>
            <a:r>
              <a:rPr b="0" i="0" lang="en" sz="900" u="none" cap="none" strike="noStrike">
                <a:solidFill>
                  <a:srgbClr val="404155"/>
                </a:solidFill>
                <a:latin typeface="Alexandria"/>
                <a:ea typeface="Alexandria"/>
                <a:cs typeface="Alexandria"/>
                <a:sym typeface="Alexandria"/>
              </a:rPr>
              <a:t>Key Assumptions</a:t>
            </a:r>
            <a:endParaRPr b="0" i="0" sz="900" u="none" cap="none" strike="noStrike">
              <a:solidFill>
                <a:srgbClr val="000000"/>
              </a:solidFill>
              <a:latin typeface="Arial"/>
              <a:ea typeface="Arial"/>
              <a:cs typeface="Arial"/>
              <a:sym typeface="Arial"/>
            </a:endParaRPr>
          </a:p>
        </p:txBody>
      </p:sp>
      <p:sp>
        <p:nvSpPr>
          <p:cNvPr id="294" name="Google Shape;294;p28"/>
          <p:cNvSpPr/>
          <p:nvPr/>
        </p:nvSpPr>
        <p:spPr>
          <a:xfrm>
            <a:off x="5017725" y="1180000"/>
            <a:ext cx="3150000" cy="1500000"/>
          </a:xfrm>
          <a:prstGeom prst="rect">
            <a:avLst/>
          </a:prstGeom>
          <a:noFill/>
          <a:ln>
            <a:noFill/>
          </a:ln>
        </p:spPr>
        <p:txBody>
          <a:bodyPr anchorCtr="0" anchor="t" bIns="0" lIns="0" spcFirstLastPara="1" rIns="0" wrap="square" tIns="0">
            <a:noAutofit/>
          </a:bodyPr>
          <a:lstStyle/>
          <a:p>
            <a:pPr indent="-171450" lvl="0" marL="171450" marR="0" rtl="0" algn="l">
              <a:lnSpc>
                <a:spcPct val="118000"/>
              </a:lnSpc>
              <a:spcBef>
                <a:spcPts val="0"/>
              </a:spcBef>
              <a:spcAft>
                <a:spcPts val="0"/>
              </a:spcAft>
              <a:buClr>
                <a:srgbClr val="1B54DA"/>
              </a:buClr>
              <a:buSzPts val="700"/>
              <a:buFont typeface="Arial"/>
              <a:buChar char="•"/>
            </a:pPr>
            <a:r>
              <a:rPr b="0" i="0" lang="en" sz="700" u="none" cap="none" strike="noStrike">
                <a:solidFill>
                  <a:srgbClr val="404155"/>
                </a:solidFill>
                <a:latin typeface="Nobile"/>
                <a:ea typeface="Nobile"/>
                <a:cs typeface="Nobile"/>
                <a:sym typeface="Nobile"/>
              </a:rPr>
              <a:t>QR codes deployable at every corridor junction, lift lobby, and entrance at ₹20/point.</a:t>
            </a:r>
            <a:endParaRPr b="0" i="0" sz="700" u="none" cap="none" strike="noStrike">
              <a:solidFill>
                <a:srgbClr val="000000"/>
              </a:solidFill>
              <a:latin typeface="Arial"/>
              <a:ea typeface="Arial"/>
              <a:cs typeface="Arial"/>
              <a:sym typeface="Arial"/>
            </a:endParaRPr>
          </a:p>
          <a:p>
            <a:pPr indent="-171450" lvl="0" marL="171450" marR="0" rtl="0" algn="l">
              <a:lnSpc>
                <a:spcPct val="118000"/>
              </a:lnSpc>
              <a:spcBef>
                <a:spcPts val="700"/>
              </a:spcBef>
              <a:spcAft>
                <a:spcPts val="0"/>
              </a:spcAft>
              <a:buClr>
                <a:srgbClr val="1B54DA"/>
              </a:buClr>
              <a:buSzPts val="700"/>
              <a:buFont typeface="Arial"/>
              <a:buChar char="•"/>
            </a:pPr>
            <a:r>
              <a:rPr b="0" i="0" lang="en" sz="700" u="none" cap="none" strike="noStrike">
                <a:solidFill>
                  <a:srgbClr val="404155"/>
                </a:solidFill>
                <a:latin typeface="Nobile"/>
                <a:ea typeface="Nobile"/>
                <a:cs typeface="Nobile"/>
                <a:sym typeface="Nobile"/>
              </a:rPr>
              <a:t>Users carry smartphones; no app install required — PWA only.</a:t>
            </a:r>
            <a:endParaRPr b="0" i="0" sz="700" u="none" cap="none" strike="noStrike">
              <a:solidFill>
                <a:srgbClr val="000000"/>
              </a:solidFill>
              <a:latin typeface="Arial"/>
              <a:ea typeface="Arial"/>
              <a:cs typeface="Arial"/>
              <a:sym typeface="Arial"/>
            </a:endParaRPr>
          </a:p>
          <a:p>
            <a:pPr indent="-171450" lvl="0" marL="171450" marR="0" rtl="0" algn="l">
              <a:lnSpc>
                <a:spcPct val="118000"/>
              </a:lnSpc>
              <a:spcBef>
                <a:spcPts val="700"/>
              </a:spcBef>
              <a:spcAft>
                <a:spcPts val="0"/>
              </a:spcAft>
              <a:buClr>
                <a:srgbClr val="1B54DA"/>
              </a:buClr>
              <a:buSzPts val="700"/>
              <a:buFont typeface="Arial"/>
              <a:buChar char="•"/>
            </a:pPr>
            <a:r>
              <a:rPr b="0" i="0" lang="en" sz="700" u="none" cap="none" strike="noStrike">
                <a:solidFill>
                  <a:srgbClr val="404155"/>
                </a:solidFill>
                <a:latin typeface="Nobile"/>
                <a:ea typeface="Nobile"/>
                <a:cs typeface="Nobile"/>
                <a:sym typeface="Nobile"/>
              </a:rPr>
              <a:t>Accessibility graph can be seeded manually and self-corrects via shadow mapping.</a:t>
            </a:r>
            <a:endParaRPr b="0" i="0" sz="700" u="none" cap="none" strike="noStrike">
              <a:solidFill>
                <a:srgbClr val="000000"/>
              </a:solidFill>
              <a:latin typeface="Arial"/>
              <a:ea typeface="Arial"/>
              <a:cs typeface="Arial"/>
              <a:sym typeface="Arial"/>
            </a:endParaRPr>
          </a:p>
        </p:txBody>
      </p:sp>
      <p:sp>
        <p:nvSpPr>
          <p:cNvPr id="295" name="Google Shape;295;p28"/>
          <p:cNvSpPr/>
          <p:nvPr/>
        </p:nvSpPr>
        <p:spPr>
          <a:xfrm>
            <a:off x="1285875" y="2870000"/>
            <a:ext cx="3450000" cy="2030100"/>
          </a:xfrm>
          <a:prstGeom prst="roundRect">
            <a:avLst>
              <a:gd fmla="val 6573" name="adj"/>
            </a:avLst>
          </a:prstGeom>
          <a:solidFill>
            <a:srgbClr val="F9F9FF"/>
          </a:solidFill>
          <a:ln cap="flat" cmpd="sng" w="1427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8"/>
          <p:cNvSpPr/>
          <p:nvPr/>
        </p:nvSpPr>
        <p:spPr>
          <a:xfrm>
            <a:off x="1271588" y="2870000"/>
            <a:ext cx="57300" cy="2030100"/>
          </a:xfrm>
          <a:prstGeom prst="roundRect">
            <a:avLst>
              <a:gd fmla="val 70000" name="adj"/>
            </a:avLst>
          </a:prstGeom>
          <a:solidFill>
            <a:srgbClr val="1B54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8"/>
          <p:cNvSpPr/>
          <p:nvPr/>
        </p:nvSpPr>
        <p:spPr>
          <a:xfrm>
            <a:off x="1438275" y="2940000"/>
            <a:ext cx="3150000" cy="148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04155"/>
              </a:buClr>
              <a:buSzPts val="900"/>
              <a:buFont typeface="Alexandria"/>
              <a:buNone/>
            </a:pPr>
            <a:r>
              <a:rPr b="0" i="0" lang="en" sz="900" u="none" cap="none" strike="noStrike">
                <a:solidFill>
                  <a:srgbClr val="404155"/>
                </a:solidFill>
                <a:latin typeface="Alexandria"/>
                <a:ea typeface="Alexandria"/>
                <a:cs typeface="Alexandria"/>
                <a:sym typeface="Alexandria"/>
              </a:rPr>
              <a:t>Methodology</a:t>
            </a:r>
            <a:endParaRPr b="0" i="0" sz="900" u="none" cap="none" strike="noStrike">
              <a:solidFill>
                <a:srgbClr val="000000"/>
              </a:solidFill>
              <a:latin typeface="Arial"/>
              <a:ea typeface="Arial"/>
              <a:cs typeface="Arial"/>
              <a:sym typeface="Arial"/>
            </a:endParaRPr>
          </a:p>
        </p:txBody>
      </p:sp>
      <p:sp>
        <p:nvSpPr>
          <p:cNvPr id="298" name="Google Shape;298;p28"/>
          <p:cNvSpPr/>
          <p:nvPr/>
        </p:nvSpPr>
        <p:spPr>
          <a:xfrm>
            <a:off x="1438275" y="3150000"/>
            <a:ext cx="3150000" cy="1700100"/>
          </a:xfrm>
          <a:prstGeom prst="rect">
            <a:avLst/>
          </a:prstGeom>
          <a:noFill/>
          <a:ln>
            <a:noFill/>
          </a:ln>
        </p:spPr>
        <p:txBody>
          <a:bodyPr anchorCtr="0" anchor="t" bIns="0" lIns="0" spcFirstLastPara="1" rIns="0" wrap="square" tIns="0">
            <a:noAutofit/>
          </a:bodyPr>
          <a:lstStyle/>
          <a:p>
            <a:pPr indent="-171450" lvl="0" marL="171450" marR="0" rtl="0" algn="l">
              <a:lnSpc>
                <a:spcPct val="118000"/>
              </a:lnSpc>
              <a:spcBef>
                <a:spcPts val="0"/>
              </a:spcBef>
              <a:spcAft>
                <a:spcPts val="0"/>
              </a:spcAft>
              <a:buClr>
                <a:srgbClr val="1B54DA"/>
              </a:buClr>
              <a:buSzPts val="700"/>
              <a:buFont typeface="Arial"/>
              <a:buChar char="•"/>
            </a:pPr>
            <a:r>
              <a:rPr b="1" i="0" lang="en" sz="700" u="none" cap="none" strike="noStrike">
                <a:solidFill>
                  <a:srgbClr val="1B54DA"/>
                </a:solidFill>
                <a:latin typeface="Nobile"/>
                <a:ea typeface="Nobile"/>
                <a:cs typeface="Nobile"/>
                <a:sym typeface="Nobile"/>
              </a:rPr>
              <a:t>Agentic AI over RAG</a:t>
            </a:r>
            <a:r>
              <a:rPr b="0" i="0" lang="en" sz="700" u="none" cap="none" strike="noStrike">
                <a:solidFill>
                  <a:srgbClr val="404155"/>
                </a:solidFill>
                <a:latin typeface="Nobile"/>
                <a:ea typeface="Nobile"/>
                <a:cs typeface="Nobile"/>
                <a:sym typeface="Nobile"/>
              </a:rPr>
              <a:t> — navigation is action-chaining, not document retrieval. The agent calls tools, holds state, and re-plans dynamically.</a:t>
            </a:r>
            <a:endParaRPr b="0" i="0" sz="700" u="none" cap="none" strike="noStrike">
              <a:solidFill>
                <a:srgbClr val="000000"/>
              </a:solidFill>
              <a:latin typeface="Arial"/>
              <a:ea typeface="Arial"/>
              <a:cs typeface="Arial"/>
              <a:sym typeface="Arial"/>
            </a:endParaRPr>
          </a:p>
          <a:p>
            <a:pPr indent="-171450" lvl="0" marL="171450" marR="0" rtl="0" algn="l">
              <a:lnSpc>
                <a:spcPct val="118000"/>
              </a:lnSpc>
              <a:spcBef>
                <a:spcPts val="700"/>
              </a:spcBef>
              <a:spcAft>
                <a:spcPts val="0"/>
              </a:spcAft>
              <a:buClr>
                <a:srgbClr val="1B54DA"/>
              </a:buClr>
              <a:buSzPts val="700"/>
              <a:buFont typeface="Arial"/>
              <a:buChar char="•"/>
            </a:pPr>
            <a:r>
              <a:rPr b="1" i="0" lang="en" sz="700" u="none" cap="none" strike="noStrike">
                <a:solidFill>
                  <a:srgbClr val="1B54DA"/>
                </a:solidFill>
                <a:latin typeface="Nobile"/>
                <a:ea typeface="Nobile"/>
                <a:cs typeface="Nobile"/>
                <a:sym typeface="Nobile"/>
              </a:rPr>
              <a:t>Neo4j over relational DB</a:t>
            </a:r>
            <a:r>
              <a:rPr b="0" i="0" lang="en" sz="700" u="none" cap="none" strike="noStrike">
                <a:solidFill>
                  <a:srgbClr val="404155"/>
                </a:solidFill>
                <a:latin typeface="Nobile"/>
                <a:ea typeface="Nobile"/>
                <a:cs typeface="Nobile"/>
                <a:sym typeface="Nobile"/>
              </a:rPr>
              <a:t> — accessible routing is a graph problem; CONNECTS_TO edges carry constraints (wheelchair_accessible, tactile_paving, stairs, lift) that Cypher filters natively.</a:t>
            </a:r>
            <a:endParaRPr b="0" i="0" sz="700" u="none" cap="none" strike="noStrike">
              <a:solidFill>
                <a:srgbClr val="000000"/>
              </a:solidFill>
              <a:latin typeface="Arial"/>
              <a:ea typeface="Arial"/>
              <a:cs typeface="Arial"/>
              <a:sym typeface="Arial"/>
            </a:endParaRPr>
          </a:p>
          <a:p>
            <a:pPr indent="-171450" lvl="0" marL="171450" marR="0" rtl="0" algn="l">
              <a:lnSpc>
                <a:spcPct val="118000"/>
              </a:lnSpc>
              <a:spcBef>
                <a:spcPts val="700"/>
              </a:spcBef>
              <a:spcAft>
                <a:spcPts val="0"/>
              </a:spcAft>
              <a:buClr>
                <a:srgbClr val="1B54DA"/>
              </a:buClr>
              <a:buSzPts val="700"/>
              <a:buFont typeface="Arial"/>
              <a:buChar char="•"/>
            </a:pPr>
            <a:r>
              <a:rPr b="1" i="0" lang="en" sz="700" u="none" cap="none" strike="noStrike">
                <a:solidFill>
                  <a:srgbClr val="1B54DA"/>
                </a:solidFill>
                <a:latin typeface="Nobile"/>
                <a:ea typeface="Nobile"/>
                <a:cs typeface="Nobile"/>
                <a:sym typeface="Nobile"/>
              </a:rPr>
              <a:t>QR over BLE beacons</a:t>
            </a:r>
            <a:r>
              <a:rPr b="0" i="0" lang="en" sz="700" u="none" cap="none" strike="noStrike">
                <a:solidFill>
                  <a:srgbClr val="404155"/>
                </a:solidFill>
                <a:latin typeface="Nobile"/>
                <a:ea typeface="Nobile"/>
                <a:cs typeface="Nobile"/>
                <a:sym typeface="Nobile"/>
              </a:rPr>
              <a:t> — no hardware cost, no battery maintenance, trivially replaceable.</a:t>
            </a:r>
            <a:endParaRPr b="0" i="0" sz="700" u="none" cap="none" strike="noStrike">
              <a:solidFill>
                <a:srgbClr val="000000"/>
              </a:solidFill>
              <a:latin typeface="Arial"/>
              <a:ea typeface="Arial"/>
              <a:cs typeface="Arial"/>
              <a:sym typeface="Arial"/>
            </a:endParaRPr>
          </a:p>
        </p:txBody>
      </p:sp>
      <p:sp>
        <p:nvSpPr>
          <p:cNvPr id="299" name="Google Shape;299;p28"/>
          <p:cNvSpPr/>
          <p:nvPr/>
        </p:nvSpPr>
        <p:spPr>
          <a:xfrm>
            <a:off x="4865325" y="2870000"/>
            <a:ext cx="3450000" cy="2030100"/>
          </a:xfrm>
          <a:prstGeom prst="roundRect">
            <a:avLst>
              <a:gd fmla="val 6573" name="adj"/>
            </a:avLst>
          </a:prstGeom>
          <a:solidFill>
            <a:srgbClr val="F9F9FF"/>
          </a:solidFill>
          <a:ln cap="flat" cmpd="sng" w="1427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8"/>
          <p:cNvSpPr/>
          <p:nvPr/>
        </p:nvSpPr>
        <p:spPr>
          <a:xfrm>
            <a:off x="4851038" y="2870000"/>
            <a:ext cx="57300" cy="2030100"/>
          </a:xfrm>
          <a:prstGeom prst="roundRect">
            <a:avLst>
              <a:gd fmla="val 70000" name="adj"/>
            </a:avLst>
          </a:prstGeom>
          <a:solidFill>
            <a:srgbClr val="1B54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8"/>
          <p:cNvSpPr/>
          <p:nvPr/>
        </p:nvSpPr>
        <p:spPr>
          <a:xfrm>
            <a:off x="5017725" y="2940000"/>
            <a:ext cx="3150000" cy="148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04155"/>
              </a:buClr>
              <a:buSzPts val="900"/>
              <a:buFont typeface="Alexandria"/>
              <a:buNone/>
            </a:pPr>
            <a:r>
              <a:rPr b="0" i="0" lang="en" sz="900" u="none" cap="none" strike="noStrike">
                <a:solidFill>
                  <a:srgbClr val="404155"/>
                </a:solidFill>
                <a:latin typeface="Alexandria"/>
                <a:ea typeface="Alexandria"/>
                <a:cs typeface="Alexandria"/>
                <a:sym typeface="Alexandria"/>
              </a:rPr>
              <a:t>Major Steps to Solution</a:t>
            </a:r>
            <a:endParaRPr b="0" i="0" sz="900" u="none" cap="none" strike="noStrike">
              <a:solidFill>
                <a:srgbClr val="000000"/>
              </a:solidFill>
              <a:latin typeface="Arial"/>
              <a:ea typeface="Arial"/>
              <a:cs typeface="Arial"/>
              <a:sym typeface="Arial"/>
            </a:endParaRPr>
          </a:p>
        </p:txBody>
      </p:sp>
      <p:sp>
        <p:nvSpPr>
          <p:cNvPr id="302" name="Google Shape;302;p28"/>
          <p:cNvSpPr/>
          <p:nvPr/>
        </p:nvSpPr>
        <p:spPr>
          <a:xfrm>
            <a:off x="5017725" y="3150000"/>
            <a:ext cx="3150000" cy="1700100"/>
          </a:xfrm>
          <a:prstGeom prst="rect">
            <a:avLst/>
          </a:prstGeom>
          <a:noFill/>
          <a:ln>
            <a:noFill/>
          </a:ln>
        </p:spPr>
        <p:txBody>
          <a:bodyPr anchorCtr="0" anchor="t" bIns="0" lIns="0" spcFirstLastPara="1" rIns="0" wrap="square" tIns="0">
            <a:noAutofit/>
          </a:bodyPr>
          <a:lstStyle/>
          <a:p>
            <a:pPr indent="-171450" lvl="0" marL="171450" marR="0" rtl="0" algn="l">
              <a:lnSpc>
                <a:spcPct val="113000"/>
              </a:lnSpc>
              <a:spcBef>
                <a:spcPts val="0"/>
              </a:spcBef>
              <a:spcAft>
                <a:spcPts val="0"/>
              </a:spcAft>
              <a:buClr>
                <a:srgbClr val="1B54DA"/>
              </a:buClr>
              <a:buSzPts val="700"/>
              <a:buFont typeface="Arial"/>
              <a:buAutoNum type="arabicPeriod"/>
            </a:pPr>
            <a:r>
              <a:rPr b="0" i="0" lang="en" sz="700" u="none" cap="none" strike="noStrike">
                <a:solidFill>
                  <a:srgbClr val="404155"/>
                </a:solidFill>
                <a:latin typeface="Nobile"/>
                <a:ea typeface="Nobile"/>
                <a:cs typeface="Nobile"/>
                <a:sym typeface="Nobile"/>
              </a:rPr>
              <a:t>Model the campus as a graph — Neo4j schema with 6 node types and CONNECTS_TO relationships.</a:t>
            </a:r>
            <a:endParaRPr b="0" i="0" sz="700" u="none" cap="none" strike="noStrike">
              <a:solidFill>
                <a:srgbClr val="000000"/>
              </a:solidFill>
              <a:latin typeface="Arial"/>
              <a:ea typeface="Arial"/>
              <a:cs typeface="Arial"/>
              <a:sym typeface="Arial"/>
            </a:endParaRPr>
          </a:p>
          <a:p>
            <a:pPr indent="-171450" lvl="0" marL="171450" marR="0" rtl="0" algn="l">
              <a:lnSpc>
                <a:spcPct val="113000"/>
              </a:lnSpc>
              <a:spcBef>
                <a:spcPts val="500"/>
              </a:spcBef>
              <a:spcAft>
                <a:spcPts val="0"/>
              </a:spcAft>
              <a:buClr>
                <a:srgbClr val="1B54DA"/>
              </a:buClr>
              <a:buSzPts val="700"/>
              <a:buFont typeface="Arial"/>
              <a:buAutoNum type="arabicPeriod"/>
            </a:pPr>
            <a:r>
              <a:rPr b="0" i="0" lang="en" sz="700" u="none" cap="none" strike="noStrike">
                <a:solidFill>
                  <a:srgbClr val="404155"/>
                </a:solidFill>
                <a:latin typeface="Nobile"/>
                <a:ea typeface="Nobile"/>
                <a:cs typeface="Nobile"/>
                <a:sym typeface="Nobile"/>
              </a:rPr>
              <a:t>Build 5 disability profiles as routing constraint dictionaries, not prompt descriptions.</a:t>
            </a:r>
            <a:endParaRPr b="0" i="0" sz="700" u="none" cap="none" strike="noStrike">
              <a:solidFill>
                <a:srgbClr val="000000"/>
              </a:solidFill>
              <a:latin typeface="Arial"/>
              <a:ea typeface="Arial"/>
              <a:cs typeface="Arial"/>
              <a:sym typeface="Arial"/>
            </a:endParaRPr>
          </a:p>
          <a:p>
            <a:pPr indent="-171450" lvl="0" marL="171450" marR="0" rtl="0" algn="l">
              <a:lnSpc>
                <a:spcPct val="113000"/>
              </a:lnSpc>
              <a:spcBef>
                <a:spcPts val="500"/>
              </a:spcBef>
              <a:spcAft>
                <a:spcPts val="0"/>
              </a:spcAft>
              <a:buClr>
                <a:srgbClr val="1B54DA"/>
              </a:buClr>
              <a:buSzPts val="700"/>
              <a:buFont typeface="Arial"/>
              <a:buAutoNum type="arabicPeriod"/>
            </a:pPr>
            <a:r>
              <a:rPr b="0" i="0" lang="en" sz="700" u="none" cap="none" strike="noStrike">
                <a:solidFill>
                  <a:srgbClr val="404155"/>
                </a:solidFill>
                <a:latin typeface="Nobile"/>
                <a:ea typeface="Nobile"/>
                <a:cs typeface="Nobile"/>
                <a:sym typeface="Nobile"/>
              </a:rPr>
              <a:t>Wire a LangChain ReAct agent to 5 tools: qr_lookup, route_query, resolve_room, profile_detect, flag_obstacle.</a:t>
            </a:r>
            <a:endParaRPr b="0" i="0" sz="700" u="none" cap="none" strike="noStrike">
              <a:solidFill>
                <a:srgbClr val="000000"/>
              </a:solidFill>
              <a:latin typeface="Arial"/>
              <a:ea typeface="Arial"/>
              <a:cs typeface="Arial"/>
              <a:sym typeface="Arial"/>
            </a:endParaRPr>
          </a:p>
          <a:p>
            <a:pPr indent="-171450" lvl="0" marL="171450" marR="0" rtl="0" algn="l">
              <a:lnSpc>
                <a:spcPct val="113000"/>
              </a:lnSpc>
              <a:spcBef>
                <a:spcPts val="500"/>
              </a:spcBef>
              <a:spcAft>
                <a:spcPts val="0"/>
              </a:spcAft>
              <a:buClr>
                <a:srgbClr val="1B54DA"/>
              </a:buClr>
              <a:buSzPts val="700"/>
              <a:buFont typeface="Arial"/>
              <a:buAutoNum type="arabicPeriod"/>
            </a:pPr>
            <a:r>
              <a:rPr b="0" i="0" lang="en" sz="700" u="none" cap="none" strike="noStrike">
                <a:solidFill>
                  <a:srgbClr val="404155"/>
                </a:solidFill>
                <a:latin typeface="Nobile"/>
                <a:ea typeface="Nobile"/>
                <a:cs typeface="Nobile"/>
                <a:sym typeface="Nobile"/>
              </a:rPr>
              <a:t>Pre-classify emergencies heuristically (sub-ms) before any LLM call.</a:t>
            </a:r>
            <a:endParaRPr b="0" i="0" sz="700" u="none" cap="none" strike="noStrike">
              <a:solidFill>
                <a:srgbClr val="000000"/>
              </a:solidFill>
              <a:latin typeface="Arial"/>
              <a:ea typeface="Arial"/>
              <a:cs typeface="Arial"/>
              <a:sym typeface="Arial"/>
            </a:endParaRPr>
          </a:p>
          <a:p>
            <a:pPr indent="-171450" lvl="0" marL="171450" marR="0" rtl="0" algn="l">
              <a:lnSpc>
                <a:spcPct val="113000"/>
              </a:lnSpc>
              <a:spcBef>
                <a:spcPts val="500"/>
              </a:spcBef>
              <a:spcAft>
                <a:spcPts val="0"/>
              </a:spcAft>
              <a:buClr>
                <a:srgbClr val="1B54DA"/>
              </a:buClr>
              <a:buSzPts val="700"/>
              <a:buFont typeface="Arial"/>
              <a:buAutoNum type="arabicPeriod"/>
            </a:pPr>
            <a:r>
              <a:rPr b="0" i="0" lang="en" sz="700" u="none" cap="none" strike="noStrike">
                <a:solidFill>
                  <a:srgbClr val="404155"/>
                </a:solidFill>
                <a:latin typeface="Nobile"/>
                <a:ea typeface="Nobile"/>
                <a:cs typeface="Nobile"/>
                <a:sym typeface="Nobile"/>
              </a:rPr>
              <a:t>Build a React PWA frontend with offline-first service worker caching.</a:t>
            </a:r>
            <a:endParaRPr b="0" i="0" sz="700" u="none" cap="none" strike="noStrike">
              <a:solidFill>
                <a:srgbClr val="000000"/>
              </a:solidFill>
              <a:latin typeface="Arial"/>
              <a:ea typeface="Arial"/>
              <a:cs typeface="Arial"/>
              <a:sym typeface="Arial"/>
            </a:endParaRPr>
          </a:p>
        </p:txBody>
      </p:sp>
      <p:sp>
        <p:nvSpPr>
          <p:cNvPr id="303" name="Google Shape;303;p28"/>
          <p:cNvSpPr/>
          <p:nvPr/>
        </p:nvSpPr>
        <p:spPr>
          <a:xfrm>
            <a:off x="8035600" y="4849850"/>
            <a:ext cx="1059000" cy="249300"/>
          </a:xfrm>
          <a:prstGeom prst="rect">
            <a:avLst/>
          </a:prstGeom>
          <a:solidFill>
            <a:srgbClr val="F9F9FF"/>
          </a:solidFill>
          <a:ln cap="flat" cmpd="sng" w="9525">
            <a:solidFill>
              <a:srgbClr val="F9F9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29"/>
          <p:cNvPicPr preferRelativeResize="0"/>
          <p:nvPr/>
        </p:nvPicPr>
        <p:blipFill>
          <a:blip r:embed="rId3">
            <a:alphaModFix/>
          </a:blip>
          <a:stretch>
            <a:fillRect/>
          </a:stretch>
        </p:blipFill>
        <p:spPr>
          <a:xfrm>
            <a:off x="198063" y="1282850"/>
            <a:ext cx="2008875" cy="2853474"/>
          </a:xfrm>
          <a:prstGeom prst="rect">
            <a:avLst/>
          </a:prstGeom>
          <a:noFill/>
          <a:ln>
            <a:noFill/>
          </a:ln>
        </p:spPr>
      </p:pic>
      <p:pic>
        <p:nvPicPr>
          <p:cNvPr id="309" name="Google Shape;309;p29"/>
          <p:cNvPicPr preferRelativeResize="0"/>
          <p:nvPr/>
        </p:nvPicPr>
        <p:blipFill>
          <a:blip r:embed="rId4">
            <a:alphaModFix/>
          </a:blip>
          <a:stretch>
            <a:fillRect/>
          </a:stretch>
        </p:blipFill>
        <p:spPr>
          <a:xfrm>
            <a:off x="2314788" y="1282850"/>
            <a:ext cx="2008875" cy="2853474"/>
          </a:xfrm>
          <a:prstGeom prst="rect">
            <a:avLst/>
          </a:prstGeom>
          <a:noFill/>
          <a:ln>
            <a:noFill/>
          </a:ln>
        </p:spPr>
      </p:pic>
      <p:pic>
        <p:nvPicPr>
          <p:cNvPr id="310" name="Google Shape;310;p29"/>
          <p:cNvPicPr preferRelativeResize="0"/>
          <p:nvPr/>
        </p:nvPicPr>
        <p:blipFill>
          <a:blip r:embed="rId5">
            <a:alphaModFix/>
          </a:blip>
          <a:stretch>
            <a:fillRect/>
          </a:stretch>
        </p:blipFill>
        <p:spPr>
          <a:xfrm>
            <a:off x="4526725" y="1312000"/>
            <a:ext cx="2122125" cy="2853475"/>
          </a:xfrm>
          <a:prstGeom prst="rect">
            <a:avLst/>
          </a:prstGeom>
          <a:noFill/>
          <a:ln>
            <a:noFill/>
          </a:ln>
        </p:spPr>
      </p:pic>
      <p:pic>
        <p:nvPicPr>
          <p:cNvPr id="311" name="Google Shape;311;p29"/>
          <p:cNvPicPr preferRelativeResize="0"/>
          <p:nvPr/>
        </p:nvPicPr>
        <p:blipFill>
          <a:blip r:embed="rId6">
            <a:alphaModFix/>
          </a:blip>
          <a:stretch>
            <a:fillRect/>
          </a:stretch>
        </p:blipFill>
        <p:spPr>
          <a:xfrm>
            <a:off x="6851925" y="1282850"/>
            <a:ext cx="2008875" cy="2853476"/>
          </a:xfrm>
          <a:prstGeom prst="rect">
            <a:avLst/>
          </a:prstGeom>
          <a:noFill/>
          <a:ln>
            <a:noFill/>
          </a:ln>
        </p:spPr>
      </p:pic>
      <p:sp>
        <p:nvSpPr>
          <p:cNvPr id="312" name="Google Shape;312;p29"/>
          <p:cNvSpPr txBox="1"/>
          <p:nvPr/>
        </p:nvSpPr>
        <p:spPr>
          <a:xfrm>
            <a:off x="236374" y="104005"/>
            <a:ext cx="42447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solidFill>
                  <a:srgbClr val="111827"/>
                </a:solidFill>
                <a:latin typeface="Inter"/>
                <a:ea typeface="Inter"/>
                <a:cs typeface="Inter"/>
                <a:sym typeface="Inter"/>
              </a:rPr>
              <a:t>Solution Demonstration</a:t>
            </a:r>
            <a:endParaRPr b="1" sz="1100">
              <a:solidFill>
                <a:schemeClr val="dk1"/>
              </a:solidFill>
              <a:latin typeface="Inter"/>
              <a:ea typeface="Inter"/>
              <a:cs typeface="Inter"/>
              <a:sym typeface="Inter"/>
            </a:endParaRPr>
          </a:p>
        </p:txBody>
      </p:sp>
      <p:sp>
        <p:nvSpPr>
          <p:cNvPr id="313" name="Google Shape;313;p29"/>
          <p:cNvSpPr txBox="1"/>
          <p:nvPr/>
        </p:nvSpPr>
        <p:spPr>
          <a:xfrm>
            <a:off x="253064" y="522110"/>
            <a:ext cx="735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B5563"/>
                </a:solidFill>
                <a:latin typeface="Inter"/>
                <a:ea typeface="Inter"/>
                <a:cs typeface="Inter"/>
                <a:sym typeface="Inter"/>
              </a:rPr>
              <a:t>Four real-world scenarios demonstrating AI-powered navigation, accessibility support, and emergency assistance</a:t>
            </a:r>
            <a:endParaRPr sz="1100">
              <a:solidFill>
                <a:schemeClr val="dk1"/>
              </a:solidFill>
            </a:endParaRPr>
          </a:p>
        </p:txBody>
      </p:sp>
      <p:sp>
        <p:nvSpPr>
          <p:cNvPr id="314" name="Google Shape;314;p29"/>
          <p:cNvSpPr txBox="1"/>
          <p:nvPr/>
        </p:nvSpPr>
        <p:spPr>
          <a:xfrm>
            <a:off x="263000" y="773588"/>
            <a:ext cx="2008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1D4ED8"/>
                </a:solidFill>
                <a:latin typeface="Inter"/>
                <a:ea typeface="Inter"/>
                <a:cs typeface="Inter"/>
                <a:sym typeface="Inter"/>
              </a:rPr>
              <a:t>Indoor Navigation</a:t>
            </a:r>
            <a:br>
              <a:rPr b="1" lang="en">
                <a:solidFill>
                  <a:srgbClr val="1D4ED8"/>
                </a:solidFill>
                <a:latin typeface="Inter"/>
                <a:ea typeface="Inter"/>
                <a:cs typeface="Inter"/>
                <a:sym typeface="Inter"/>
              </a:rPr>
            </a:br>
            <a:endParaRPr b="1" sz="1600">
              <a:solidFill>
                <a:schemeClr val="dk1"/>
              </a:solidFill>
            </a:endParaRPr>
          </a:p>
        </p:txBody>
      </p:sp>
      <p:sp>
        <p:nvSpPr>
          <p:cNvPr id="315" name="Google Shape;315;p29"/>
          <p:cNvSpPr txBox="1"/>
          <p:nvPr/>
        </p:nvSpPr>
        <p:spPr>
          <a:xfrm>
            <a:off x="2271800" y="773600"/>
            <a:ext cx="2246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1D4ED8"/>
                </a:solidFill>
                <a:latin typeface="Inter"/>
                <a:ea typeface="Inter"/>
                <a:cs typeface="Inter"/>
                <a:sym typeface="Inter"/>
              </a:rPr>
              <a:t>Outdoor Route Guidance</a:t>
            </a:r>
            <a:endParaRPr b="1" sz="1500">
              <a:solidFill>
                <a:schemeClr val="dk1"/>
              </a:solidFill>
            </a:endParaRPr>
          </a:p>
        </p:txBody>
      </p:sp>
      <p:sp>
        <p:nvSpPr>
          <p:cNvPr id="316" name="Google Shape;316;p29"/>
          <p:cNvSpPr txBox="1"/>
          <p:nvPr/>
        </p:nvSpPr>
        <p:spPr>
          <a:xfrm>
            <a:off x="4464439" y="773600"/>
            <a:ext cx="2246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1D4ED8"/>
                </a:solidFill>
                <a:latin typeface="Inter"/>
                <a:ea typeface="Inter"/>
                <a:cs typeface="Inter"/>
                <a:sym typeface="Inter"/>
              </a:rPr>
              <a:t>Emergency Assistance</a:t>
            </a:r>
            <a:endParaRPr b="1" sz="1500">
              <a:solidFill>
                <a:schemeClr val="dk1"/>
              </a:solidFill>
            </a:endParaRPr>
          </a:p>
        </p:txBody>
      </p:sp>
      <p:sp>
        <p:nvSpPr>
          <p:cNvPr id="317" name="Google Shape;317;p29"/>
          <p:cNvSpPr txBox="1"/>
          <p:nvPr/>
        </p:nvSpPr>
        <p:spPr>
          <a:xfrm>
            <a:off x="6738625" y="756925"/>
            <a:ext cx="2246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1D4ED8"/>
                </a:solidFill>
                <a:latin typeface="Inter"/>
                <a:ea typeface="Inter"/>
                <a:cs typeface="Inter"/>
                <a:sym typeface="Inter"/>
              </a:rPr>
              <a:t>Accessibility-Aware Nav</a:t>
            </a:r>
            <a:endParaRPr b="1" sz="1500">
              <a:solidFill>
                <a:schemeClr val="dk1"/>
              </a:solidFill>
            </a:endParaRPr>
          </a:p>
        </p:txBody>
      </p:sp>
      <p:sp>
        <p:nvSpPr>
          <p:cNvPr id="318" name="Google Shape;318;p29"/>
          <p:cNvSpPr txBox="1"/>
          <p:nvPr/>
        </p:nvSpPr>
        <p:spPr>
          <a:xfrm>
            <a:off x="141413" y="4218400"/>
            <a:ext cx="2122200" cy="594000"/>
          </a:xfrm>
          <a:prstGeom prst="rect">
            <a:avLst/>
          </a:prstGeom>
          <a:noFill/>
          <a:ln>
            <a:noFill/>
          </a:ln>
        </p:spPr>
        <p:txBody>
          <a:bodyPr anchorCtr="0" anchor="t" bIns="91425" lIns="91425" spcFirstLastPara="1" rIns="91425" wrap="square" tIns="91425">
            <a:spAutoFit/>
          </a:bodyPr>
          <a:lstStyle/>
          <a:p>
            <a:pPr indent="0" lvl="0" marL="0" rtl="0" algn="l">
              <a:lnSpc>
                <a:spcPct val="139897"/>
              </a:lnSpc>
              <a:spcBef>
                <a:spcPts val="0"/>
              </a:spcBef>
              <a:spcAft>
                <a:spcPts val="0"/>
              </a:spcAft>
              <a:buNone/>
            </a:pPr>
            <a:r>
              <a:rPr lang="en" sz="700">
                <a:solidFill>
                  <a:srgbClr val="4B5563"/>
                </a:solidFill>
                <a:latin typeface="Inter"/>
                <a:ea typeface="Inter"/>
                <a:cs typeface="Inter"/>
                <a:sym typeface="Inter"/>
              </a:rPr>
              <a:t>QR-based indoor positioning with floor-aware routing and step-by-step navigation guidance.</a:t>
            </a:r>
            <a:endParaRPr sz="1100">
              <a:solidFill>
                <a:schemeClr val="dk1"/>
              </a:solidFill>
            </a:endParaRPr>
          </a:p>
        </p:txBody>
      </p:sp>
      <p:sp>
        <p:nvSpPr>
          <p:cNvPr id="319" name="Google Shape;319;p29"/>
          <p:cNvSpPr txBox="1"/>
          <p:nvPr/>
        </p:nvSpPr>
        <p:spPr>
          <a:xfrm>
            <a:off x="2314813" y="4218400"/>
            <a:ext cx="2008800" cy="594000"/>
          </a:xfrm>
          <a:prstGeom prst="rect">
            <a:avLst/>
          </a:prstGeom>
          <a:noFill/>
          <a:ln>
            <a:noFill/>
          </a:ln>
        </p:spPr>
        <p:txBody>
          <a:bodyPr anchorCtr="0" anchor="t" bIns="91425" lIns="91425" spcFirstLastPara="1" rIns="91425" wrap="square" tIns="91425">
            <a:spAutoFit/>
          </a:bodyPr>
          <a:lstStyle/>
          <a:p>
            <a:pPr indent="0" lvl="0" marL="0" rtl="0" algn="l">
              <a:lnSpc>
                <a:spcPct val="139897"/>
              </a:lnSpc>
              <a:spcBef>
                <a:spcPts val="0"/>
              </a:spcBef>
              <a:spcAft>
                <a:spcPts val="0"/>
              </a:spcAft>
              <a:buNone/>
            </a:pPr>
            <a:r>
              <a:rPr lang="en" sz="700">
                <a:solidFill>
                  <a:srgbClr val="4B5563"/>
                </a:solidFill>
                <a:latin typeface="Inter"/>
                <a:ea typeface="Inter"/>
                <a:cs typeface="Inter"/>
                <a:sym typeface="Inter"/>
              </a:rPr>
              <a:t>Seamless navigation beyond campus buildings with real-time route progression and turn-by-turn directions.</a:t>
            </a:r>
            <a:endParaRPr sz="1100">
              <a:solidFill>
                <a:schemeClr val="dk1"/>
              </a:solidFill>
            </a:endParaRPr>
          </a:p>
        </p:txBody>
      </p:sp>
      <p:sp>
        <p:nvSpPr>
          <p:cNvPr id="320" name="Google Shape;320;p29"/>
          <p:cNvSpPr txBox="1"/>
          <p:nvPr/>
        </p:nvSpPr>
        <p:spPr>
          <a:xfrm>
            <a:off x="4526688" y="4218400"/>
            <a:ext cx="2122200" cy="744600"/>
          </a:xfrm>
          <a:prstGeom prst="rect">
            <a:avLst/>
          </a:prstGeom>
          <a:noFill/>
          <a:ln>
            <a:noFill/>
          </a:ln>
        </p:spPr>
        <p:txBody>
          <a:bodyPr anchorCtr="0" anchor="t" bIns="91425" lIns="91425" spcFirstLastPara="1" rIns="91425" wrap="square" tIns="91425">
            <a:spAutoFit/>
          </a:bodyPr>
          <a:lstStyle/>
          <a:p>
            <a:pPr indent="0" lvl="0" marL="0" rtl="0" algn="l">
              <a:lnSpc>
                <a:spcPct val="139897"/>
              </a:lnSpc>
              <a:spcBef>
                <a:spcPts val="0"/>
              </a:spcBef>
              <a:spcAft>
                <a:spcPts val="0"/>
              </a:spcAft>
              <a:buClr>
                <a:schemeClr val="dk1"/>
              </a:buClr>
              <a:buFont typeface="Arial"/>
              <a:buNone/>
            </a:pPr>
            <a:r>
              <a:rPr lang="en" sz="700">
                <a:solidFill>
                  <a:srgbClr val="4B5563"/>
                </a:solidFill>
                <a:latin typeface="Inter"/>
                <a:ea typeface="Inter"/>
                <a:cs typeface="Inter"/>
                <a:sym typeface="Inter"/>
              </a:rPr>
              <a:t>Emergency mode instantly shares the user's last known location and enables SOS communication through SMS and mesh broadcasting.</a:t>
            </a:r>
            <a:endParaRPr sz="1100">
              <a:solidFill>
                <a:schemeClr val="dk1"/>
              </a:solidFill>
            </a:endParaRPr>
          </a:p>
        </p:txBody>
      </p:sp>
      <p:sp>
        <p:nvSpPr>
          <p:cNvPr id="321" name="Google Shape;321;p29"/>
          <p:cNvSpPr txBox="1"/>
          <p:nvPr/>
        </p:nvSpPr>
        <p:spPr>
          <a:xfrm>
            <a:off x="6863125" y="4218400"/>
            <a:ext cx="2008800" cy="744600"/>
          </a:xfrm>
          <a:prstGeom prst="rect">
            <a:avLst/>
          </a:prstGeom>
          <a:noFill/>
          <a:ln>
            <a:noFill/>
          </a:ln>
        </p:spPr>
        <p:txBody>
          <a:bodyPr anchorCtr="0" anchor="t" bIns="91425" lIns="91425" spcFirstLastPara="1" rIns="91425" wrap="square" tIns="91425">
            <a:spAutoFit/>
          </a:bodyPr>
          <a:lstStyle/>
          <a:p>
            <a:pPr indent="0" lvl="0" marL="0" rtl="0" algn="l">
              <a:lnSpc>
                <a:spcPct val="139897"/>
              </a:lnSpc>
              <a:spcBef>
                <a:spcPts val="0"/>
              </a:spcBef>
              <a:spcAft>
                <a:spcPts val="0"/>
              </a:spcAft>
              <a:buNone/>
            </a:pPr>
            <a:r>
              <a:rPr lang="en" sz="700">
                <a:solidFill>
                  <a:srgbClr val="4B5563"/>
                </a:solidFill>
                <a:latin typeface="Inter"/>
                <a:ea typeface="Inter"/>
                <a:cs typeface="Inter"/>
                <a:sym typeface="Inter"/>
              </a:rPr>
              <a:t>Navigation adapts to the user's accessibility profile, providing tactile-path guidance and profile-specific route instructions.</a:t>
            </a:r>
            <a:endParaRPr sz="1100">
              <a:solidFill>
                <a:schemeClr val="dk1"/>
              </a:solidFill>
            </a:endParaRPr>
          </a:p>
        </p:txBody>
      </p:sp>
      <p:sp>
        <p:nvSpPr>
          <p:cNvPr id="322" name="Google Shape;322;p29"/>
          <p:cNvSpPr/>
          <p:nvPr/>
        </p:nvSpPr>
        <p:spPr>
          <a:xfrm>
            <a:off x="8017450" y="4835125"/>
            <a:ext cx="1085400" cy="271500"/>
          </a:xfrm>
          <a:prstGeom prst="rect">
            <a:avLst/>
          </a:prstGeom>
          <a:solidFill>
            <a:srgbClr val="F9F9FF"/>
          </a:solidFill>
          <a:ln cap="flat" cmpd="sng" w="9525">
            <a:solidFill>
              <a:srgbClr val="F9F9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6" name="Shape 326"/>
        <p:cNvGrpSpPr/>
        <p:nvPr/>
      </p:nvGrpSpPr>
      <p:grpSpPr>
        <a:xfrm>
          <a:off x="0" y="0"/>
          <a:ext cx="0" cy="0"/>
          <a:chOff x="0" y="0"/>
          <a:chExt cx="0" cy="0"/>
        </a:xfrm>
      </p:grpSpPr>
      <p:sp>
        <p:nvSpPr>
          <p:cNvPr id="327" name="Google Shape;327;p30"/>
          <p:cNvSpPr/>
          <p:nvPr/>
        </p:nvSpPr>
        <p:spPr>
          <a:xfrm>
            <a:off x="457200" y="261938"/>
            <a:ext cx="6000000" cy="238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500"/>
              <a:buFont typeface="Alexandria"/>
              <a:buNone/>
            </a:pPr>
            <a:r>
              <a:rPr b="0" i="0" lang="en" sz="1500" u="none" cap="none" strike="noStrike">
                <a:solidFill>
                  <a:srgbClr val="1B1B27"/>
                </a:solidFill>
                <a:latin typeface="Alexandria"/>
                <a:ea typeface="Alexandria"/>
                <a:cs typeface="Alexandria"/>
                <a:sym typeface="Alexandria"/>
              </a:rPr>
              <a:t>Technical Architecture &amp; Code Flow</a:t>
            </a:r>
            <a:endParaRPr b="0" i="0" sz="1500" u="none" cap="none" strike="noStrike">
              <a:solidFill>
                <a:srgbClr val="000000"/>
              </a:solidFill>
              <a:latin typeface="Arial"/>
              <a:ea typeface="Arial"/>
              <a:cs typeface="Arial"/>
              <a:sym typeface="Arial"/>
            </a:endParaRPr>
          </a:p>
        </p:txBody>
      </p:sp>
      <p:sp>
        <p:nvSpPr>
          <p:cNvPr id="328" name="Google Shape;328;p30"/>
          <p:cNvSpPr/>
          <p:nvPr/>
        </p:nvSpPr>
        <p:spPr>
          <a:xfrm>
            <a:off x="457200" y="540000"/>
            <a:ext cx="8229600" cy="127500"/>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404155"/>
              </a:buClr>
              <a:buSzPts val="800"/>
              <a:buFont typeface="Nobile"/>
              <a:buNone/>
            </a:pPr>
            <a:r>
              <a:rPr b="0" i="0" lang="en" sz="800" u="none" cap="none" strike="noStrike">
                <a:solidFill>
                  <a:srgbClr val="404155"/>
                </a:solidFill>
                <a:latin typeface="Nobile"/>
                <a:ea typeface="Nobile"/>
                <a:cs typeface="Nobile"/>
                <a:sym typeface="Nobile"/>
              </a:rPr>
              <a:t>From PWA to graph database — how a user request becomes a step-by-step accessible route.</a:t>
            </a:r>
            <a:endParaRPr b="0" i="0" sz="800" u="none" cap="none" strike="noStrike">
              <a:solidFill>
                <a:srgbClr val="000000"/>
              </a:solidFill>
              <a:latin typeface="Arial"/>
              <a:ea typeface="Arial"/>
              <a:cs typeface="Arial"/>
              <a:sym typeface="Arial"/>
            </a:endParaRPr>
          </a:p>
        </p:txBody>
      </p:sp>
      <p:sp>
        <p:nvSpPr>
          <p:cNvPr id="329" name="Google Shape;329;p30"/>
          <p:cNvSpPr/>
          <p:nvPr/>
        </p:nvSpPr>
        <p:spPr>
          <a:xfrm>
            <a:off x="407850" y="767575"/>
            <a:ext cx="2700000" cy="1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B1B27"/>
                </a:solidFill>
                <a:latin typeface="Alexandria"/>
                <a:ea typeface="Alexandria"/>
                <a:cs typeface="Alexandria"/>
                <a:sym typeface="Alexandria"/>
              </a:rPr>
              <a:t>4-Layer Architecture</a:t>
            </a:r>
            <a:endParaRPr b="1" i="0" sz="1000" u="none" cap="none" strike="noStrike">
              <a:solidFill>
                <a:srgbClr val="000000"/>
              </a:solidFill>
              <a:latin typeface="Arial"/>
              <a:ea typeface="Arial"/>
              <a:cs typeface="Arial"/>
              <a:sym typeface="Arial"/>
            </a:endParaRPr>
          </a:p>
        </p:txBody>
      </p:sp>
      <p:sp>
        <p:nvSpPr>
          <p:cNvPr id="330" name="Google Shape;330;p30"/>
          <p:cNvSpPr/>
          <p:nvPr/>
        </p:nvSpPr>
        <p:spPr>
          <a:xfrm>
            <a:off x="407850" y="1110188"/>
            <a:ext cx="2700000" cy="429900"/>
          </a:xfrm>
          <a:prstGeom prst="roundRect">
            <a:avLst>
              <a:gd fmla="val 8000" name="adj"/>
            </a:avLst>
          </a:prstGeom>
          <a:solidFill>
            <a:srgbClr val="1B54DA"/>
          </a:solidFill>
          <a:ln>
            <a:noFill/>
          </a:ln>
        </p:spPr>
        <p:txBody>
          <a:bodyPr anchorCtr="0" anchor="ctr" bIns="45000" lIns="91425" spcFirstLastPara="1" rIns="91425" wrap="square" tIns="4500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lexandria"/>
                <a:ea typeface="Alexandria"/>
                <a:cs typeface="Alexandria"/>
                <a:sym typeface="Alexandria"/>
              </a:rPr>
              <a:t>React PWA (Vite + TypeScript)</a:t>
            </a:r>
            <a:endParaRPr b="1" i="0" sz="900" u="none" cap="none" strike="noStrike">
              <a:solidFill>
                <a:srgbClr val="000000"/>
              </a:solidFill>
              <a:latin typeface="Arial"/>
              <a:ea typeface="Arial"/>
              <a:cs typeface="Arial"/>
              <a:sym typeface="Arial"/>
            </a:endParaRPr>
          </a:p>
        </p:txBody>
      </p:sp>
      <p:sp>
        <p:nvSpPr>
          <p:cNvPr id="331" name="Google Shape;331;p30"/>
          <p:cNvSpPr/>
          <p:nvPr/>
        </p:nvSpPr>
        <p:spPr>
          <a:xfrm>
            <a:off x="1657850" y="1540188"/>
            <a:ext cx="200100" cy="220200"/>
          </a:xfrm>
          <a:prstGeom prst="downArrow">
            <a:avLst>
              <a:gd fmla="val 60000" name="adj1"/>
              <a:gd fmla="val 55000" name="adj2"/>
            </a:avLst>
          </a:prstGeom>
          <a:solidFill>
            <a:srgbClr val="B8C3D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30"/>
          <p:cNvSpPr/>
          <p:nvPr/>
        </p:nvSpPr>
        <p:spPr>
          <a:xfrm>
            <a:off x="1940650" y="1550188"/>
            <a:ext cx="500100" cy="1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1" lang="en" sz="700" u="none" cap="none" strike="noStrike">
                <a:solidFill>
                  <a:srgbClr val="404155"/>
                </a:solidFill>
                <a:latin typeface="Nobile"/>
                <a:ea typeface="Nobile"/>
                <a:cs typeface="Nobile"/>
                <a:sym typeface="Nobile"/>
              </a:rPr>
              <a:t>HTTP</a:t>
            </a:r>
            <a:endParaRPr b="0" i="1" sz="700" u="none" cap="none" strike="noStrike">
              <a:solidFill>
                <a:srgbClr val="000000"/>
              </a:solidFill>
              <a:latin typeface="Arial"/>
              <a:ea typeface="Arial"/>
              <a:cs typeface="Arial"/>
              <a:sym typeface="Arial"/>
            </a:endParaRPr>
          </a:p>
        </p:txBody>
      </p:sp>
      <p:sp>
        <p:nvSpPr>
          <p:cNvPr id="333" name="Google Shape;333;p30"/>
          <p:cNvSpPr/>
          <p:nvPr/>
        </p:nvSpPr>
        <p:spPr>
          <a:xfrm>
            <a:off x="407850" y="1760188"/>
            <a:ext cx="2700000" cy="429900"/>
          </a:xfrm>
          <a:prstGeom prst="roundRect">
            <a:avLst>
              <a:gd fmla="val 8000" name="adj"/>
            </a:avLst>
          </a:prstGeom>
          <a:solidFill>
            <a:srgbClr val="404155"/>
          </a:solidFill>
          <a:ln>
            <a:noFill/>
          </a:ln>
        </p:spPr>
        <p:txBody>
          <a:bodyPr anchorCtr="0" anchor="ctr" bIns="45000" lIns="91425" spcFirstLastPara="1" rIns="91425" wrap="square" tIns="4500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lexandria"/>
                <a:ea typeface="Alexandria"/>
                <a:cs typeface="Alexandria"/>
                <a:sym typeface="Alexandria"/>
              </a:rPr>
              <a:t>FastAPI Backend (Python)</a:t>
            </a:r>
            <a:endParaRPr b="1" i="0" sz="900" u="none" cap="none" strike="noStrike">
              <a:solidFill>
                <a:srgbClr val="000000"/>
              </a:solidFill>
              <a:latin typeface="Arial"/>
              <a:ea typeface="Arial"/>
              <a:cs typeface="Arial"/>
              <a:sym typeface="Arial"/>
            </a:endParaRPr>
          </a:p>
        </p:txBody>
      </p:sp>
      <p:sp>
        <p:nvSpPr>
          <p:cNvPr id="334" name="Google Shape;334;p30"/>
          <p:cNvSpPr/>
          <p:nvPr/>
        </p:nvSpPr>
        <p:spPr>
          <a:xfrm>
            <a:off x="1657850" y="2190188"/>
            <a:ext cx="200100" cy="220200"/>
          </a:xfrm>
          <a:prstGeom prst="downArrow">
            <a:avLst>
              <a:gd fmla="val 60000" name="adj1"/>
              <a:gd fmla="val 55000" name="adj2"/>
            </a:avLst>
          </a:prstGeom>
          <a:solidFill>
            <a:srgbClr val="B8C3D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30"/>
          <p:cNvSpPr/>
          <p:nvPr/>
        </p:nvSpPr>
        <p:spPr>
          <a:xfrm>
            <a:off x="407850" y="2410188"/>
            <a:ext cx="2700000" cy="429900"/>
          </a:xfrm>
          <a:prstGeom prst="roundRect">
            <a:avLst>
              <a:gd fmla="val 8000" name="adj"/>
            </a:avLst>
          </a:prstGeom>
          <a:solidFill>
            <a:srgbClr val="404155"/>
          </a:solidFill>
          <a:ln>
            <a:noFill/>
          </a:ln>
        </p:spPr>
        <p:txBody>
          <a:bodyPr anchorCtr="0" anchor="ctr" bIns="45000" lIns="91425" spcFirstLastPara="1" rIns="91425" wrap="square" tIns="4500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lexandria"/>
                <a:ea typeface="Alexandria"/>
                <a:cs typeface="Alexandria"/>
                <a:sym typeface="Alexandria"/>
              </a:rPr>
              <a:t>LangChain Agent</a:t>
            </a:r>
            <a:endParaRPr b="1"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B8C3DF"/>
                </a:solidFill>
                <a:latin typeface="Nobile"/>
                <a:ea typeface="Nobile"/>
                <a:cs typeface="Nobile"/>
                <a:sym typeface="Nobile"/>
              </a:rPr>
              <a:t>(Llama 3.3 70B via Groq)</a:t>
            </a:r>
            <a:endParaRPr b="0" i="0" sz="800" u="none" cap="none" strike="noStrike">
              <a:solidFill>
                <a:srgbClr val="000000"/>
              </a:solidFill>
              <a:latin typeface="Arial"/>
              <a:ea typeface="Arial"/>
              <a:cs typeface="Arial"/>
              <a:sym typeface="Arial"/>
            </a:endParaRPr>
          </a:p>
        </p:txBody>
      </p:sp>
      <p:sp>
        <p:nvSpPr>
          <p:cNvPr id="336" name="Google Shape;336;p30"/>
          <p:cNvSpPr/>
          <p:nvPr/>
        </p:nvSpPr>
        <p:spPr>
          <a:xfrm>
            <a:off x="1657850" y="2840188"/>
            <a:ext cx="200100" cy="220200"/>
          </a:xfrm>
          <a:prstGeom prst="downArrow">
            <a:avLst>
              <a:gd fmla="val 60000" name="adj1"/>
              <a:gd fmla="val 55000" name="adj2"/>
            </a:avLst>
          </a:prstGeom>
          <a:solidFill>
            <a:srgbClr val="B8C3D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30"/>
          <p:cNvSpPr/>
          <p:nvPr/>
        </p:nvSpPr>
        <p:spPr>
          <a:xfrm>
            <a:off x="407850" y="3060188"/>
            <a:ext cx="2700000" cy="429900"/>
          </a:xfrm>
          <a:prstGeom prst="roundRect">
            <a:avLst>
              <a:gd fmla="val 8000" name="adj"/>
            </a:avLst>
          </a:prstGeom>
          <a:solidFill>
            <a:srgbClr val="1B1B27"/>
          </a:solidFill>
          <a:ln>
            <a:noFill/>
          </a:ln>
        </p:spPr>
        <p:txBody>
          <a:bodyPr anchorCtr="0" anchor="ctr" bIns="45000" lIns="91425" spcFirstLastPara="1" rIns="91425" wrap="square" tIns="4500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lexandria"/>
                <a:ea typeface="Alexandria"/>
                <a:cs typeface="Alexandria"/>
                <a:sym typeface="Alexandria"/>
              </a:rPr>
              <a:t>Neo4j Graph Database</a:t>
            </a:r>
            <a:endParaRPr b="1" i="0" sz="900" u="none" cap="none" strike="noStrike">
              <a:solidFill>
                <a:srgbClr val="000000"/>
              </a:solidFill>
              <a:latin typeface="Arial"/>
              <a:ea typeface="Arial"/>
              <a:cs typeface="Arial"/>
              <a:sym typeface="Arial"/>
            </a:endParaRPr>
          </a:p>
        </p:txBody>
      </p:sp>
      <p:sp>
        <p:nvSpPr>
          <p:cNvPr id="338" name="Google Shape;338;p30"/>
          <p:cNvSpPr/>
          <p:nvPr/>
        </p:nvSpPr>
        <p:spPr>
          <a:xfrm>
            <a:off x="457200" y="3652700"/>
            <a:ext cx="2700000" cy="1419900"/>
          </a:xfrm>
          <a:prstGeom prst="roundRect">
            <a:avLst>
              <a:gd fmla="val 5000" name="adj"/>
            </a:avLst>
          </a:prstGeom>
          <a:solidFill>
            <a:srgbClr val="F9F9FF"/>
          </a:solidFill>
          <a:ln>
            <a:noFill/>
          </a:ln>
        </p:spPr>
        <p:txBody>
          <a:bodyPr anchorCtr="0" anchor="t" bIns="130000" lIns="160000" spcFirstLastPara="1" rIns="160000" wrap="square" tIns="13000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B1B27"/>
                </a:solidFill>
                <a:latin typeface="Alexandria"/>
                <a:ea typeface="Alexandria"/>
                <a:cs typeface="Alexandria"/>
                <a:sym typeface="Alexandria"/>
              </a:rPr>
              <a:t>Performance</a:t>
            </a:r>
            <a:endParaRPr b="1" i="0" sz="1000" u="none" cap="none" strike="noStrike">
              <a:solidFill>
                <a:srgbClr val="000000"/>
              </a:solidFill>
              <a:latin typeface="Arial"/>
              <a:ea typeface="Arial"/>
              <a:cs typeface="Arial"/>
              <a:sym typeface="Arial"/>
            </a:endParaRPr>
          </a:p>
          <a:p>
            <a:pPr indent="-50800" lvl="0" marL="0" marR="0" rtl="0" algn="l">
              <a:lnSpc>
                <a:spcPct val="135000"/>
              </a:lnSpc>
              <a:spcBef>
                <a:spcPts val="600"/>
              </a:spcBef>
              <a:spcAft>
                <a:spcPts val="0"/>
              </a:spcAft>
              <a:buClr>
                <a:srgbClr val="000000"/>
              </a:buClr>
              <a:buSzPts val="800"/>
              <a:buFont typeface="Arial"/>
              <a:buChar char="•"/>
            </a:pPr>
            <a:r>
              <a:rPr b="0" i="0" lang="en" sz="800" u="none" cap="none" strike="noStrike">
                <a:solidFill>
                  <a:srgbClr val="404155"/>
                </a:solidFill>
                <a:latin typeface="Nobile"/>
                <a:ea typeface="Nobile"/>
                <a:cs typeface="Nobile"/>
                <a:sym typeface="Nobile"/>
              </a:rPr>
              <a:t>Graph pathfinding: </a:t>
            </a:r>
            <a:r>
              <a:rPr b="1" i="0" lang="en" sz="800" u="none" cap="none" strike="noStrike">
                <a:solidFill>
                  <a:srgbClr val="1B54DA"/>
                </a:solidFill>
                <a:latin typeface="Nobile"/>
                <a:ea typeface="Nobile"/>
                <a:cs typeface="Nobile"/>
                <a:sym typeface="Nobile"/>
              </a:rPr>
              <a:t>&lt;15ms</a:t>
            </a:r>
            <a:endParaRPr sz="1400"/>
          </a:p>
          <a:p>
            <a:pPr indent="-50800" lvl="0" marL="0" marR="0" rtl="0" algn="l">
              <a:lnSpc>
                <a:spcPct val="135000"/>
              </a:lnSpc>
              <a:spcBef>
                <a:spcPts val="0"/>
              </a:spcBef>
              <a:spcAft>
                <a:spcPts val="0"/>
              </a:spcAft>
              <a:buClr>
                <a:srgbClr val="000000"/>
              </a:buClr>
              <a:buSzPts val="800"/>
              <a:buFont typeface="Arial"/>
              <a:buChar char="•"/>
            </a:pPr>
            <a:r>
              <a:rPr b="0" i="0" lang="en" sz="800" u="none" cap="none" strike="noStrike">
                <a:solidFill>
                  <a:srgbClr val="404155"/>
                </a:solidFill>
                <a:latin typeface="Nobile"/>
                <a:ea typeface="Nobile"/>
                <a:cs typeface="Nobile"/>
                <a:sym typeface="Nobile"/>
              </a:rPr>
              <a:t>FastAPI overhead: </a:t>
            </a:r>
            <a:r>
              <a:rPr b="1" i="0" lang="en" sz="800" u="none" cap="none" strike="noStrike">
                <a:solidFill>
                  <a:srgbClr val="1B54DA"/>
                </a:solidFill>
                <a:latin typeface="Nobile"/>
                <a:ea typeface="Nobile"/>
                <a:cs typeface="Nobile"/>
                <a:sym typeface="Nobile"/>
              </a:rPr>
              <a:t>&lt;5ms</a:t>
            </a:r>
            <a:endParaRPr sz="1400"/>
          </a:p>
          <a:p>
            <a:pPr indent="-50800" lvl="0" marL="0" marR="0" rtl="0" algn="l">
              <a:lnSpc>
                <a:spcPct val="135000"/>
              </a:lnSpc>
              <a:spcBef>
                <a:spcPts val="0"/>
              </a:spcBef>
              <a:spcAft>
                <a:spcPts val="0"/>
              </a:spcAft>
              <a:buClr>
                <a:srgbClr val="000000"/>
              </a:buClr>
              <a:buSzPts val="800"/>
              <a:buFont typeface="Arial"/>
              <a:buChar char="•"/>
            </a:pPr>
            <a:r>
              <a:rPr b="0" i="0" lang="en" sz="800" u="none" cap="none" strike="noStrike">
                <a:solidFill>
                  <a:srgbClr val="404155"/>
                </a:solidFill>
                <a:latin typeface="Nobile"/>
                <a:ea typeface="Nobile"/>
                <a:cs typeface="Nobile"/>
                <a:sym typeface="Nobile"/>
              </a:rPr>
              <a:t>Total e2e (with LLM): </a:t>
            </a:r>
            <a:r>
              <a:rPr b="1" i="0" lang="en" sz="800" u="none" cap="none" strike="noStrike">
                <a:solidFill>
                  <a:srgbClr val="1B54DA"/>
                </a:solidFill>
                <a:latin typeface="Nobile"/>
                <a:ea typeface="Nobile"/>
                <a:cs typeface="Nobile"/>
                <a:sym typeface="Nobile"/>
              </a:rPr>
              <a:t>~200ms</a:t>
            </a:r>
            <a:endParaRPr sz="1400"/>
          </a:p>
          <a:p>
            <a:pPr indent="0" lvl="0" marL="342900" marR="0" rtl="0" algn="l">
              <a:lnSpc>
                <a:spcPct val="135000"/>
              </a:lnSpc>
              <a:spcBef>
                <a:spcPts val="0"/>
              </a:spcBef>
              <a:spcAft>
                <a:spcPts val="0"/>
              </a:spcAft>
              <a:buNone/>
            </a:pPr>
            <a:r>
              <a:t/>
            </a:r>
            <a:endParaRPr sz="1400"/>
          </a:p>
        </p:txBody>
      </p:sp>
      <p:sp>
        <p:nvSpPr>
          <p:cNvPr id="339" name="Google Shape;339;p30"/>
          <p:cNvSpPr/>
          <p:nvPr/>
        </p:nvSpPr>
        <p:spPr>
          <a:xfrm>
            <a:off x="3505100" y="746263"/>
            <a:ext cx="3199800" cy="26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B1B27"/>
                </a:solidFill>
                <a:latin typeface="Alexandria"/>
                <a:ea typeface="Alexandria"/>
                <a:cs typeface="Alexandria"/>
                <a:sym typeface="Alexandria"/>
              </a:rPr>
              <a:t>Request Flow (step by step)</a:t>
            </a:r>
            <a:endParaRPr b="1" i="0" sz="1000" u="none" cap="none" strike="noStrike">
              <a:solidFill>
                <a:srgbClr val="000000"/>
              </a:solidFill>
              <a:latin typeface="Arial"/>
              <a:ea typeface="Arial"/>
              <a:cs typeface="Arial"/>
              <a:sym typeface="Arial"/>
            </a:endParaRPr>
          </a:p>
        </p:txBody>
      </p:sp>
      <p:sp>
        <p:nvSpPr>
          <p:cNvPr id="340" name="Google Shape;340;p30"/>
          <p:cNvSpPr/>
          <p:nvPr/>
        </p:nvSpPr>
        <p:spPr>
          <a:xfrm>
            <a:off x="3360000" y="1095742"/>
            <a:ext cx="220200" cy="322200"/>
          </a:xfrm>
          <a:prstGeom prst="ellipse">
            <a:avLst/>
          </a:prstGeom>
          <a:solidFill>
            <a:srgbClr val="1B54D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lexandria"/>
                <a:ea typeface="Alexandria"/>
                <a:cs typeface="Alexandria"/>
                <a:sym typeface="Alexandria"/>
              </a:rPr>
              <a:t>1</a:t>
            </a:r>
            <a:endParaRPr b="1" i="0" sz="800" u="none" cap="none" strike="noStrike">
              <a:solidFill>
                <a:srgbClr val="000000"/>
              </a:solidFill>
              <a:latin typeface="Arial"/>
              <a:ea typeface="Arial"/>
              <a:cs typeface="Arial"/>
              <a:sym typeface="Arial"/>
            </a:endParaRPr>
          </a:p>
        </p:txBody>
      </p:sp>
      <p:sp>
        <p:nvSpPr>
          <p:cNvPr id="341" name="Google Shape;341;p30"/>
          <p:cNvSpPr/>
          <p:nvPr/>
        </p:nvSpPr>
        <p:spPr>
          <a:xfrm>
            <a:off x="3650000" y="1088427"/>
            <a:ext cx="2910000" cy="336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800"/>
              <a:buFont typeface="Arial"/>
              <a:buNone/>
            </a:pPr>
            <a:r>
              <a:rPr b="0" i="0" lang="en" sz="800" u="none" cap="none" strike="noStrike">
                <a:solidFill>
                  <a:srgbClr val="404155"/>
                </a:solidFill>
                <a:latin typeface="Nobile"/>
                <a:ea typeface="Nobile"/>
                <a:cs typeface="Nobile"/>
                <a:sym typeface="Nobile"/>
              </a:rPr>
              <a:t>User scans QR → frontend calls GET /qr/lookup?code=102 → returns building/floor/node ID</a:t>
            </a:r>
            <a:endParaRPr b="0" i="0" sz="800" u="none" cap="none" strike="noStrike">
              <a:solidFill>
                <a:srgbClr val="000000"/>
              </a:solidFill>
              <a:latin typeface="Arial"/>
              <a:ea typeface="Arial"/>
              <a:cs typeface="Arial"/>
              <a:sym typeface="Arial"/>
            </a:endParaRPr>
          </a:p>
        </p:txBody>
      </p:sp>
      <p:sp>
        <p:nvSpPr>
          <p:cNvPr id="342" name="Google Shape;342;p30"/>
          <p:cNvSpPr/>
          <p:nvPr/>
        </p:nvSpPr>
        <p:spPr>
          <a:xfrm>
            <a:off x="3360000" y="1534633"/>
            <a:ext cx="220200" cy="322200"/>
          </a:xfrm>
          <a:prstGeom prst="ellipse">
            <a:avLst/>
          </a:prstGeom>
          <a:solidFill>
            <a:srgbClr val="1B54D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lexandria"/>
                <a:ea typeface="Alexandria"/>
                <a:cs typeface="Alexandria"/>
                <a:sym typeface="Alexandria"/>
              </a:rPr>
              <a:t>2</a:t>
            </a:r>
            <a:endParaRPr b="1" i="0" sz="800" u="none" cap="none" strike="noStrike">
              <a:solidFill>
                <a:srgbClr val="000000"/>
              </a:solidFill>
              <a:latin typeface="Arial"/>
              <a:ea typeface="Arial"/>
              <a:cs typeface="Arial"/>
              <a:sym typeface="Arial"/>
            </a:endParaRPr>
          </a:p>
        </p:txBody>
      </p:sp>
      <p:sp>
        <p:nvSpPr>
          <p:cNvPr id="343" name="Google Shape;343;p30"/>
          <p:cNvSpPr/>
          <p:nvPr/>
        </p:nvSpPr>
        <p:spPr>
          <a:xfrm>
            <a:off x="3650000" y="1527318"/>
            <a:ext cx="2910000" cy="336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800"/>
              <a:buFont typeface="Arial"/>
              <a:buNone/>
            </a:pPr>
            <a:r>
              <a:rPr b="0" i="0" lang="en" sz="800" u="none" cap="none" strike="noStrike">
                <a:solidFill>
                  <a:srgbClr val="404155"/>
                </a:solidFill>
                <a:latin typeface="Nobile"/>
                <a:ea typeface="Nobile"/>
                <a:cs typeface="Nobile"/>
                <a:sym typeface="Nobile"/>
              </a:rPr>
              <a:t>User sends message → frontend calls POST /navigate with {origin, destination, profile}</a:t>
            </a:r>
            <a:endParaRPr b="0" i="0" sz="800" u="none" cap="none" strike="noStrike">
              <a:solidFill>
                <a:srgbClr val="000000"/>
              </a:solidFill>
              <a:latin typeface="Arial"/>
              <a:ea typeface="Arial"/>
              <a:cs typeface="Arial"/>
              <a:sym typeface="Arial"/>
            </a:endParaRPr>
          </a:p>
        </p:txBody>
      </p:sp>
      <p:sp>
        <p:nvSpPr>
          <p:cNvPr id="344" name="Google Shape;344;p30"/>
          <p:cNvSpPr/>
          <p:nvPr/>
        </p:nvSpPr>
        <p:spPr>
          <a:xfrm>
            <a:off x="3360000" y="2017412"/>
            <a:ext cx="220200" cy="322200"/>
          </a:xfrm>
          <a:prstGeom prst="ellipse">
            <a:avLst/>
          </a:prstGeom>
          <a:solidFill>
            <a:srgbClr val="1B54D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lexandria"/>
                <a:ea typeface="Alexandria"/>
                <a:cs typeface="Alexandria"/>
                <a:sym typeface="Alexandria"/>
              </a:rPr>
              <a:t>3</a:t>
            </a:r>
            <a:endParaRPr b="1" i="0" sz="800" u="none" cap="none" strike="noStrike">
              <a:solidFill>
                <a:srgbClr val="000000"/>
              </a:solidFill>
              <a:latin typeface="Arial"/>
              <a:ea typeface="Arial"/>
              <a:cs typeface="Arial"/>
              <a:sym typeface="Arial"/>
            </a:endParaRPr>
          </a:p>
        </p:txBody>
      </p:sp>
      <p:sp>
        <p:nvSpPr>
          <p:cNvPr id="345" name="Google Shape;345;p30"/>
          <p:cNvSpPr/>
          <p:nvPr/>
        </p:nvSpPr>
        <p:spPr>
          <a:xfrm>
            <a:off x="3650000" y="1988153"/>
            <a:ext cx="2910000" cy="409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800"/>
              <a:buFont typeface="Arial"/>
              <a:buNone/>
            </a:pPr>
            <a:r>
              <a:rPr b="0" i="0" lang="en" sz="800" u="none" cap="none" strike="noStrike">
                <a:solidFill>
                  <a:srgbClr val="404155"/>
                </a:solidFill>
                <a:latin typeface="Nobile"/>
                <a:ea typeface="Nobile"/>
                <a:cs typeface="Nobile"/>
                <a:sym typeface="Nobile"/>
              </a:rPr>
              <a:t>FastAPI router creates CampusPilotAgent, enriches input with [Context: Intent=navigate, Profile=Wheelchair, Location=Main Entrance]</a:t>
            </a:r>
            <a:endParaRPr b="0" i="0" sz="800" u="none" cap="none" strike="noStrike">
              <a:solidFill>
                <a:srgbClr val="000000"/>
              </a:solidFill>
              <a:latin typeface="Arial"/>
              <a:ea typeface="Arial"/>
              <a:cs typeface="Arial"/>
              <a:sym typeface="Arial"/>
            </a:endParaRPr>
          </a:p>
        </p:txBody>
      </p:sp>
      <p:sp>
        <p:nvSpPr>
          <p:cNvPr id="346" name="Google Shape;346;p30"/>
          <p:cNvSpPr/>
          <p:nvPr/>
        </p:nvSpPr>
        <p:spPr>
          <a:xfrm>
            <a:off x="3360000" y="2573340"/>
            <a:ext cx="220200" cy="322200"/>
          </a:xfrm>
          <a:prstGeom prst="ellipse">
            <a:avLst/>
          </a:prstGeom>
          <a:solidFill>
            <a:srgbClr val="1B54D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lexandria"/>
                <a:ea typeface="Alexandria"/>
                <a:cs typeface="Alexandria"/>
                <a:sym typeface="Alexandria"/>
              </a:rPr>
              <a:t>4</a:t>
            </a:r>
            <a:endParaRPr b="1" i="0" sz="800" u="none" cap="none" strike="noStrike">
              <a:solidFill>
                <a:srgbClr val="000000"/>
              </a:solidFill>
              <a:latin typeface="Arial"/>
              <a:ea typeface="Arial"/>
              <a:cs typeface="Arial"/>
              <a:sym typeface="Arial"/>
            </a:endParaRPr>
          </a:p>
        </p:txBody>
      </p:sp>
      <p:sp>
        <p:nvSpPr>
          <p:cNvPr id="347" name="Google Shape;347;p30"/>
          <p:cNvSpPr/>
          <p:nvPr/>
        </p:nvSpPr>
        <p:spPr>
          <a:xfrm>
            <a:off x="3650000" y="2544081"/>
            <a:ext cx="2910000" cy="409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800"/>
              <a:buFont typeface="Arial"/>
              <a:buNone/>
            </a:pPr>
            <a:r>
              <a:rPr b="0" i="0" lang="en" sz="800" u="none" cap="none" strike="noStrike">
                <a:solidFill>
                  <a:srgbClr val="404155"/>
                </a:solidFill>
                <a:latin typeface="Nobile"/>
                <a:ea typeface="Nobile"/>
                <a:cs typeface="Nobile"/>
                <a:sym typeface="Nobile"/>
              </a:rPr>
              <a:t>classify_intent() runs first (heuristic, &lt;1ms) — emergency → return immediately; else → pass to LLM</a:t>
            </a:r>
            <a:endParaRPr b="0" i="0" sz="800" u="none" cap="none" strike="noStrike">
              <a:solidFill>
                <a:srgbClr val="000000"/>
              </a:solidFill>
              <a:latin typeface="Arial"/>
              <a:ea typeface="Arial"/>
              <a:cs typeface="Arial"/>
              <a:sym typeface="Arial"/>
            </a:endParaRPr>
          </a:p>
        </p:txBody>
      </p:sp>
      <p:sp>
        <p:nvSpPr>
          <p:cNvPr id="348" name="Google Shape;348;p30"/>
          <p:cNvSpPr/>
          <p:nvPr/>
        </p:nvSpPr>
        <p:spPr>
          <a:xfrm>
            <a:off x="3360000" y="3129268"/>
            <a:ext cx="220200" cy="322200"/>
          </a:xfrm>
          <a:prstGeom prst="ellipse">
            <a:avLst/>
          </a:prstGeom>
          <a:solidFill>
            <a:srgbClr val="1B54D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lexandria"/>
                <a:ea typeface="Alexandria"/>
                <a:cs typeface="Alexandria"/>
                <a:sym typeface="Alexandria"/>
              </a:rPr>
              <a:t>5</a:t>
            </a:r>
            <a:endParaRPr b="1" i="0" sz="800" u="none" cap="none" strike="noStrike">
              <a:solidFill>
                <a:srgbClr val="000000"/>
              </a:solidFill>
              <a:latin typeface="Arial"/>
              <a:ea typeface="Arial"/>
              <a:cs typeface="Arial"/>
              <a:sym typeface="Arial"/>
            </a:endParaRPr>
          </a:p>
        </p:txBody>
      </p:sp>
      <p:sp>
        <p:nvSpPr>
          <p:cNvPr id="349" name="Google Shape;349;p30"/>
          <p:cNvSpPr/>
          <p:nvPr/>
        </p:nvSpPr>
        <p:spPr>
          <a:xfrm>
            <a:off x="3650000" y="3100009"/>
            <a:ext cx="2910000" cy="409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800"/>
              <a:buFont typeface="Arial"/>
              <a:buNone/>
            </a:pPr>
            <a:r>
              <a:rPr b="0" i="0" lang="en" sz="800" u="none" cap="none" strike="noStrike">
                <a:solidFill>
                  <a:srgbClr val="404155"/>
                </a:solidFill>
                <a:latin typeface="Nobile"/>
                <a:ea typeface="Nobile"/>
                <a:cs typeface="Nobile"/>
                <a:sym typeface="Nobile"/>
              </a:rPr>
              <a:t>LangChain AgentExecutor runs ReAct loop: Thought → tool call → Observation → repeat until complete</a:t>
            </a:r>
            <a:endParaRPr b="0" i="0" sz="800" u="none" cap="none" strike="noStrike">
              <a:solidFill>
                <a:srgbClr val="000000"/>
              </a:solidFill>
              <a:latin typeface="Arial"/>
              <a:ea typeface="Arial"/>
              <a:cs typeface="Arial"/>
              <a:sym typeface="Arial"/>
            </a:endParaRPr>
          </a:p>
        </p:txBody>
      </p:sp>
      <p:sp>
        <p:nvSpPr>
          <p:cNvPr id="350" name="Google Shape;350;p30"/>
          <p:cNvSpPr/>
          <p:nvPr/>
        </p:nvSpPr>
        <p:spPr>
          <a:xfrm>
            <a:off x="3360000" y="3685196"/>
            <a:ext cx="220200" cy="322200"/>
          </a:xfrm>
          <a:prstGeom prst="ellipse">
            <a:avLst/>
          </a:prstGeom>
          <a:solidFill>
            <a:srgbClr val="1B54D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lexandria"/>
                <a:ea typeface="Alexandria"/>
                <a:cs typeface="Alexandria"/>
                <a:sym typeface="Alexandria"/>
              </a:rPr>
              <a:t>6</a:t>
            </a:r>
            <a:endParaRPr b="1" i="0" sz="800" u="none" cap="none" strike="noStrike">
              <a:solidFill>
                <a:srgbClr val="000000"/>
              </a:solidFill>
              <a:latin typeface="Arial"/>
              <a:ea typeface="Arial"/>
              <a:cs typeface="Arial"/>
              <a:sym typeface="Arial"/>
            </a:endParaRPr>
          </a:p>
        </p:txBody>
      </p:sp>
      <p:sp>
        <p:nvSpPr>
          <p:cNvPr id="351" name="Google Shape;351;p30"/>
          <p:cNvSpPr/>
          <p:nvPr/>
        </p:nvSpPr>
        <p:spPr>
          <a:xfrm>
            <a:off x="3650000" y="3655937"/>
            <a:ext cx="2910000" cy="409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800"/>
              <a:buFont typeface="Arial"/>
              <a:buNone/>
            </a:pPr>
            <a:r>
              <a:rPr b="0" i="0" lang="en" sz="800" u="none" cap="none" strike="noStrike">
                <a:solidFill>
                  <a:srgbClr val="404155"/>
                </a:solidFill>
                <a:latin typeface="Nobile"/>
                <a:ea typeface="Nobile"/>
                <a:cs typeface="Nobile"/>
                <a:sym typeface="Nobile"/>
              </a:rPr>
              <a:t>route_query calls Neo4j Cypher with accessibility filters → returns node path + edge weights</a:t>
            </a:r>
            <a:endParaRPr b="0" i="0" sz="800" u="none" cap="none" strike="noStrike">
              <a:solidFill>
                <a:srgbClr val="000000"/>
              </a:solidFill>
              <a:latin typeface="Arial"/>
              <a:ea typeface="Arial"/>
              <a:cs typeface="Arial"/>
              <a:sym typeface="Arial"/>
            </a:endParaRPr>
          </a:p>
        </p:txBody>
      </p:sp>
      <p:sp>
        <p:nvSpPr>
          <p:cNvPr id="352" name="Google Shape;352;p30"/>
          <p:cNvSpPr/>
          <p:nvPr/>
        </p:nvSpPr>
        <p:spPr>
          <a:xfrm>
            <a:off x="3360000" y="4241124"/>
            <a:ext cx="220200" cy="322200"/>
          </a:xfrm>
          <a:prstGeom prst="ellipse">
            <a:avLst/>
          </a:prstGeom>
          <a:solidFill>
            <a:srgbClr val="1B54D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lexandria"/>
                <a:ea typeface="Alexandria"/>
                <a:cs typeface="Alexandria"/>
                <a:sym typeface="Alexandria"/>
              </a:rPr>
              <a:t>7</a:t>
            </a:r>
            <a:endParaRPr b="1" i="0" sz="800" u="none" cap="none" strike="noStrike">
              <a:solidFill>
                <a:srgbClr val="000000"/>
              </a:solidFill>
              <a:latin typeface="Arial"/>
              <a:ea typeface="Arial"/>
              <a:cs typeface="Arial"/>
              <a:sym typeface="Arial"/>
            </a:endParaRPr>
          </a:p>
        </p:txBody>
      </p:sp>
      <p:sp>
        <p:nvSpPr>
          <p:cNvPr id="353" name="Google Shape;353;p30"/>
          <p:cNvSpPr/>
          <p:nvPr/>
        </p:nvSpPr>
        <p:spPr>
          <a:xfrm>
            <a:off x="3650000" y="4211865"/>
            <a:ext cx="2910000" cy="409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800"/>
              <a:buFont typeface="Arial"/>
              <a:buNone/>
            </a:pPr>
            <a:r>
              <a:rPr b="0" i="0" lang="en" sz="800" u="none" cap="none" strike="noStrike">
                <a:solidFill>
                  <a:srgbClr val="404155"/>
                </a:solidFill>
                <a:latin typeface="Nobile"/>
                <a:ea typeface="Nobile"/>
                <a:cs typeface="Nobile"/>
                <a:sym typeface="Nobile"/>
              </a:rPr>
              <a:t>Agent formats step-by-step directions → FastAPI wraps as RouteOption response → frontend renders</a:t>
            </a:r>
            <a:endParaRPr b="0" i="0" sz="800" u="none" cap="none" strike="noStrike">
              <a:solidFill>
                <a:srgbClr val="000000"/>
              </a:solidFill>
              <a:latin typeface="Arial"/>
              <a:ea typeface="Arial"/>
              <a:cs typeface="Arial"/>
              <a:sym typeface="Arial"/>
            </a:endParaRPr>
          </a:p>
        </p:txBody>
      </p:sp>
      <p:sp>
        <p:nvSpPr>
          <p:cNvPr id="354" name="Google Shape;354;p30"/>
          <p:cNvSpPr/>
          <p:nvPr/>
        </p:nvSpPr>
        <p:spPr>
          <a:xfrm>
            <a:off x="6960000" y="730000"/>
            <a:ext cx="1726800" cy="1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B1B27"/>
                </a:solidFill>
                <a:latin typeface="Alexandria"/>
                <a:ea typeface="Alexandria"/>
                <a:cs typeface="Alexandria"/>
                <a:sym typeface="Alexandria"/>
              </a:rPr>
              <a:t>Key Components</a:t>
            </a:r>
            <a:endParaRPr b="1" i="0" sz="1000" u="none" cap="none" strike="noStrike">
              <a:solidFill>
                <a:srgbClr val="000000"/>
              </a:solidFill>
              <a:latin typeface="Arial"/>
              <a:ea typeface="Arial"/>
              <a:cs typeface="Arial"/>
              <a:sym typeface="Arial"/>
            </a:endParaRPr>
          </a:p>
        </p:txBody>
      </p:sp>
      <p:sp>
        <p:nvSpPr>
          <p:cNvPr id="355" name="Google Shape;355;p30"/>
          <p:cNvSpPr/>
          <p:nvPr/>
        </p:nvSpPr>
        <p:spPr>
          <a:xfrm>
            <a:off x="6960000" y="980000"/>
            <a:ext cx="1726800" cy="600000"/>
          </a:xfrm>
          <a:prstGeom prst="roundRect">
            <a:avLst>
              <a:gd fmla="val 4000" name="adj"/>
            </a:avLst>
          </a:prstGeom>
          <a:solidFill>
            <a:srgbClr val="F9F9FF"/>
          </a:solidFill>
          <a:ln>
            <a:noFill/>
          </a:ln>
        </p:spPr>
        <p:txBody>
          <a:bodyPr anchorCtr="0" anchor="t" bIns="60000" lIns="100000" spcFirstLastPara="1" rIns="100000" wrap="square" tIns="60000">
            <a:no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1B1B27"/>
                </a:solidFill>
                <a:latin typeface="Alexandria"/>
                <a:ea typeface="Alexandria"/>
                <a:cs typeface="Alexandria"/>
                <a:sym typeface="Alexandria"/>
              </a:rPr>
              <a:t>Intent Classifier</a:t>
            </a:r>
            <a:endParaRPr b="1" i="0" sz="800" u="none" cap="none" strike="noStrike">
              <a:solidFill>
                <a:srgbClr val="000000"/>
              </a:solidFill>
              <a:latin typeface="Arial"/>
              <a:ea typeface="Arial"/>
              <a:cs typeface="Arial"/>
              <a:sym typeface="Arial"/>
            </a:endParaRPr>
          </a:p>
          <a:p>
            <a:pPr indent="0" lvl="0" marL="0" marR="0" rtl="0" algn="l">
              <a:lnSpc>
                <a:spcPct val="110000"/>
              </a:lnSpc>
              <a:spcBef>
                <a:spcPts val="100"/>
              </a:spcBef>
              <a:spcAft>
                <a:spcPts val="0"/>
              </a:spcAft>
              <a:buClr>
                <a:srgbClr val="000000"/>
              </a:buClr>
              <a:buSzPts val="700"/>
              <a:buFont typeface="Arial"/>
              <a:buNone/>
            </a:pPr>
            <a:r>
              <a:rPr b="0" i="1" lang="en" sz="700" u="none" cap="none" strike="noStrike">
                <a:solidFill>
                  <a:srgbClr val="1B54DA"/>
                </a:solidFill>
                <a:latin typeface="Nobile"/>
                <a:ea typeface="Nobile"/>
                <a:cs typeface="Nobile"/>
                <a:sym typeface="Nobile"/>
              </a:rPr>
              <a:t>intent_classifier.py</a:t>
            </a:r>
            <a:endParaRPr b="0" i="1" sz="7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404155"/>
                </a:solidFill>
                <a:latin typeface="Nobile"/>
                <a:ea typeface="Nobile"/>
                <a:cs typeface="Nobile"/>
                <a:sym typeface="Nobile"/>
              </a:rPr>
              <a:t>Keyword-based pre-LLM routing</a:t>
            </a:r>
            <a:endParaRPr b="0" i="0" sz="700" u="none" cap="none" strike="noStrike">
              <a:solidFill>
                <a:srgbClr val="000000"/>
              </a:solidFill>
              <a:latin typeface="Arial"/>
              <a:ea typeface="Arial"/>
              <a:cs typeface="Arial"/>
              <a:sym typeface="Arial"/>
            </a:endParaRPr>
          </a:p>
        </p:txBody>
      </p:sp>
      <p:sp>
        <p:nvSpPr>
          <p:cNvPr id="356" name="Google Shape;356;p30"/>
          <p:cNvSpPr/>
          <p:nvPr/>
        </p:nvSpPr>
        <p:spPr>
          <a:xfrm>
            <a:off x="6960000" y="1610000"/>
            <a:ext cx="1726800" cy="600000"/>
          </a:xfrm>
          <a:prstGeom prst="roundRect">
            <a:avLst>
              <a:gd fmla="val 4000" name="adj"/>
            </a:avLst>
          </a:prstGeom>
          <a:noFill/>
          <a:ln>
            <a:noFill/>
          </a:ln>
        </p:spPr>
        <p:txBody>
          <a:bodyPr anchorCtr="0" anchor="t" bIns="60000" lIns="100000" spcFirstLastPara="1" rIns="100000" wrap="square" tIns="60000">
            <a:no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1B1B27"/>
                </a:solidFill>
                <a:latin typeface="Alexandria"/>
                <a:ea typeface="Alexandria"/>
                <a:cs typeface="Alexandria"/>
                <a:sym typeface="Alexandria"/>
              </a:rPr>
              <a:t>Agent Orchestrator</a:t>
            </a:r>
            <a:endParaRPr b="1" i="0" sz="800" u="none" cap="none" strike="noStrike">
              <a:solidFill>
                <a:srgbClr val="000000"/>
              </a:solidFill>
              <a:latin typeface="Arial"/>
              <a:ea typeface="Arial"/>
              <a:cs typeface="Arial"/>
              <a:sym typeface="Arial"/>
            </a:endParaRPr>
          </a:p>
          <a:p>
            <a:pPr indent="0" lvl="0" marL="0" marR="0" rtl="0" algn="l">
              <a:lnSpc>
                <a:spcPct val="110000"/>
              </a:lnSpc>
              <a:spcBef>
                <a:spcPts val="100"/>
              </a:spcBef>
              <a:spcAft>
                <a:spcPts val="0"/>
              </a:spcAft>
              <a:buClr>
                <a:srgbClr val="000000"/>
              </a:buClr>
              <a:buSzPts val="700"/>
              <a:buFont typeface="Arial"/>
              <a:buNone/>
            </a:pPr>
            <a:r>
              <a:rPr b="0" i="1" lang="en" sz="700" u="none" cap="none" strike="noStrike">
                <a:solidFill>
                  <a:srgbClr val="1B54DA"/>
                </a:solidFill>
                <a:latin typeface="Nobile"/>
                <a:ea typeface="Nobile"/>
                <a:cs typeface="Nobile"/>
                <a:sym typeface="Nobile"/>
              </a:rPr>
              <a:t>agent.py</a:t>
            </a:r>
            <a:endParaRPr b="0" i="1" sz="7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404155"/>
                </a:solidFill>
                <a:latin typeface="Nobile"/>
                <a:ea typeface="Nobile"/>
                <a:cs typeface="Nobile"/>
                <a:sym typeface="Nobile"/>
              </a:rPr>
              <a:t>ReAct loop, memory injection, route extraction</a:t>
            </a:r>
            <a:endParaRPr b="0" i="0" sz="700" u="none" cap="none" strike="noStrike">
              <a:solidFill>
                <a:srgbClr val="000000"/>
              </a:solidFill>
              <a:latin typeface="Arial"/>
              <a:ea typeface="Arial"/>
              <a:cs typeface="Arial"/>
              <a:sym typeface="Arial"/>
            </a:endParaRPr>
          </a:p>
        </p:txBody>
      </p:sp>
      <p:sp>
        <p:nvSpPr>
          <p:cNvPr id="357" name="Google Shape;357;p30"/>
          <p:cNvSpPr/>
          <p:nvPr/>
        </p:nvSpPr>
        <p:spPr>
          <a:xfrm>
            <a:off x="6960000" y="2240000"/>
            <a:ext cx="1726800" cy="600000"/>
          </a:xfrm>
          <a:prstGeom prst="roundRect">
            <a:avLst>
              <a:gd fmla="val 4000" name="adj"/>
            </a:avLst>
          </a:prstGeom>
          <a:solidFill>
            <a:srgbClr val="F9F9FF"/>
          </a:solidFill>
          <a:ln>
            <a:noFill/>
          </a:ln>
        </p:spPr>
        <p:txBody>
          <a:bodyPr anchorCtr="0" anchor="t" bIns="60000" lIns="100000" spcFirstLastPara="1" rIns="100000" wrap="square" tIns="60000">
            <a:no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1B1B27"/>
                </a:solidFill>
                <a:latin typeface="Alexandria"/>
                <a:ea typeface="Alexandria"/>
                <a:cs typeface="Alexandria"/>
                <a:sym typeface="Alexandria"/>
              </a:rPr>
              <a:t>Tool: route_query</a:t>
            </a:r>
            <a:endParaRPr b="1" i="0" sz="800" u="none" cap="none" strike="noStrike">
              <a:solidFill>
                <a:srgbClr val="000000"/>
              </a:solidFill>
              <a:latin typeface="Arial"/>
              <a:ea typeface="Arial"/>
              <a:cs typeface="Arial"/>
              <a:sym typeface="Arial"/>
            </a:endParaRPr>
          </a:p>
          <a:p>
            <a:pPr indent="0" lvl="0" marL="0" marR="0" rtl="0" algn="l">
              <a:lnSpc>
                <a:spcPct val="110000"/>
              </a:lnSpc>
              <a:spcBef>
                <a:spcPts val="100"/>
              </a:spcBef>
              <a:spcAft>
                <a:spcPts val="0"/>
              </a:spcAft>
              <a:buClr>
                <a:srgbClr val="000000"/>
              </a:buClr>
              <a:buSzPts val="700"/>
              <a:buFont typeface="Arial"/>
              <a:buNone/>
            </a:pPr>
            <a:r>
              <a:rPr b="0" i="1" lang="en" sz="700" u="none" cap="none" strike="noStrike">
                <a:solidFill>
                  <a:srgbClr val="1B54DA"/>
                </a:solidFill>
                <a:latin typeface="Nobile"/>
                <a:ea typeface="Nobile"/>
                <a:cs typeface="Nobile"/>
                <a:sym typeface="Nobile"/>
              </a:rPr>
              <a:t>tools.py</a:t>
            </a:r>
            <a:endParaRPr b="0" i="1" sz="7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404155"/>
                </a:solidFill>
                <a:latin typeface="Nobile"/>
                <a:ea typeface="Nobile"/>
                <a:cs typeface="Nobile"/>
                <a:sym typeface="Nobile"/>
              </a:rPr>
              <a:t>Neo4j shortest accessible path</a:t>
            </a:r>
            <a:endParaRPr b="0" i="0" sz="700" u="none" cap="none" strike="noStrike">
              <a:solidFill>
                <a:srgbClr val="000000"/>
              </a:solidFill>
              <a:latin typeface="Arial"/>
              <a:ea typeface="Arial"/>
              <a:cs typeface="Arial"/>
              <a:sym typeface="Arial"/>
            </a:endParaRPr>
          </a:p>
        </p:txBody>
      </p:sp>
      <p:sp>
        <p:nvSpPr>
          <p:cNvPr id="358" name="Google Shape;358;p30"/>
          <p:cNvSpPr/>
          <p:nvPr/>
        </p:nvSpPr>
        <p:spPr>
          <a:xfrm>
            <a:off x="6960000" y="2870000"/>
            <a:ext cx="1726800" cy="480000"/>
          </a:xfrm>
          <a:prstGeom prst="roundRect">
            <a:avLst>
              <a:gd fmla="val 4000" name="adj"/>
            </a:avLst>
          </a:prstGeom>
          <a:noFill/>
          <a:ln>
            <a:noFill/>
          </a:ln>
        </p:spPr>
        <p:txBody>
          <a:bodyPr anchorCtr="0" anchor="t" bIns="60000" lIns="100000" spcFirstLastPara="1" rIns="100000" wrap="square" tIns="60000">
            <a:no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1B1B27"/>
                </a:solidFill>
                <a:latin typeface="Alexandria"/>
                <a:ea typeface="Alexandria"/>
                <a:cs typeface="Alexandria"/>
                <a:sym typeface="Alexandria"/>
              </a:rPr>
              <a:t>Tool: qr_lookup</a:t>
            </a:r>
            <a:endParaRPr b="1" i="0" sz="800" u="none" cap="none" strike="noStrike">
              <a:solidFill>
                <a:srgbClr val="000000"/>
              </a:solidFill>
              <a:latin typeface="Arial"/>
              <a:ea typeface="Arial"/>
              <a:cs typeface="Arial"/>
              <a:sym typeface="Arial"/>
            </a:endParaRPr>
          </a:p>
          <a:p>
            <a:pPr indent="0" lvl="0" marL="0" marR="0" rtl="0" algn="l">
              <a:lnSpc>
                <a:spcPct val="110000"/>
              </a:lnSpc>
              <a:spcBef>
                <a:spcPts val="100"/>
              </a:spcBef>
              <a:spcAft>
                <a:spcPts val="0"/>
              </a:spcAft>
              <a:buClr>
                <a:srgbClr val="000000"/>
              </a:buClr>
              <a:buSzPts val="700"/>
              <a:buFont typeface="Arial"/>
              <a:buNone/>
            </a:pPr>
            <a:r>
              <a:rPr b="0" i="1" lang="en" sz="700" u="none" cap="none" strike="noStrike">
                <a:solidFill>
                  <a:srgbClr val="1B54DA"/>
                </a:solidFill>
                <a:latin typeface="Nobile"/>
                <a:ea typeface="Nobile"/>
                <a:cs typeface="Nobile"/>
                <a:sym typeface="Nobile"/>
              </a:rPr>
              <a:t>tools.py</a:t>
            </a:r>
            <a:endParaRPr b="0" i="1" sz="7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404155"/>
                </a:solidFill>
                <a:latin typeface="Nobile"/>
                <a:ea typeface="Nobile"/>
                <a:cs typeface="Nobile"/>
                <a:sym typeface="Nobile"/>
              </a:rPr>
              <a:t>QR code → campus node</a:t>
            </a:r>
            <a:endParaRPr b="0" i="0" sz="700" u="none" cap="none" strike="noStrike">
              <a:solidFill>
                <a:srgbClr val="000000"/>
              </a:solidFill>
              <a:latin typeface="Arial"/>
              <a:ea typeface="Arial"/>
              <a:cs typeface="Arial"/>
              <a:sym typeface="Arial"/>
            </a:endParaRPr>
          </a:p>
        </p:txBody>
      </p:sp>
      <p:sp>
        <p:nvSpPr>
          <p:cNvPr id="359" name="Google Shape;359;p30"/>
          <p:cNvSpPr/>
          <p:nvPr/>
        </p:nvSpPr>
        <p:spPr>
          <a:xfrm>
            <a:off x="6960000" y="3380000"/>
            <a:ext cx="1726800" cy="480000"/>
          </a:xfrm>
          <a:prstGeom prst="roundRect">
            <a:avLst>
              <a:gd fmla="val 4000" name="adj"/>
            </a:avLst>
          </a:prstGeom>
          <a:solidFill>
            <a:srgbClr val="F9F9FF"/>
          </a:solidFill>
          <a:ln>
            <a:noFill/>
          </a:ln>
        </p:spPr>
        <p:txBody>
          <a:bodyPr anchorCtr="0" anchor="t" bIns="60000" lIns="100000" spcFirstLastPara="1" rIns="100000" wrap="square" tIns="60000">
            <a:no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1B1B27"/>
                </a:solidFill>
                <a:latin typeface="Alexandria"/>
                <a:ea typeface="Alexandria"/>
                <a:cs typeface="Alexandria"/>
                <a:sym typeface="Alexandria"/>
              </a:rPr>
              <a:t>Memory</a:t>
            </a:r>
            <a:endParaRPr b="1" i="0" sz="800" u="none" cap="none" strike="noStrike">
              <a:solidFill>
                <a:srgbClr val="000000"/>
              </a:solidFill>
              <a:latin typeface="Arial"/>
              <a:ea typeface="Arial"/>
              <a:cs typeface="Arial"/>
              <a:sym typeface="Arial"/>
            </a:endParaRPr>
          </a:p>
          <a:p>
            <a:pPr indent="0" lvl="0" marL="0" marR="0" rtl="0" algn="l">
              <a:lnSpc>
                <a:spcPct val="110000"/>
              </a:lnSpc>
              <a:spcBef>
                <a:spcPts val="100"/>
              </a:spcBef>
              <a:spcAft>
                <a:spcPts val="0"/>
              </a:spcAft>
              <a:buClr>
                <a:srgbClr val="000000"/>
              </a:buClr>
              <a:buSzPts val="700"/>
              <a:buFont typeface="Arial"/>
              <a:buNone/>
            </a:pPr>
            <a:r>
              <a:rPr b="0" i="1" lang="en" sz="700" u="none" cap="none" strike="noStrike">
                <a:solidFill>
                  <a:srgbClr val="1B54DA"/>
                </a:solidFill>
                <a:latin typeface="Nobile"/>
                <a:ea typeface="Nobile"/>
                <a:cs typeface="Nobile"/>
                <a:sym typeface="Nobile"/>
              </a:rPr>
              <a:t>memory.py</a:t>
            </a:r>
            <a:endParaRPr b="0" i="1" sz="7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404155"/>
                </a:solidFill>
                <a:latin typeface="Nobile"/>
                <a:ea typeface="Nobile"/>
                <a:cs typeface="Nobile"/>
                <a:sym typeface="Nobile"/>
              </a:rPr>
              <a:t>Session state: location, profile, history</a:t>
            </a:r>
            <a:endParaRPr b="0" i="0" sz="700" u="none" cap="none" strike="noStrike">
              <a:solidFill>
                <a:srgbClr val="000000"/>
              </a:solidFill>
              <a:latin typeface="Arial"/>
              <a:ea typeface="Arial"/>
              <a:cs typeface="Arial"/>
              <a:sym typeface="Arial"/>
            </a:endParaRPr>
          </a:p>
        </p:txBody>
      </p:sp>
      <p:sp>
        <p:nvSpPr>
          <p:cNvPr id="360" name="Google Shape;360;p30"/>
          <p:cNvSpPr/>
          <p:nvPr/>
        </p:nvSpPr>
        <p:spPr>
          <a:xfrm>
            <a:off x="6960000" y="3890000"/>
            <a:ext cx="1726800" cy="600000"/>
          </a:xfrm>
          <a:prstGeom prst="roundRect">
            <a:avLst>
              <a:gd fmla="val 4000" name="adj"/>
            </a:avLst>
          </a:prstGeom>
          <a:noFill/>
          <a:ln>
            <a:noFill/>
          </a:ln>
        </p:spPr>
        <p:txBody>
          <a:bodyPr anchorCtr="0" anchor="t" bIns="60000" lIns="100000" spcFirstLastPara="1" rIns="100000" wrap="square" tIns="60000">
            <a:no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1B1B27"/>
                </a:solidFill>
                <a:latin typeface="Alexandria"/>
                <a:ea typeface="Alexandria"/>
                <a:cs typeface="Alexandria"/>
                <a:sym typeface="Alexandria"/>
              </a:rPr>
              <a:t>Graph Schema</a:t>
            </a:r>
            <a:endParaRPr b="1" i="0" sz="800" u="none" cap="none" strike="noStrike">
              <a:solidFill>
                <a:srgbClr val="000000"/>
              </a:solidFill>
              <a:latin typeface="Arial"/>
              <a:ea typeface="Arial"/>
              <a:cs typeface="Arial"/>
              <a:sym typeface="Arial"/>
            </a:endParaRPr>
          </a:p>
          <a:p>
            <a:pPr indent="0" lvl="0" marL="0" marR="0" rtl="0" algn="l">
              <a:lnSpc>
                <a:spcPct val="110000"/>
              </a:lnSpc>
              <a:spcBef>
                <a:spcPts val="100"/>
              </a:spcBef>
              <a:spcAft>
                <a:spcPts val="0"/>
              </a:spcAft>
              <a:buClr>
                <a:srgbClr val="000000"/>
              </a:buClr>
              <a:buSzPts val="700"/>
              <a:buFont typeface="Arial"/>
              <a:buNone/>
            </a:pPr>
            <a:r>
              <a:rPr b="0" i="1" lang="en" sz="700" u="none" cap="none" strike="noStrike">
                <a:solidFill>
                  <a:srgbClr val="1B54DA"/>
                </a:solidFill>
                <a:latin typeface="Nobile"/>
                <a:ea typeface="Nobile"/>
                <a:cs typeface="Nobile"/>
                <a:sym typeface="Nobile"/>
              </a:rPr>
              <a:t>schema.cypher</a:t>
            </a:r>
            <a:endParaRPr b="0" i="1" sz="7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404155"/>
                </a:solidFill>
                <a:latin typeface="Nobile"/>
                <a:ea typeface="Nobile"/>
                <a:cs typeface="Nobile"/>
                <a:sym typeface="Nobile"/>
              </a:rPr>
              <a:t>6 node types, CONNECTS_TO with accessibility props</a:t>
            </a:r>
            <a:endParaRPr b="0" i="0" sz="700" u="none" cap="none" strike="noStrike">
              <a:solidFill>
                <a:srgbClr val="000000"/>
              </a:solidFill>
              <a:latin typeface="Arial"/>
              <a:ea typeface="Arial"/>
              <a:cs typeface="Arial"/>
              <a:sym typeface="Arial"/>
            </a:endParaRPr>
          </a:p>
        </p:txBody>
      </p:sp>
      <p:sp>
        <p:nvSpPr>
          <p:cNvPr id="361" name="Google Shape;361;p30"/>
          <p:cNvSpPr/>
          <p:nvPr/>
        </p:nvSpPr>
        <p:spPr>
          <a:xfrm>
            <a:off x="8055625" y="4812575"/>
            <a:ext cx="1088400" cy="330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6" name="Shape 366"/>
        <p:cNvGrpSpPr/>
        <p:nvPr/>
      </p:nvGrpSpPr>
      <p:grpSpPr>
        <a:xfrm>
          <a:off x="0" y="0"/>
          <a:ext cx="0" cy="0"/>
          <a:chOff x="0" y="0"/>
          <a:chExt cx="0" cy="0"/>
        </a:xfrm>
      </p:grpSpPr>
      <p:sp>
        <p:nvSpPr>
          <p:cNvPr id="367" name="Google Shape;367;p31"/>
          <p:cNvSpPr/>
          <p:nvPr/>
        </p:nvSpPr>
        <p:spPr>
          <a:xfrm>
            <a:off x="365760" y="164592"/>
            <a:ext cx="84124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22244"/>
              </a:buClr>
              <a:buSzPts val="1800"/>
              <a:buFont typeface="Calibri"/>
              <a:buNone/>
            </a:pPr>
            <a:r>
              <a:rPr b="1" i="0" lang="en" sz="1800" u="none" cap="none" strike="noStrike">
                <a:solidFill>
                  <a:srgbClr val="222244"/>
                </a:solidFill>
                <a:latin typeface="Inter"/>
                <a:ea typeface="Inter"/>
                <a:cs typeface="Inter"/>
                <a:sym typeface="Inter"/>
              </a:rPr>
              <a:t>Challenges &amp; Learnings</a:t>
            </a:r>
            <a:endParaRPr b="1" i="0" sz="1800" u="none" cap="none" strike="noStrike">
              <a:solidFill>
                <a:schemeClr val="dk1"/>
              </a:solidFill>
              <a:latin typeface="Inter"/>
              <a:ea typeface="Inter"/>
              <a:cs typeface="Inter"/>
              <a:sym typeface="Inter"/>
            </a:endParaRPr>
          </a:p>
        </p:txBody>
      </p:sp>
      <p:sp>
        <p:nvSpPr>
          <p:cNvPr id="368" name="Google Shape;368;p31"/>
          <p:cNvSpPr/>
          <p:nvPr/>
        </p:nvSpPr>
        <p:spPr>
          <a:xfrm>
            <a:off x="365760" y="598667"/>
            <a:ext cx="8412600" cy="347400"/>
          </a:xfrm>
          <a:prstGeom prst="rect">
            <a:avLst/>
          </a:prstGeom>
          <a:solidFill>
            <a:srgbClr val="1E3A8A"/>
          </a:solidFill>
          <a:ln cap="flat" cmpd="sng" w="127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1"/>
          <p:cNvSpPr/>
          <p:nvPr/>
        </p:nvSpPr>
        <p:spPr>
          <a:xfrm>
            <a:off x="475488" y="598667"/>
            <a:ext cx="3090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Challenge</a:t>
            </a:r>
            <a:endParaRPr b="0" i="0" sz="1300" u="none" cap="none" strike="noStrike">
              <a:solidFill>
                <a:schemeClr val="dk1"/>
              </a:solidFill>
              <a:latin typeface="Calibri"/>
              <a:ea typeface="Calibri"/>
              <a:cs typeface="Calibri"/>
              <a:sym typeface="Calibri"/>
            </a:endParaRPr>
          </a:p>
        </p:txBody>
      </p:sp>
      <p:sp>
        <p:nvSpPr>
          <p:cNvPr id="370" name="Google Shape;370;p31"/>
          <p:cNvSpPr/>
          <p:nvPr/>
        </p:nvSpPr>
        <p:spPr>
          <a:xfrm>
            <a:off x="3675888" y="598667"/>
            <a:ext cx="5102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How We Addressed It</a:t>
            </a:r>
            <a:endParaRPr b="0" i="0" sz="1300" u="none" cap="none" strike="noStrike">
              <a:solidFill>
                <a:schemeClr val="dk1"/>
              </a:solidFill>
              <a:latin typeface="Calibri"/>
              <a:ea typeface="Calibri"/>
              <a:cs typeface="Calibri"/>
              <a:sym typeface="Calibri"/>
            </a:endParaRPr>
          </a:p>
        </p:txBody>
      </p:sp>
      <p:sp>
        <p:nvSpPr>
          <p:cNvPr id="371" name="Google Shape;371;p31"/>
          <p:cNvSpPr/>
          <p:nvPr/>
        </p:nvSpPr>
        <p:spPr>
          <a:xfrm>
            <a:off x="365760" y="946139"/>
            <a:ext cx="8412600" cy="567000"/>
          </a:xfrm>
          <a:prstGeom prst="rect">
            <a:avLst/>
          </a:prstGeom>
          <a:solidFill>
            <a:srgbClr val="FFFFFF"/>
          </a:solidFill>
          <a:ln cap="flat" cmpd="sng" w="9525">
            <a:solidFill>
              <a:srgbClr val="D0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1"/>
          <p:cNvSpPr/>
          <p:nvPr/>
        </p:nvSpPr>
        <p:spPr>
          <a:xfrm>
            <a:off x="475488" y="982715"/>
            <a:ext cx="3017400" cy="49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060"/>
              </a:buClr>
              <a:buSzPts val="1200"/>
              <a:buFont typeface="Calibri"/>
              <a:buNone/>
            </a:pPr>
            <a:r>
              <a:rPr b="1" i="0" lang="en" sz="1200" u="none" cap="none" strike="noStrike">
                <a:solidFill>
                  <a:srgbClr val="1A2060"/>
                </a:solidFill>
                <a:latin typeface="Calibri"/>
                <a:ea typeface="Calibri"/>
                <a:cs typeface="Calibri"/>
                <a:sym typeface="Calibri"/>
              </a:rPr>
              <a:t>LLM hallucination risk</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66688"/>
              </a:buClr>
              <a:buSzPts val="1000"/>
              <a:buFont typeface="Calibri"/>
              <a:buNone/>
            </a:pPr>
            <a:r>
              <a:rPr i="1" lang="en" sz="1000">
                <a:solidFill>
                  <a:srgbClr val="666688"/>
                </a:solidFill>
                <a:latin typeface="Calibri"/>
                <a:ea typeface="Calibri"/>
                <a:cs typeface="Calibri"/>
                <a:sym typeface="Calibri"/>
              </a:rPr>
              <a:t>A</a:t>
            </a:r>
            <a:r>
              <a:rPr b="0" i="1" lang="en" sz="1000" u="none" cap="none" strike="noStrike">
                <a:solidFill>
                  <a:srgbClr val="666688"/>
                </a:solidFill>
                <a:latin typeface="Calibri"/>
                <a:ea typeface="Calibri"/>
                <a:cs typeface="Calibri"/>
                <a:sym typeface="Calibri"/>
              </a:rPr>
              <a:t>gent could invent a room or route</a:t>
            </a:r>
            <a:endParaRPr b="0" i="0" sz="1200" u="none" cap="none" strike="noStrike">
              <a:solidFill>
                <a:schemeClr val="dk1"/>
              </a:solidFill>
              <a:latin typeface="Calibri"/>
              <a:ea typeface="Calibri"/>
              <a:cs typeface="Calibri"/>
              <a:sym typeface="Calibri"/>
            </a:endParaRPr>
          </a:p>
        </p:txBody>
      </p:sp>
      <p:sp>
        <p:nvSpPr>
          <p:cNvPr id="373" name="Google Shape;373;p31"/>
          <p:cNvSpPr/>
          <p:nvPr/>
        </p:nvSpPr>
        <p:spPr>
          <a:xfrm>
            <a:off x="3675888" y="982715"/>
            <a:ext cx="5029200" cy="49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050"/>
              <a:buFont typeface="Calibri"/>
              <a:buNone/>
            </a:pPr>
            <a:r>
              <a:rPr b="0" i="0" lang="en" sz="1050" u="none" cap="none" strike="noStrike">
                <a:solidFill>
                  <a:srgbClr val="1A1A2E"/>
                </a:solidFill>
                <a:latin typeface="Calibri"/>
                <a:ea typeface="Calibri"/>
                <a:cs typeface="Calibri"/>
                <a:sym typeface="Calibri"/>
              </a:rPr>
              <a:t>All room IDs and paths come from Neo4j; LLM only formats response text. Room resolved via </a:t>
            </a:r>
            <a:r>
              <a:rPr b="0" i="0" lang="en" sz="1000" u="none" cap="none" strike="noStrike">
                <a:solidFill>
                  <a:srgbClr val="1A1A2E"/>
                </a:solidFill>
                <a:latin typeface="Courier New"/>
                <a:ea typeface="Courier New"/>
                <a:cs typeface="Courier New"/>
                <a:sym typeface="Courier New"/>
              </a:rPr>
              <a:t>resolve_room()</a:t>
            </a:r>
            <a:r>
              <a:rPr b="0" i="0" lang="en" sz="1050" u="none" cap="none" strike="noStrike">
                <a:solidFill>
                  <a:srgbClr val="1A1A2E"/>
                </a:solidFill>
                <a:latin typeface="Calibri"/>
                <a:ea typeface="Calibri"/>
                <a:cs typeface="Calibri"/>
                <a:sym typeface="Calibri"/>
              </a:rPr>
              <a:t> tool, never generated by the model</a:t>
            </a:r>
            <a:endParaRPr b="0" i="0" sz="1050" u="none" cap="none" strike="noStrike">
              <a:solidFill>
                <a:schemeClr val="dk1"/>
              </a:solidFill>
              <a:latin typeface="Calibri"/>
              <a:ea typeface="Calibri"/>
              <a:cs typeface="Calibri"/>
              <a:sym typeface="Calibri"/>
            </a:endParaRPr>
          </a:p>
        </p:txBody>
      </p:sp>
      <p:sp>
        <p:nvSpPr>
          <p:cNvPr id="374" name="Google Shape;374;p31"/>
          <p:cNvSpPr/>
          <p:nvPr/>
        </p:nvSpPr>
        <p:spPr>
          <a:xfrm>
            <a:off x="365760" y="1513067"/>
            <a:ext cx="8412600" cy="640200"/>
          </a:xfrm>
          <a:prstGeom prst="rect">
            <a:avLst/>
          </a:prstGeom>
          <a:solidFill>
            <a:srgbClr val="F0F3FA"/>
          </a:solidFill>
          <a:ln cap="flat" cmpd="sng" w="9525">
            <a:solidFill>
              <a:srgbClr val="D0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1"/>
          <p:cNvSpPr/>
          <p:nvPr/>
        </p:nvSpPr>
        <p:spPr>
          <a:xfrm>
            <a:off x="475488" y="1549643"/>
            <a:ext cx="3017400" cy="56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060"/>
              </a:buClr>
              <a:buSzPts val="1200"/>
              <a:buFont typeface="Calibri"/>
              <a:buNone/>
            </a:pPr>
            <a:r>
              <a:rPr b="1" i="0" lang="en" sz="1200" u="none" cap="none" strike="noStrike">
                <a:solidFill>
                  <a:srgbClr val="1A2060"/>
                </a:solidFill>
                <a:latin typeface="Calibri"/>
                <a:ea typeface="Calibri"/>
                <a:cs typeface="Calibri"/>
                <a:sym typeface="Calibri"/>
              </a:rPr>
              <a:t>Emergency latency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66688"/>
              </a:buClr>
              <a:buSzPts val="1000"/>
              <a:buFont typeface="Calibri"/>
              <a:buNone/>
            </a:pPr>
            <a:r>
              <a:rPr i="1" lang="en" sz="1000">
                <a:solidFill>
                  <a:srgbClr val="666688"/>
                </a:solidFill>
                <a:latin typeface="Calibri"/>
                <a:ea typeface="Calibri"/>
                <a:cs typeface="Calibri"/>
                <a:sym typeface="Calibri"/>
              </a:rPr>
              <a:t>C</a:t>
            </a:r>
            <a:r>
              <a:rPr b="0" i="1" lang="en" sz="1000" u="none" cap="none" strike="noStrike">
                <a:solidFill>
                  <a:srgbClr val="666688"/>
                </a:solidFill>
                <a:latin typeface="Calibri"/>
                <a:ea typeface="Calibri"/>
                <a:cs typeface="Calibri"/>
                <a:sym typeface="Calibri"/>
              </a:rPr>
              <a:t>annot wait 800ms for LLM detection</a:t>
            </a:r>
            <a:endParaRPr b="0" i="0" sz="1200" u="none" cap="none" strike="noStrike">
              <a:solidFill>
                <a:schemeClr val="dk1"/>
              </a:solidFill>
              <a:latin typeface="Calibri"/>
              <a:ea typeface="Calibri"/>
              <a:cs typeface="Calibri"/>
              <a:sym typeface="Calibri"/>
            </a:endParaRPr>
          </a:p>
        </p:txBody>
      </p:sp>
      <p:sp>
        <p:nvSpPr>
          <p:cNvPr id="376" name="Google Shape;376;p31"/>
          <p:cNvSpPr/>
          <p:nvPr/>
        </p:nvSpPr>
        <p:spPr>
          <a:xfrm>
            <a:off x="3675888" y="1586219"/>
            <a:ext cx="50292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050"/>
              <a:buFont typeface="Calibri"/>
              <a:buNone/>
            </a:pPr>
            <a:r>
              <a:rPr b="0" i="0" lang="en" sz="1050" u="none" cap="none" strike="noStrike">
                <a:solidFill>
                  <a:srgbClr val="1A1A2E"/>
                </a:solidFill>
                <a:latin typeface="Calibri"/>
                <a:ea typeface="Calibri"/>
                <a:cs typeface="Calibri"/>
                <a:sym typeface="Calibri"/>
              </a:rPr>
              <a:t>Heuristic </a:t>
            </a:r>
            <a:r>
              <a:rPr b="0" i="0" lang="en" sz="1000" u="none" cap="none" strike="noStrike">
                <a:solidFill>
                  <a:srgbClr val="1A1A2E"/>
                </a:solidFill>
                <a:latin typeface="Courier New"/>
                <a:ea typeface="Courier New"/>
                <a:cs typeface="Courier New"/>
                <a:sym typeface="Courier New"/>
              </a:rPr>
              <a:t>classify_intent()</a:t>
            </a:r>
            <a:r>
              <a:rPr b="0" i="0" lang="en" sz="1050" u="none" cap="none" strike="noStrike">
                <a:solidFill>
                  <a:srgbClr val="1A1A2E"/>
                </a:solidFill>
                <a:latin typeface="Calibri"/>
                <a:ea typeface="Calibri"/>
                <a:cs typeface="Calibri"/>
                <a:sym typeface="Calibri"/>
              </a:rPr>
              <a:t> fires before LLM is invoked. Emergency is pre-LLM, not post-LLM</a:t>
            </a:r>
            <a:endParaRPr b="0" i="0" sz="1050" u="none" cap="none" strike="noStrike">
              <a:solidFill>
                <a:schemeClr val="dk1"/>
              </a:solidFill>
              <a:latin typeface="Calibri"/>
              <a:ea typeface="Calibri"/>
              <a:cs typeface="Calibri"/>
              <a:sym typeface="Calibri"/>
            </a:endParaRPr>
          </a:p>
        </p:txBody>
      </p:sp>
      <p:sp>
        <p:nvSpPr>
          <p:cNvPr id="377" name="Google Shape;377;p31"/>
          <p:cNvSpPr/>
          <p:nvPr/>
        </p:nvSpPr>
        <p:spPr>
          <a:xfrm>
            <a:off x="365760" y="2153147"/>
            <a:ext cx="8412600" cy="640200"/>
          </a:xfrm>
          <a:prstGeom prst="rect">
            <a:avLst/>
          </a:prstGeom>
          <a:solidFill>
            <a:srgbClr val="FFFFFF"/>
          </a:solidFill>
          <a:ln cap="flat" cmpd="sng" w="9525">
            <a:solidFill>
              <a:srgbClr val="D0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1"/>
          <p:cNvSpPr/>
          <p:nvPr/>
        </p:nvSpPr>
        <p:spPr>
          <a:xfrm>
            <a:off x="475488" y="2189723"/>
            <a:ext cx="3017400" cy="56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060"/>
              </a:buClr>
              <a:buSzPts val="1200"/>
              <a:buFont typeface="Calibri"/>
              <a:buNone/>
            </a:pPr>
            <a:r>
              <a:rPr b="1" i="0" lang="en" sz="1200" u="none" cap="none" strike="noStrike">
                <a:solidFill>
                  <a:srgbClr val="1A2060"/>
                </a:solidFill>
                <a:latin typeface="Calibri"/>
                <a:ea typeface="Calibri"/>
                <a:cs typeface="Calibri"/>
                <a:sym typeface="Calibri"/>
              </a:rPr>
              <a:t>Disability profiles affecting routing</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66688"/>
              </a:buClr>
              <a:buSzPts val="1000"/>
              <a:buFont typeface="Calibri"/>
              <a:buNone/>
            </a:pPr>
            <a:r>
              <a:rPr i="1" lang="en" sz="1000">
                <a:solidFill>
                  <a:srgbClr val="666688"/>
                </a:solidFill>
                <a:latin typeface="Calibri"/>
                <a:ea typeface="Calibri"/>
                <a:cs typeface="Calibri"/>
                <a:sym typeface="Calibri"/>
              </a:rPr>
              <a:t>N</a:t>
            </a:r>
            <a:r>
              <a:rPr b="0" i="1" lang="en" sz="1000" u="none" cap="none" strike="noStrike">
                <a:solidFill>
                  <a:srgbClr val="666688"/>
                </a:solidFill>
                <a:latin typeface="Calibri"/>
                <a:ea typeface="Calibri"/>
                <a:cs typeface="Calibri"/>
                <a:sym typeface="Calibri"/>
              </a:rPr>
              <a:t>ot just wording</a:t>
            </a:r>
            <a:endParaRPr b="0" i="0" sz="1200" u="none" cap="none" strike="noStrike">
              <a:solidFill>
                <a:schemeClr val="dk1"/>
              </a:solidFill>
              <a:latin typeface="Calibri"/>
              <a:ea typeface="Calibri"/>
              <a:cs typeface="Calibri"/>
              <a:sym typeface="Calibri"/>
            </a:endParaRPr>
          </a:p>
        </p:txBody>
      </p:sp>
      <p:sp>
        <p:nvSpPr>
          <p:cNvPr id="379" name="Google Shape;379;p31"/>
          <p:cNvSpPr/>
          <p:nvPr/>
        </p:nvSpPr>
        <p:spPr>
          <a:xfrm>
            <a:off x="3675888" y="2189723"/>
            <a:ext cx="50292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050"/>
              <a:buFont typeface="Calibri"/>
              <a:buNone/>
            </a:pPr>
            <a:r>
              <a:rPr b="0" i="0" lang="en" sz="1050" u="none" cap="none" strike="noStrike">
                <a:solidFill>
                  <a:srgbClr val="1A1A2E"/>
                </a:solidFill>
                <a:latin typeface="Calibri"/>
                <a:ea typeface="Calibri"/>
                <a:cs typeface="Calibri"/>
                <a:sym typeface="Calibri"/>
              </a:rPr>
              <a:t>Profiles operationalised as Cypher query constraint dicts in </a:t>
            </a:r>
            <a:r>
              <a:rPr b="0" i="0" lang="en" sz="1000" u="none" cap="none" strike="noStrike">
                <a:solidFill>
                  <a:srgbClr val="1A1A2E"/>
                </a:solidFill>
                <a:latin typeface="Courier New"/>
                <a:ea typeface="Courier New"/>
                <a:cs typeface="Courier New"/>
                <a:sym typeface="Courier New"/>
              </a:rPr>
              <a:t>profile_handler.py</a:t>
            </a:r>
            <a:r>
              <a:rPr b="0" i="0" lang="en" sz="1050" u="none" cap="none" strike="noStrike">
                <a:solidFill>
                  <a:srgbClr val="1A1A2E"/>
                </a:solidFill>
                <a:latin typeface="Calibri"/>
                <a:ea typeface="Calibri"/>
                <a:cs typeface="Calibri"/>
                <a:sym typeface="Calibri"/>
              </a:rPr>
              <a:t> — affect actual graph traversal, not just the system prompt</a:t>
            </a:r>
            <a:endParaRPr b="0" i="0" sz="1050" u="none" cap="none" strike="noStrike">
              <a:solidFill>
                <a:schemeClr val="dk1"/>
              </a:solidFill>
              <a:latin typeface="Calibri"/>
              <a:ea typeface="Calibri"/>
              <a:cs typeface="Calibri"/>
              <a:sym typeface="Calibri"/>
            </a:endParaRPr>
          </a:p>
        </p:txBody>
      </p:sp>
      <p:sp>
        <p:nvSpPr>
          <p:cNvPr id="380" name="Google Shape;380;p31"/>
          <p:cNvSpPr/>
          <p:nvPr/>
        </p:nvSpPr>
        <p:spPr>
          <a:xfrm>
            <a:off x="365760" y="2793227"/>
            <a:ext cx="8412600" cy="548700"/>
          </a:xfrm>
          <a:prstGeom prst="rect">
            <a:avLst/>
          </a:prstGeom>
          <a:solidFill>
            <a:srgbClr val="F0F3FA"/>
          </a:solidFill>
          <a:ln cap="flat" cmpd="sng" w="9525">
            <a:solidFill>
              <a:srgbClr val="D0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1"/>
          <p:cNvSpPr/>
          <p:nvPr/>
        </p:nvSpPr>
        <p:spPr>
          <a:xfrm>
            <a:off x="3675888" y="2829803"/>
            <a:ext cx="50292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050"/>
              <a:buFont typeface="Calibri"/>
              <a:buNone/>
            </a:pPr>
            <a:r>
              <a:rPr b="0" i="0" lang="en" sz="1050" u="none" cap="none" strike="noStrike">
                <a:solidFill>
                  <a:srgbClr val="1A1A2E"/>
                </a:solidFill>
                <a:latin typeface="Calibri"/>
                <a:ea typeface="Calibri"/>
                <a:cs typeface="Calibri"/>
                <a:sym typeface="Calibri"/>
              </a:rPr>
              <a:t>QR codes at corridor junctions, lift lobbies, and entrances. Position is point-based; we surface this honestly with "last known location"</a:t>
            </a:r>
            <a:endParaRPr b="0" i="0" sz="1050" u="none" cap="none" strike="noStrike">
              <a:solidFill>
                <a:schemeClr val="dk1"/>
              </a:solidFill>
              <a:latin typeface="Calibri"/>
              <a:ea typeface="Calibri"/>
              <a:cs typeface="Calibri"/>
              <a:sym typeface="Calibri"/>
            </a:endParaRPr>
          </a:p>
        </p:txBody>
      </p:sp>
      <p:sp>
        <p:nvSpPr>
          <p:cNvPr id="382" name="Google Shape;382;p31"/>
          <p:cNvSpPr/>
          <p:nvPr/>
        </p:nvSpPr>
        <p:spPr>
          <a:xfrm>
            <a:off x="365760" y="3479027"/>
            <a:ext cx="8412600" cy="320100"/>
          </a:xfrm>
          <a:prstGeom prst="rect">
            <a:avLst/>
          </a:prstGeom>
          <a:solidFill>
            <a:srgbClr val="1E3A8A"/>
          </a:solidFill>
          <a:ln cap="flat" cmpd="sng" w="127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1"/>
          <p:cNvSpPr/>
          <p:nvPr/>
        </p:nvSpPr>
        <p:spPr>
          <a:xfrm>
            <a:off x="475488" y="3479027"/>
            <a:ext cx="8302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Key Learnings</a:t>
            </a:r>
            <a:endParaRPr b="0" i="0" sz="1300" u="none" cap="none" strike="noStrike">
              <a:solidFill>
                <a:schemeClr val="dk1"/>
              </a:solidFill>
              <a:latin typeface="Calibri"/>
              <a:ea typeface="Calibri"/>
              <a:cs typeface="Calibri"/>
              <a:sym typeface="Calibri"/>
            </a:endParaRPr>
          </a:p>
        </p:txBody>
      </p:sp>
      <p:sp>
        <p:nvSpPr>
          <p:cNvPr id="384" name="Google Shape;384;p31"/>
          <p:cNvSpPr/>
          <p:nvPr/>
        </p:nvSpPr>
        <p:spPr>
          <a:xfrm>
            <a:off x="365750" y="3799069"/>
            <a:ext cx="8412600" cy="1098000"/>
          </a:xfrm>
          <a:prstGeom prst="rect">
            <a:avLst/>
          </a:prstGeom>
          <a:solidFill>
            <a:srgbClr val="F5F7FC"/>
          </a:solidFill>
          <a:ln cap="flat" cmpd="sng" w="9525">
            <a:solidFill>
              <a:srgbClr val="D0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1"/>
          <p:cNvSpPr/>
          <p:nvPr/>
        </p:nvSpPr>
        <p:spPr>
          <a:xfrm>
            <a:off x="530350" y="3872219"/>
            <a:ext cx="8138100" cy="1024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 sz="1050">
                <a:solidFill>
                  <a:srgbClr val="1A1A2E"/>
                </a:solidFill>
                <a:latin typeface="Calibri"/>
                <a:ea typeface="Calibri"/>
                <a:cs typeface="Calibri"/>
                <a:sym typeface="Calibri"/>
              </a:rPr>
              <a:t>Agentic AI requires a safety layer because critical situations cannot always rely on LLM reasoning, especially when users may need immediate assistance. Graph databases proved highly effective for multi-constraint routing, making accessibility-aware navigation much easier to model and query. We also learned that WCAG compliance alone is not enough, as meaningful accessibility requires validation through assistive technologies and real user testing. Finally, in-memory session state was sufficient for a prototype, while the architecture remains flexible enough to support scalable solutions such as Redis in the future.</a:t>
            </a:r>
            <a:endParaRPr sz="1050">
              <a:solidFill>
                <a:srgbClr val="1A1A2E"/>
              </a:solidFill>
              <a:latin typeface="Calibri"/>
              <a:ea typeface="Calibri"/>
              <a:cs typeface="Calibri"/>
              <a:sym typeface="Calibri"/>
            </a:endParaRPr>
          </a:p>
          <a:p>
            <a:pPr indent="0" lvl="0" marL="0" marR="0" rtl="0" algn="l">
              <a:spcBef>
                <a:spcPts val="1200"/>
              </a:spcBef>
              <a:spcAft>
                <a:spcPts val="0"/>
              </a:spcAft>
              <a:buNone/>
            </a:pPr>
            <a:r>
              <a:t/>
            </a:r>
            <a:endParaRPr sz="1050">
              <a:solidFill>
                <a:srgbClr val="1A1A2E"/>
              </a:solidFill>
              <a:latin typeface="Calibri"/>
              <a:ea typeface="Calibri"/>
              <a:cs typeface="Calibri"/>
              <a:sym typeface="Calibri"/>
            </a:endParaRPr>
          </a:p>
        </p:txBody>
      </p:sp>
      <p:sp>
        <p:nvSpPr>
          <p:cNvPr id="386" name="Google Shape;386;p31"/>
          <p:cNvSpPr/>
          <p:nvPr/>
        </p:nvSpPr>
        <p:spPr>
          <a:xfrm>
            <a:off x="475488" y="2852685"/>
            <a:ext cx="3017400" cy="56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060"/>
              </a:buClr>
              <a:buSzPts val="1200"/>
              <a:buFont typeface="Calibri"/>
              <a:buNone/>
            </a:pPr>
            <a:r>
              <a:rPr b="1" lang="en" sz="1200">
                <a:solidFill>
                  <a:srgbClr val="1A2060"/>
                </a:solidFill>
                <a:latin typeface="Calibri"/>
                <a:ea typeface="Calibri"/>
                <a:cs typeface="Calibri"/>
                <a:sym typeface="Calibri"/>
              </a:rPr>
              <a:t>Indoor Positioning Accuracy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66688"/>
              </a:buClr>
              <a:buSzPts val="1000"/>
              <a:buFont typeface="Calibri"/>
              <a:buNone/>
            </a:pPr>
            <a:r>
              <a:rPr i="1" lang="en" sz="1000">
                <a:solidFill>
                  <a:srgbClr val="666688"/>
                </a:solidFill>
                <a:latin typeface="Calibri"/>
                <a:ea typeface="Calibri"/>
                <a:cs typeface="Calibri"/>
                <a:sym typeface="Calibri"/>
              </a:rPr>
              <a:t> GPS is unreliable indoors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